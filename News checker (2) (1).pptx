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6" r:id="rId3"/>
    <p:sldId id="258" r:id="rId4"/>
    <p:sldId id="276" r:id="rId5"/>
    <p:sldId id="264" r:id="rId6"/>
    <p:sldId id="277" r:id="rId7"/>
    <p:sldId id="280" r:id="rId8"/>
    <p:sldId id="281" r:id="rId9"/>
    <p:sldId id="278" r:id="rId10"/>
    <p:sldId id="279" r:id="rId11"/>
    <p:sldId id="282" r:id="rId12"/>
    <p:sldId id="283" r:id="rId13"/>
    <p:sldId id="284" r:id="rId14"/>
    <p:sldId id="269" r:id="rId15"/>
    <p:sldId id="270" r:id="rId16"/>
    <p:sldId id="271" r:id="rId17"/>
    <p:sldId id="272" r:id="rId18"/>
    <p:sldId id="27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62B"/>
    <a:srgbClr val="0B090E"/>
    <a:srgbClr val="080000"/>
    <a:srgbClr val="4D4D4D"/>
    <a:srgbClr val="696A6A"/>
    <a:srgbClr val="ABC7F3"/>
    <a:srgbClr val="DBDBDB"/>
    <a:srgbClr val="B5B7B7"/>
    <a:srgbClr val="414141"/>
    <a:srgbClr val="B1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47" autoAdjust="0"/>
  </p:normalViewPr>
  <p:slideViewPr>
    <p:cSldViewPr snapToGrid="0">
      <p:cViewPr>
        <p:scale>
          <a:sx n="41" d="100"/>
          <a:sy n="41" d="100"/>
        </p:scale>
        <p:origin x="3216" y="1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FDCDC-D517-4D9C-97EE-253DDD2A2229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microsoft.com/office/2017/06/relationships/model3d" Target="../media/model3d1.glb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microsoft.com/office/2017/06/relationships/model3d" Target="../media/model3d1.glb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microsoft.com/office/2017/06/relationships/model3d" Target="../media/model3d2.glb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17/06/relationships/model3d" Target="../media/model3d2.glb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7826375" y="69675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rgbClr val="080000"/>
                </a:solidFill>
              </a:rPr>
              <a:t>Кошелев Михаил ИИ-71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-939115" y="-4819135"/>
            <a:ext cx="14461439" cy="11677135"/>
            <a:chOff x="-1" y="0"/>
            <a:chExt cx="12192000" cy="6858000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5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0" y="0"/>
            <a:ext cx="12192000" cy="6858000"/>
            <a:chOff x="-1" y="0"/>
            <a:chExt cx="12192000" cy="6858000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26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6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/>
          <p:cNvSpPr txBox="1"/>
          <p:nvPr/>
        </p:nvSpPr>
        <p:spPr>
          <a:xfrm>
            <a:off x="7826375" y="63833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rgbClr val="DBDBDB"/>
                </a:solidFill>
              </a:rPr>
              <a:t>Кошелев Михаил ИИ-71</a:t>
            </a:r>
          </a:p>
        </p:txBody>
      </p:sp>
      <p:pic>
        <p:nvPicPr>
          <p:cNvPr id="20" name="Picture 2" descr="https://dead-god.ru/wp-content/uploads/2021/11/29-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21" y="7453824"/>
            <a:ext cx="798098" cy="91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https://dead-god.ru/wp-content/uploads/2021/11/50-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394">
            <a:off x="10447581" y="9621709"/>
            <a:ext cx="746455" cy="78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493041" y="4806304"/>
            <a:ext cx="1390844" cy="1400370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-3493041" y="6311900"/>
            <a:ext cx="146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>
                <a:solidFill>
                  <a:srgbClr val="ABC7F3"/>
                </a:solidFill>
              </a:rPr>
              <a:t>Репозиторий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7560" y="8390538"/>
            <a:ext cx="10334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Сервис для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верки новостей 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поиска ссылок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на достоверную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информацию.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Группа 24"/>
          <p:cNvGrpSpPr/>
          <p:nvPr/>
        </p:nvGrpSpPr>
        <p:grpSpPr>
          <a:xfrm>
            <a:off x="0" y="-20135"/>
            <a:ext cx="12192000" cy="6962504"/>
            <a:chOff x="-1" y="0"/>
            <a:chExt cx="12192000" cy="6858000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7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9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7826375" y="63833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ABC7F3"/>
                </a:solidFill>
              </a:rPr>
              <a:t>Кошелев Михаил ИИ-71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0" y="-682354"/>
            <a:ext cx="11344643" cy="6962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5904411" y="1324872"/>
            <a:ext cx="0" cy="608430"/>
          </a:xfrm>
          <a:prstGeom prst="line">
            <a:avLst/>
          </a:prstGeom>
          <a:ln w="76200">
            <a:solidFill>
              <a:srgbClr val="B1B2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https://dead-god.ru/wp-content/uploads/2021/11/29-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21" y="1324873"/>
            <a:ext cx="798098" cy="91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dead-god.ru/wp-content/uploads/2021/11/50-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394">
            <a:off x="10447581" y="3492758"/>
            <a:ext cx="746455" cy="78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141" y="4806304"/>
            <a:ext cx="1390844" cy="1400370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>
          <a:xfrm>
            <a:off x="281491" y="6311900"/>
            <a:ext cx="146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ABC7F3"/>
                </a:solidFill>
              </a:rPr>
              <a:t>Репозиторий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7560" y="2112831"/>
            <a:ext cx="10334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Сервис для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верки новостей 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поиска ссылок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на достоверную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информацию.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69DC1-659F-15E3-CFB5-9DB915939885}"/>
              </a:ext>
            </a:extLst>
          </p:cNvPr>
          <p:cNvSpPr txBox="1"/>
          <p:nvPr/>
        </p:nvSpPr>
        <p:spPr>
          <a:xfrm>
            <a:off x="-1981200" y="288372"/>
            <a:ext cx="1962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B1B2B2"/>
                </a:solidFill>
                <a:latin typeface="Arial Black" panose="020B0A04020102020204" pitchFamily="34" charset="0"/>
              </a:rPr>
              <a:t>Проб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1F693CB-BE64-B29D-AF67-A502FE5B5D12}"/>
              </a:ext>
            </a:extLst>
          </p:cNvPr>
          <p:cNvSpPr/>
          <p:nvPr/>
        </p:nvSpPr>
        <p:spPr>
          <a:xfrm>
            <a:off x="12196025" y="-86810"/>
            <a:ext cx="14461439" cy="7039787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A0F40-B502-6EF0-EBC9-445975714061}"/>
              </a:ext>
            </a:extLst>
          </p:cNvPr>
          <p:cNvSpPr txBox="1"/>
          <p:nvPr/>
        </p:nvSpPr>
        <p:spPr>
          <a:xfrm>
            <a:off x="12223866" y="5907912"/>
            <a:ext cx="3882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ABC7F3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C1114-2952-1F52-4E61-0E8D5A9F95F9}"/>
              </a:ext>
            </a:extLst>
          </p:cNvPr>
          <p:cNvSpPr txBox="1"/>
          <p:nvPr/>
        </p:nvSpPr>
        <p:spPr>
          <a:xfrm>
            <a:off x="13220282" y="2119468"/>
            <a:ext cx="89258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Проблема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заключается в том что интернет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является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с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амым большим источником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и, но не только достоверной.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Примерно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62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%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информации в интернете с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большим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шанс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ом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фейковая. </a:t>
            </a:r>
          </a:p>
        </p:txBody>
      </p:sp>
      <p:pic>
        <p:nvPicPr>
          <p:cNvPr id="18" name="Picture 6">
            <a:extLst>
              <a:ext uri="{FF2B5EF4-FFF2-40B4-BE49-F238E27FC236}">
                <a16:creationId xmlns:a16="http://schemas.microsoft.com/office/drawing/2014/main" id="{9231DB6F-0FF4-4234-C0B2-23A321FDE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3483">
            <a:off x="21991884" y="1421818"/>
            <a:ext cx="969053" cy="76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976CE42F-F60C-5B28-ABDA-7C582DE09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90055">
            <a:off x="12599727" y="4171843"/>
            <a:ext cx="732356" cy="9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54F83-4A2A-36B2-8C37-8C6FDB28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C0D067-3D20-76C6-7BD2-FD767A60C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63CFA4EF-CF83-B4E0-97A9-2A6C20D9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84806E-94FB-EC59-F248-3C2EFDE3D106}"/>
              </a:ext>
            </a:extLst>
          </p:cNvPr>
          <p:cNvSpPr txBox="1"/>
          <p:nvPr/>
        </p:nvSpPr>
        <p:spPr>
          <a:xfrm>
            <a:off x="12265025" y="63833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ABC7F3"/>
                </a:solidFill>
              </a:rPr>
              <a:t>Кошелев Михаил ИИ-71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261B04C-0097-7047-14D7-507BDAF30551}"/>
              </a:ext>
            </a:extLst>
          </p:cNvPr>
          <p:cNvSpPr/>
          <p:nvPr/>
        </p:nvSpPr>
        <p:spPr>
          <a:xfrm>
            <a:off x="0" y="-682354"/>
            <a:ext cx="11344643" cy="6962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Picture 2" descr="https://dead-god.ru/wp-content/uploads/2021/11/29-3.png">
            <a:extLst>
              <a:ext uri="{FF2B5EF4-FFF2-40B4-BE49-F238E27FC236}">
                <a16:creationId xmlns:a16="http://schemas.microsoft.com/office/drawing/2014/main" id="{028730CD-F460-0239-EC37-68F3C01BA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24184" y="1324873"/>
            <a:ext cx="798098" cy="91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dead-god.ru/wp-content/uploads/2021/11/50-2.png">
            <a:extLst>
              <a:ext uri="{FF2B5EF4-FFF2-40B4-BE49-F238E27FC236}">
                <a16:creationId xmlns:a16="http://schemas.microsoft.com/office/drawing/2014/main" id="{6BFB9285-951C-A0A0-5DD1-296297B42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394">
            <a:off x="12885981" y="3492758"/>
            <a:ext cx="746455" cy="78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65124DB-04C2-9CF5-4AA4-2490FFF9E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41" y="7435204"/>
            <a:ext cx="1390844" cy="1400370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337DD38-81C1-C34B-5B0E-1CFB4EFB5378}"/>
              </a:ext>
            </a:extLst>
          </p:cNvPr>
          <p:cNvSpPr/>
          <p:nvPr/>
        </p:nvSpPr>
        <p:spPr>
          <a:xfrm>
            <a:off x="281491" y="8940800"/>
            <a:ext cx="146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ABC7F3"/>
                </a:solidFill>
              </a:rPr>
              <a:t>Репозиторий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C8E43E8-B079-8D06-49F0-B9F84259DCFA}"/>
              </a:ext>
            </a:extLst>
          </p:cNvPr>
          <p:cNvSpPr/>
          <p:nvPr/>
        </p:nvSpPr>
        <p:spPr>
          <a:xfrm>
            <a:off x="12194870" y="-2146852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90E104-D93A-A395-6A24-0F90A355AB60}"/>
              </a:ext>
            </a:extLst>
          </p:cNvPr>
          <p:cNvSpPr txBox="1"/>
          <p:nvPr/>
        </p:nvSpPr>
        <p:spPr>
          <a:xfrm>
            <a:off x="-10717764" y="2230639"/>
            <a:ext cx="10334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Сервис для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верки новостей 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поиска ссылок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на достоверную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информацию.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BFF0C75-B53D-D7A6-73E2-48ED1DE0BDAE}"/>
              </a:ext>
            </a:extLst>
          </p:cNvPr>
          <p:cNvSpPr/>
          <p:nvPr/>
        </p:nvSpPr>
        <p:spPr>
          <a:xfrm>
            <a:off x="9420739" y="-86810"/>
            <a:ext cx="14461439" cy="7039787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A0A1B83-0E3A-733E-864C-E6158F0A2989}"/>
              </a:ext>
            </a:extLst>
          </p:cNvPr>
          <p:cNvGrpSpPr/>
          <p:nvPr/>
        </p:nvGrpSpPr>
        <p:grpSpPr>
          <a:xfrm>
            <a:off x="-2771261" y="-55947"/>
            <a:ext cx="12192000" cy="6962504"/>
            <a:chOff x="-1" y="0"/>
            <a:chExt cx="12192000" cy="68580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36699177-5F34-6791-7686-6E46986CD9FB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2D40DF75-74BD-DD58-FC54-7A872716A7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6DE35C-38D3-C4E6-D7B7-C23825BE201F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40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99FCF1EB-F100-59D7-A9AD-9866FD732C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D1A560A-C57C-611D-DD2C-3EFFF2F36BDB}"/>
              </a:ext>
            </a:extLst>
          </p:cNvPr>
          <p:cNvSpPr txBox="1"/>
          <p:nvPr/>
        </p:nvSpPr>
        <p:spPr>
          <a:xfrm>
            <a:off x="8277510" y="5875828"/>
            <a:ext cx="3882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ABC7F3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0A806B-647E-9777-2098-4964C391EF09}"/>
              </a:ext>
            </a:extLst>
          </p:cNvPr>
          <p:cNvSpPr txBox="1"/>
          <p:nvPr/>
        </p:nvSpPr>
        <p:spPr>
          <a:xfrm>
            <a:off x="1333108" y="2119468"/>
            <a:ext cx="89258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Проблема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заключается в том что интернет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является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с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амым большим источником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и, но не только достоверной.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Примерно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62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%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информации в интернете с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большим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шанс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ом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фейковая.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9EFA56-B860-3BA7-CDB9-A37699610BF7}"/>
              </a:ext>
            </a:extLst>
          </p:cNvPr>
          <p:cNvSpPr txBox="1"/>
          <p:nvPr/>
        </p:nvSpPr>
        <p:spPr>
          <a:xfrm>
            <a:off x="-3689170" y="5820090"/>
            <a:ext cx="3882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B1B2B2"/>
                </a:solidFill>
                <a:latin typeface="Arial Black" panose="020B0A04020102020204" pitchFamily="34" charset="0"/>
              </a:rPr>
              <a:t>Решение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C4F2529-4C55-B782-1356-B914135F8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3483">
            <a:off x="10011697" y="1421818"/>
            <a:ext cx="969053" cy="76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88007C2-DB24-A02D-C018-EA97CB083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90055">
            <a:off x="619540" y="4171843"/>
            <a:ext cx="732356" cy="9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6FE72109-41E8-65BC-028B-60ABCEFF4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0188">
            <a:off x="-898156" y="1292103"/>
            <a:ext cx="773485" cy="77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>
            <a:extLst>
              <a:ext uri="{FF2B5EF4-FFF2-40B4-BE49-F238E27FC236}">
                <a16:creationId xmlns:a16="http://schemas.microsoft.com/office/drawing/2014/main" id="{762C7723-A6C2-74DC-90A2-5E9F6AFC9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7986">
            <a:off x="-9826072" y="4756565"/>
            <a:ext cx="1041160" cy="87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7BF072A-E6B3-B181-339C-5883504A6229}"/>
              </a:ext>
            </a:extLst>
          </p:cNvPr>
          <p:cNvSpPr txBox="1"/>
          <p:nvPr/>
        </p:nvSpPr>
        <p:spPr>
          <a:xfrm>
            <a:off x="-8657671" y="1843950"/>
            <a:ext cx="88289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Этот проект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предоставляет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быстрого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ота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который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проверяет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вашу новостную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статью и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сравнивает её с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провере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нными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источниками</a:t>
            </a:r>
          </a:p>
        </p:txBody>
      </p:sp>
    </p:spTree>
    <p:extLst>
      <p:ext uri="{BB962C8B-B14F-4D97-AF65-F5344CB8AC3E}">
        <p14:creationId xmlns:p14="http://schemas.microsoft.com/office/powerpoint/2010/main" val="4031751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ru-RU"/>
          </a:p>
        </p:txBody>
      </p:sp>
      <p:pic>
        <p:nvPicPr>
          <p:cNvPr id="10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Прямоугольник 46"/>
          <p:cNvSpPr/>
          <p:nvPr/>
        </p:nvSpPr>
        <p:spPr>
          <a:xfrm>
            <a:off x="9556622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9531179" y="-24715335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4" name="Группа 53"/>
          <p:cNvGrpSpPr/>
          <p:nvPr/>
        </p:nvGrpSpPr>
        <p:grpSpPr>
          <a:xfrm>
            <a:off x="-2635378" y="0"/>
            <a:ext cx="12192000" cy="6858000"/>
            <a:chOff x="-1" y="0"/>
            <a:chExt cx="12192000" cy="6858000"/>
          </a:xfrm>
        </p:grpSpPr>
        <p:sp>
          <p:nvSpPr>
            <p:cNvPr id="55" name="Прямоугольник 54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6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56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58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DFE70BA-2E24-3FC5-64FB-F154EEC03A87}"/>
              </a:ext>
            </a:extLst>
          </p:cNvPr>
          <p:cNvSpPr txBox="1"/>
          <p:nvPr/>
        </p:nvSpPr>
        <p:spPr>
          <a:xfrm>
            <a:off x="311330" y="5820090"/>
            <a:ext cx="3882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B1B2B2"/>
                </a:solidFill>
                <a:latin typeface="Arial Black" panose="020B0A04020102020204" pitchFamily="34" charset="0"/>
              </a:rPr>
              <a:t>Решение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39541-5F45-EE2E-BC0D-01F8042BCF21}"/>
              </a:ext>
            </a:extLst>
          </p:cNvPr>
          <p:cNvSpPr txBox="1"/>
          <p:nvPr/>
        </p:nvSpPr>
        <p:spPr>
          <a:xfrm>
            <a:off x="12198000" y="5875828"/>
            <a:ext cx="3882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ABC7F3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15D62-5FB1-9700-6AD0-864F1A626A41}"/>
              </a:ext>
            </a:extLst>
          </p:cNvPr>
          <p:cNvSpPr txBox="1"/>
          <p:nvPr/>
        </p:nvSpPr>
        <p:spPr>
          <a:xfrm>
            <a:off x="1509215" y="1843950"/>
            <a:ext cx="88289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Этот проект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предоставляет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быстрого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ота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который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проверяет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вашу новостную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статью и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сравнивает её с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провере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нными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источниками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BD420-F631-F73A-08AE-22E6FB239283}"/>
              </a:ext>
            </a:extLst>
          </p:cNvPr>
          <p:cNvSpPr txBox="1"/>
          <p:nvPr/>
        </p:nvSpPr>
        <p:spPr>
          <a:xfrm>
            <a:off x="13517488" y="2119468"/>
            <a:ext cx="89258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Проблема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заключается в том что интернет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является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с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амым большим источником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и, но не только достоверной.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Примерно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62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%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информации в интернете с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большим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B1B2B2"/>
                </a:solidFill>
                <a:latin typeface="Arial Black" panose="020B0A04020102020204" pitchFamily="34" charset="0"/>
              </a:rPr>
              <a:t>шанс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ом</a:t>
            </a:r>
            <a:r>
              <a:rPr lang="ru-RU" sz="2800" dirty="0"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rgbClr val="ABC7F3"/>
                </a:solidFill>
                <a:latin typeface="Arial Black" panose="020B0A04020102020204" pitchFamily="34" charset="0"/>
              </a:rPr>
              <a:t>фейковая.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A974F38-C837-EB2A-076C-BE62A17E4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0188">
            <a:off x="9503144" y="1292103"/>
            <a:ext cx="773485" cy="77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B144B7F-A2E0-082F-C2EC-D891B873D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7986">
            <a:off x="506648" y="4665125"/>
            <a:ext cx="1041160" cy="87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7E80482A-3308-D844-4D57-BDAB4609B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3483">
            <a:off x="22162366" y="1421818"/>
            <a:ext cx="969053" cy="76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9920E9A4-803E-5047-A4F4-12F72B747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90055">
            <a:off x="12770209" y="4171843"/>
            <a:ext cx="732356" cy="9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9A795F-0753-D3B1-1C2E-4F362AFE0BEB}"/>
              </a:ext>
            </a:extLst>
          </p:cNvPr>
          <p:cNvSpPr txBox="1"/>
          <p:nvPr/>
        </p:nvSpPr>
        <p:spPr>
          <a:xfrm>
            <a:off x="3556942" y="11664047"/>
            <a:ext cx="803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B1B2B2"/>
                </a:solidFill>
                <a:latin typeface="Arial Black" panose="020B0A04020102020204" pitchFamily="34" charset="0"/>
              </a:rPr>
              <a:t>Целевая</a:t>
            </a:r>
            <a:r>
              <a:rPr lang="ru-RU" sz="3600" dirty="0">
                <a:latin typeface="Arial Black" panose="020B0A04020102020204" pitchFamily="34" charset="0"/>
              </a:rPr>
              <a:t> </a:t>
            </a:r>
            <a:r>
              <a:rPr lang="ru-RU" sz="3600" dirty="0">
                <a:solidFill>
                  <a:srgbClr val="ABC7F3"/>
                </a:solidFill>
                <a:latin typeface="Arial Black" panose="020B0A04020102020204" pitchFamily="34" charset="0"/>
              </a:rPr>
              <a:t>аудитория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688B1-C537-0761-2946-4AC7D5C9F7FA}"/>
              </a:ext>
            </a:extLst>
          </p:cNvPr>
          <p:cNvSpPr txBox="1"/>
          <p:nvPr/>
        </p:nvSpPr>
        <p:spPr>
          <a:xfrm>
            <a:off x="2789695" y="7861201"/>
            <a:ext cx="82788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Целев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ой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аудиторией этого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продукт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 являются люди всех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возрастов,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но всех этих людей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объединяе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т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одна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общая проблема: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определе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ние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фейковой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ации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в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интернете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E6F81D6-07CE-A7EA-8F85-3D4C3AFF8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2704">
            <a:off x="9455964" y="7127749"/>
            <a:ext cx="938858" cy="97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806B3DC4-46AE-AFB4-15E4-93E028E44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237">
            <a:off x="1531078" y="10430549"/>
            <a:ext cx="1016376" cy="96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ABA28-B170-5210-2146-40A78353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6A5492-EE19-7C2A-75FE-6A0F363AB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F319E3F2-468B-A845-3AD6-588382421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0A6A41-5F30-578F-C0E2-2910902536C1}"/>
              </a:ext>
            </a:extLst>
          </p:cNvPr>
          <p:cNvSpPr/>
          <p:nvPr/>
        </p:nvSpPr>
        <p:spPr>
          <a:xfrm>
            <a:off x="9537572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93EF103-17CB-746D-9742-CC6513F553AA}"/>
              </a:ext>
            </a:extLst>
          </p:cNvPr>
          <p:cNvSpPr/>
          <p:nvPr/>
        </p:nvSpPr>
        <p:spPr>
          <a:xfrm>
            <a:off x="9531179" y="-24715335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CF28EBF-BCE9-91F8-B7EE-93D7B9E669E7}"/>
              </a:ext>
            </a:extLst>
          </p:cNvPr>
          <p:cNvGrpSpPr/>
          <p:nvPr/>
        </p:nvGrpSpPr>
        <p:grpSpPr>
          <a:xfrm>
            <a:off x="-2635378" y="-1"/>
            <a:ext cx="12192000" cy="6858000"/>
            <a:chOff x="-1" y="0"/>
            <a:chExt cx="12192000" cy="68580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C121FFD3-957F-45F1-5572-447F5936B0F3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DB1C9806-4CA9-9782-4171-092DD7195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682B3F-FD8D-108D-32E8-0D511E3941DA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1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EE082A36-553C-8641-9E92-20CD91766E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E8A50B3-6FDD-033D-A830-E6D90C2FF405}"/>
              </a:ext>
            </a:extLst>
          </p:cNvPr>
          <p:cNvSpPr txBox="1"/>
          <p:nvPr/>
        </p:nvSpPr>
        <p:spPr>
          <a:xfrm>
            <a:off x="-10261420" y="5820090"/>
            <a:ext cx="3882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B1B2B2"/>
                </a:solidFill>
                <a:latin typeface="Arial Black" panose="020B0A04020102020204" pitchFamily="34" charset="0"/>
              </a:rPr>
              <a:t>Решение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0C2D1F65-80B6-4C68-0345-035151BA4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0188">
            <a:off x="-1069606" y="1292103"/>
            <a:ext cx="773485" cy="77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069F18F7-184C-98A2-B817-67E5D1301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7986">
            <a:off x="-10066102" y="4665125"/>
            <a:ext cx="1041160" cy="87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ADEDD35-CEC0-5963-8B07-71259D4468CF}"/>
              </a:ext>
            </a:extLst>
          </p:cNvPr>
          <p:cNvSpPr txBox="1"/>
          <p:nvPr/>
        </p:nvSpPr>
        <p:spPr>
          <a:xfrm>
            <a:off x="3556942" y="5853797"/>
            <a:ext cx="803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B1B2B2"/>
                </a:solidFill>
                <a:latin typeface="Arial Black" panose="020B0A04020102020204" pitchFamily="34" charset="0"/>
              </a:rPr>
              <a:t>Целевая</a:t>
            </a:r>
            <a:r>
              <a:rPr lang="ru-RU" sz="3600" dirty="0">
                <a:latin typeface="Arial Black" panose="020B0A04020102020204" pitchFamily="34" charset="0"/>
              </a:rPr>
              <a:t> </a:t>
            </a:r>
            <a:r>
              <a:rPr lang="ru-RU" sz="3600" dirty="0">
                <a:solidFill>
                  <a:srgbClr val="ABC7F3"/>
                </a:solidFill>
                <a:latin typeface="Arial Black" panose="020B0A04020102020204" pitchFamily="34" charset="0"/>
              </a:rPr>
              <a:t>аудитория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609F95-12D7-FA70-7DF2-2A50DF755BBA}"/>
              </a:ext>
            </a:extLst>
          </p:cNvPr>
          <p:cNvSpPr txBox="1"/>
          <p:nvPr/>
        </p:nvSpPr>
        <p:spPr>
          <a:xfrm>
            <a:off x="2789695" y="2050951"/>
            <a:ext cx="82788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Целев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ой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аудиторией этого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продукт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 являются люди всех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возрастов,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но всех этих людей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объединяе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т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одна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общая проблема: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определе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ние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фейковой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ации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в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интернете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113A9C-0387-5F40-3609-D7B6C5C97DE7}"/>
              </a:ext>
            </a:extLst>
          </p:cNvPr>
          <p:cNvSpPr txBox="1"/>
          <p:nvPr/>
        </p:nvSpPr>
        <p:spPr>
          <a:xfrm>
            <a:off x="-9122620" y="1843950"/>
            <a:ext cx="88289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Этот проект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предоставляет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быстрого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ота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который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проверяет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вашу новостную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статью и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сравнивает её с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провере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нными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источниками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174E3A9-AEBB-A364-76E8-19CCF3EDB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2704">
            <a:off x="9455964" y="1317499"/>
            <a:ext cx="938858" cy="97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D577CE02-26A5-06EE-2616-3D7B06185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237">
            <a:off x="1531078" y="4620299"/>
            <a:ext cx="1016376" cy="96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45DC30E-B30E-1FF0-5A5A-E9C241FAEAFE}"/>
              </a:ext>
            </a:extLst>
          </p:cNvPr>
          <p:cNvSpPr txBox="1"/>
          <p:nvPr/>
        </p:nvSpPr>
        <p:spPr>
          <a:xfrm>
            <a:off x="-10395847" y="1672830"/>
            <a:ext cx="502502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Дорожная </a:t>
            </a:r>
            <a:r>
              <a:rPr lang="ru-RU" sz="4000" dirty="0">
                <a:solidFill>
                  <a:srgbClr val="DBDBDB"/>
                </a:solidFill>
                <a:latin typeface="Arial Black" panose="020B0A04020102020204" pitchFamily="34" charset="0"/>
              </a:rPr>
              <a:t>карта</a:t>
            </a:r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F4DF999C-1E49-4BEE-5DD5-CDC22B2DFBBA}"/>
              </a:ext>
            </a:extLst>
          </p:cNvPr>
          <p:cNvGrpSpPr/>
          <p:nvPr/>
        </p:nvGrpSpPr>
        <p:grpSpPr>
          <a:xfrm>
            <a:off x="-24648718" y="3067050"/>
            <a:ext cx="24217778" cy="1141510"/>
            <a:chOff x="-1500" y="3067050"/>
            <a:chExt cx="24217778" cy="1141510"/>
          </a:xfrm>
        </p:grpSpPr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ABFA511F-DEFC-A016-C128-60473AE4F63B}"/>
                </a:ext>
              </a:extLst>
            </p:cNvPr>
            <p:cNvGrpSpPr/>
            <p:nvPr/>
          </p:nvGrpSpPr>
          <p:grpSpPr>
            <a:xfrm>
              <a:off x="-1500" y="3067050"/>
              <a:ext cx="23775818" cy="1141510"/>
              <a:chOff x="-1500" y="3067050"/>
              <a:chExt cx="23775818" cy="1141510"/>
            </a:xfrm>
          </p:grpSpPr>
          <p:sp>
            <p:nvSpPr>
              <p:cNvPr id="4108" name="Прямоугольник 4107">
                <a:extLst>
                  <a:ext uri="{FF2B5EF4-FFF2-40B4-BE49-F238E27FC236}">
                    <a16:creationId xmlns:a16="http://schemas.microsoft.com/office/drawing/2014/main" id="{8F18D89E-F0DC-2E77-68C8-0BD96C743E24}"/>
                  </a:ext>
                </a:extLst>
              </p:cNvPr>
              <p:cNvSpPr/>
              <p:nvPr/>
            </p:nvSpPr>
            <p:spPr>
              <a:xfrm>
                <a:off x="-1500" y="3074670"/>
                <a:ext cx="23775818" cy="1111632"/>
              </a:xfrm>
              <a:prstGeom prst="rect">
                <a:avLst/>
              </a:prstGeom>
              <a:solidFill>
                <a:srgbClr val="414141"/>
              </a:solidFill>
              <a:ln w="38100">
                <a:solidFill>
                  <a:srgbClr val="ABC7F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4109" name="Прямая соединительная линия 4108">
                <a:extLst>
                  <a:ext uri="{FF2B5EF4-FFF2-40B4-BE49-F238E27FC236}">
                    <a16:creationId xmlns:a16="http://schemas.microsoft.com/office/drawing/2014/main" id="{FC02A2D6-7B09-12A8-713C-4F7D782A7643}"/>
                  </a:ext>
                </a:extLst>
              </p:cNvPr>
              <p:cNvCxnSpPr/>
              <p:nvPr/>
            </p:nvCxnSpPr>
            <p:spPr>
              <a:xfrm>
                <a:off x="2593110" y="307467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0" name="Прямая соединительная линия 4109">
                <a:extLst>
                  <a:ext uri="{FF2B5EF4-FFF2-40B4-BE49-F238E27FC236}">
                    <a16:creationId xmlns:a16="http://schemas.microsoft.com/office/drawing/2014/main" id="{102CFABC-60A4-0B87-ABC0-0EAB2BED52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5980" y="359283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1" name="Прямая соединительная линия 4110">
                <a:extLst>
                  <a:ext uri="{FF2B5EF4-FFF2-40B4-BE49-F238E27FC236}">
                    <a16:creationId xmlns:a16="http://schemas.microsoft.com/office/drawing/2014/main" id="{A8CA155D-9B2B-1507-DEFF-4C31472CEC76}"/>
                  </a:ext>
                </a:extLst>
              </p:cNvPr>
              <p:cNvCxnSpPr/>
              <p:nvPr/>
            </p:nvCxnSpPr>
            <p:spPr>
              <a:xfrm>
                <a:off x="5473470" y="306705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2" name="Прямая соединительная линия 4111">
                <a:extLst>
                  <a:ext uri="{FF2B5EF4-FFF2-40B4-BE49-F238E27FC236}">
                    <a16:creationId xmlns:a16="http://schemas.microsoft.com/office/drawing/2014/main" id="{251DCD4D-70B2-3E0E-EAD1-7746347345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340" y="358521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3" name="Прямая соединительная линия 4112">
                <a:extLst>
                  <a:ext uri="{FF2B5EF4-FFF2-40B4-BE49-F238E27FC236}">
                    <a16:creationId xmlns:a16="http://schemas.microsoft.com/office/drawing/2014/main" id="{6BAF910A-FD57-AB08-D452-86F2E0FFC65B}"/>
                  </a:ext>
                </a:extLst>
              </p:cNvPr>
              <p:cNvCxnSpPr/>
              <p:nvPr/>
            </p:nvCxnSpPr>
            <p:spPr>
              <a:xfrm>
                <a:off x="8073795" y="308168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4" name="Прямая соединительная линия 4113">
                <a:extLst>
                  <a:ext uri="{FF2B5EF4-FFF2-40B4-BE49-F238E27FC236}">
                    <a16:creationId xmlns:a16="http://schemas.microsoft.com/office/drawing/2014/main" id="{80380709-DDC9-66E0-4D2C-911DAA1B85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76665" y="359984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5" name="Прямая соединительная линия 4114">
                <a:extLst>
                  <a:ext uri="{FF2B5EF4-FFF2-40B4-BE49-F238E27FC236}">
                    <a16:creationId xmlns:a16="http://schemas.microsoft.com/office/drawing/2014/main" id="{D539642B-61C5-99FD-DEFD-372B4CE67109}"/>
                  </a:ext>
                </a:extLst>
              </p:cNvPr>
              <p:cNvCxnSpPr/>
              <p:nvPr/>
            </p:nvCxnSpPr>
            <p:spPr>
              <a:xfrm>
                <a:off x="10740795" y="309692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6" name="Прямая соединительная линия 4115">
                <a:extLst>
                  <a:ext uri="{FF2B5EF4-FFF2-40B4-BE49-F238E27FC236}">
                    <a16:creationId xmlns:a16="http://schemas.microsoft.com/office/drawing/2014/main" id="{3AB5F35B-97C7-0303-B03D-15C18D4104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43665" y="361508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7" name="Прямая соединительная линия 4116">
                <a:extLst>
                  <a:ext uri="{FF2B5EF4-FFF2-40B4-BE49-F238E27FC236}">
                    <a16:creationId xmlns:a16="http://schemas.microsoft.com/office/drawing/2014/main" id="{C1E99FD2-19E8-F748-FAFD-FEBC59DD13B6}"/>
                  </a:ext>
                </a:extLst>
              </p:cNvPr>
              <p:cNvCxnSpPr/>
              <p:nvPr/>
            </p:nvCxnSpPr>
            <p:spPr>
              <a:xfrm>
                <a:off x="13268945" y="308930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8" name="Прямая соединительная линия 4117">
                <a:extLst>
                  <a:ext uri="{FF2B5EF4-FFF2-40B4-BE49-F238E27FC236}">
                    <a16:creationId xmlns:a16="http://schemas.microsoft.com/office/drawing/2014/main" id="{E3A19249-A1AB-48E3-D76B-FC6A6E7411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71815" y="360746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19" name="TextBox 4118">
                <a:extLst>
                  <a:ext uri="{FF2B5EF4-FFF2-40B4-BE49-F238E27FC236}">
                    <a16:creationId xmlns:a16="http://schemas.microsoft.com/office/drawing/2014/main" id="{1DAC4574-0C50-530A-0F99-F4E8C874442B}"/>
                  </a:ext>
                </a:extLst>
              </p:cNvPr>
              <p:cNvSpPr txBox="1"/>
              <p:nvPr/>
            </p:nvSpPr>
            <p:spPr>
              <a:xfrm>
                <a:off x="549045" y="339187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1 неделя</a:t>
                </a:r>
              </a:p>
            </p:txBody>
          </p:sp>
          <p:sp>
            <p:nvSpPr>
              <p:cNvPr id="4120" name="TextBox 4119">
                <a:extLst>
                  <a:ext uri="{FF2B5EF4-FFF2-40B4-BE49-F238E27FC236}">
                    <a16:creationId xmlns:a16="http://schemas.microsoft.com/office/drawing/2014/main" id="{29E9BB51-169B-23F3-A787-A2607770C298}"/>
                  </a:ext>
                </a:extLst>
              </p:cNvPr>
              <p:cNvSpPr txBox="1"/>
              <p:nvPr/>
            </p:nvSpPr>
            <p:spPr>
              <a:xfrm>
                <a:off x="3478935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2 неделя</a:t>
                </a:r>
              </a:p>
            </p:txBody>
          </p:sp>
          <p:sp>
            <p:nvSpPr>
              <p:cNvPr id="4121" name="TextBox 4120">
                <a:extLst>
                  <a:ext uri="{FF2B5EF4-FFF2-40B4-BE49-F238E27FC236}">
                    <a16:creationId xmlns:a16="http://schemas.microsoft.com/office/drawing/2014/main" id="{C24EA0CE-2A5B-2C8C-9020-1968C33DD84E}"/>
                  </a:ext>
                </a:extLst>
              </p:cNvPr>
              <p:cNvSpPr txBox="1"/>
              <p:nvPr/>
            </p:nvSpPr>
            <p:spPr>
              <a:xfrm>
                <a:off x="6013537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3 неделя</a:t>
                </a:r>
              </a:p>
            </p:txBody>
          </p:sp>
          <p:sp>
            <p:nvSpPr>
              <p:cNvPr id="4122" name="TextBox 4121">
                <a:extLst>
                  <a:ext uri="{FF2B5EF4-FFF2-40B4-BE49-F238E27FC236}">
                    <a16:creationId xmlns:a16="http://schemas.microsoft.com/office/drawing/2014/main" id="{A915DBA3-491B-9A90-2008-A50D6B52358E}"/>
                  </a:ext>
                </a:extLst>
              </p:cNvPr>
              <p:cNvSpPr txBox="1"/>
              <p:nvPr/>
            </p:nvSpPr>
            <p:spPr>
              <a:xfrm>
                <a:off x="8677680" y="3391874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4 неделя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64D8D30-0FAA-2AD1-C4D7-83ADA0819A99}"/>
                </a:ext>
              </a:extLst>
            </p:cNvPr>
            <p:cNvSpPr txBox="1"/>
            <p:nvPr/>
          </p:nvSpPr>
          <p:spPr>
            <a:xfrm>
              <a:off x="13821790" y="3394374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5 неделя</a:t>
              </a:r>
            </a:p>
          </p:txBody>
        </p: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00930357-7E2C-66E7-914D-38D19B779EFA}"/>
                </a:ext>
              </a:extLst>
            </p:cNvPr>
            <p:cNvCxnSpPr/>
            <p:nvPr/>
          </p:nvCxnSpPr>
          <p:spPr>
            <a:xfrm>
              <a:off x="15894724" y="3091808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>
              <a:extLst>
                <a:ext uri="{FF2B5EF4-FFF2-40B4-BE49-F238E27FC236}">
                  <a16:creationId xmlns:a16="http://schemas.microsoft.com/office/drawing/2014/main" id="{94B3275B-6737-85E3-F239-E188013423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7594" y="3609968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758EC0E4-E814-74B1-61D2-7E255E30D715}"/>
                </a:ext>
              </a:extLst>
            </p:cNvPr>
            <p:cNvCxnSpPr/>
            <p:nvPr/>
          </p:nvCxnSpPr>
          <p:spPr>
            <a:xfrm>
              <a:off x="15903287" y="3084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A0864AF9-88E4-6CB3-E78B-2A076F923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6157" y="3603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E1A707E-00F8-3139-5E78-7E031B3F0CA7}"/>
                </a:ext>
              </a:extLst>
            </p:cNvPr>
            <p:cNvSpPr txBox="1"/>
            <p:nvPr/>
          </p:nvSpPr>
          <p:spPr>
            <a:xfrm>
              <a:off x="16456132" y="3390020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6 неделя</a:t>
              </a:r>
            </a:p>
          </p:txBody>
        </p: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11CE111C-4A88-A871-21DF-C566C57C8FC0}"/>
                </a:ext>
              </a:extLst>
            </p:cNvPr>
            <p:cNvCxnSpPr/>
            <p:nvPr/>
          </p:nvCxnSpPr>
          <p:spPr>
            <a:xfrm>
              <a:off x="18529066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id="{6DC76F57-B334-05F3-AF36-7F1574414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36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109F27B3-2FE3-A6A4-C0A9-7C16BA49C9D1}"/>
                </a:ext>
              </a:extLst>
            </p:cNvPr>
            <p:cNvCxnSpPr/>
            <p:nvPr/>
          </p:nvCxnSpPr>
          <p:spPr>
            <a:xfrm>
              <a:off x="18529059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id="{59ECFBCE-4B4C-135C-9DF8-AD9FDB1418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29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79B2D63-E09D-1EEA-CB73-F5038714AAEA}"/>
                </a:ext>
              </a:extLst>
            </p:cNvPr>
            <p:cNvSpPr txBox="1"/>
            <p:nvPr/>
          </p:nvSpPr>
          <p:spPr>
            <a:xfrm>
              <a:off x="19081904" y="3392520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7 неделя</a:t>
              </a:r>
            </a:p>
          </p:txBody>
        </p:sp>
        <p:cxnSp>
          <p:nvCxnSpPr>
            <p:cNvPr id="63" name="Прямая соединительная линия 62">
              <a:extLst>
                <a:ext uri="{FF2B5EF4-FFF2-40B4-BE49-F238E27FC236}">
                  <a16:creationId xmlns:a16="http://schemas.microsoft.com/office/drawing/2014/main" id="{F014D49F-7915-4923-3813-55E59944F7DE}"/>
                </a:ext>
              </a:extLst>
            </p:cNvPr>
            <p:cNvCxnSpPr/>
            <p:nvPr/>
          </p:nvCxnSpPr>
          <p:spPr>
            <a:xfrm>
              <a:off x="21154838" y="3089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6" name="Прямая соединительная линия 4095">
              <a:extLst>
                <a:ext uri="{FF2B5EF4-FFF2-40B4-BE49-F238E27FC236}">
                  <a16:creationId xmlns:a16="http://schemas.microsoft.com/office/drawing/2014/main" id="{09371C46-F484-82B7-314A-CD87B2A34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7708" y="3608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7" name="Прямая соединительная линия 4096">
              <a:extLst>
                <a:ext uri="{FF2B5EF4-FFF2-40B4-BE49-F238E27FC236}">
                  <a16:creationId xmlns:a16="http://schemas.microsoft.com/office/drawing/2014/main" id="{D8BC6606-8217-953B-2DA2-2C3C5FD3A60E}"/>
                </a:ext>
              </a:extLst>
            </p:cNvPr>
            <p:cNvCxnSpPr/>
            <p:nvPr/>
          </p:nvCxnSpPr>
          <p:spPr>
            <a:xfrm>
              <a:off x="21152349" y="30724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Прямая соединительная линия 4098">
              <a:extLst>
                <a:ext uri="{FF2B5EF4-FFF2-40B4-BE49-F238E27FC236}">
                  <a16:creationId xmlns:a16="http://schemas.microsoft.com/office/drawing/2014/main" id="{81D7209F-E683-D249-D951-7FB762FA5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5219" y="3590623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1" name="TextBox 4100">
              <a:extLst>
                <a:ext uri="{FF2B5EF4-FFF2-40B4-BE49-F238E27FC236}">
                  <a16:creationId xmlns:a16="http://schemas.microsoft.com/office/drawing/2014/main" id="{7039C55A-F055-75B5-61EB-159DBA1BC6AA}"/>
                </a:ext>
              </a:extLst>
            </p:cNvPr>
            <p:cNvSpPr txBox="1"/>
            <p:nvPr/>
          </p:nvSpPr>
          <p:spPr>
            <a:xfrm>
              <a:off x="21705194" y="3377529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8 неделя</a:t>
              </a:r>
            </a:p>
          </p:txBody>
        </p:sp>
        <p:cxnSp>
          <p:nvCxnSpPr>
            <p:cNvPr id="4103" name="Прямая соединительная линия 4102">
              <a:extLst>
                <a:ext uri="{FF2B5EF4-FFF2-40B4-BE49-F238E27FC236}">
                  <a16:creationId xmlns:a16="http://schemas.microsoft.com/office/drawing/2014/main" id="{B7985008-C782-B85A-500A-DFB229BC225F}"/>
                </a:ext>
              </a:extLst>
            </p:cNvPr>
            <p:cNvCxnSpPr/>
            <p:nvPr/>
          </p:nvCxnSpPr>
          <p:spPr>
            <a:xfrm>
              <a:off x="23778128" y="30749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Прямая соединительная линия 4104">
              <a:extLst>
                <a:ext uri="{FF2B5EF4-FFF2-40B4-BE49-F238E27FC236}">
                  <a16:creationId xmlns:a16="http://schemas.microsoft.com/office/drawing/2014/main" id="{F5B408E7-EAE6-58CA-5AE3-28287D3F64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4318" y="3593123"/>
              <a:ext cx="441960" cy="585559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7" name="Равнобедренный треугольник 4106">
              <a:extLst>
                <a:ext uri="{FF2B5EF4-FFF2-40B4-BE49-F238E27FC236}">
                  <a16:creationId xmlns:a16="http://schemas.microsoft.com/office/drawing/2014/main" id="{37D0B5AA-26DD-01D0-2849-B11033FCC3CA}"/>
                </a:ext>
              </a:extLst>
            </p:cNvPr>
            <p:cNvSpPr/>
            <p:nvPr/>
          </p:nvSpPr>
          <p:spPr>
            <a:xfrm rot="5400000">
              <a:off x="23450006" y="3405997"/>
              <a:ext cx="1052481" cy="434341"/>
            </a:xfrm>
            <a:prstGeom prst="triangle">
              <a:avLst/>
            </a:prstGeom>
            <a:solidFill>
              <a:srgbClr val="414141"/>
            </a:solidFill>
            <a:ln>
              <a:solidFill>
                <a:srgbClr val="414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544768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6CEEB-4032-5326-0D03-C08B3E16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45CC9C-4B7C-734D-2ADD-3075CC92D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3B14D73B-3BFB-A4CE-9A91-B19B9CB83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60D3D6F-7E15-CCEE-0C12-AB92AA97E35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1" y="0"/>
            <a:chExt cx="12192000" cy="68580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C7FA4C61-C0C3-540F-BA57-BB7748F5708E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139B7B88-8D77-144B-115B-2F05BDB87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A379F2-02F5-75D4-1E1C-C37549B08F24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E0C6378B-55BB-8022-EA47-106692005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C698241-EEA8-7CD7-5344-10563BFA837B}"/>
              </a:ext>
            </a:extLst>
          </p:cNvPr>
          <p:cNvSpPr txBox="1"/>
          <p:nvPr/>
        </p:nvSpPr>
        <p:spPr>
          <a:xfrm>
            <a:off x="3652653" y="1312621"/>
            <a:ext cx="502502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Дорожная </a:t>
            </a:r>
            <a:r>
              <a:rPr lang="ru-RU" sz="4000" dirty="0">
                <a:solidFill>
                  <a:srgbClr val="DBDBDB"/>
                </a:solidFill>
                <a:latin typeface="Arial Black" panose="020B0A04020102020204" pitchFamily="34" charset="0"/>
              </a:rPr>
              <a:t>карта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F48F21-FC09-43D8-49F1-410C0A252A40}"/>
              </a:ext>
            </a:extLst>
          </p:cNvPr>
          <p:cNvSpPr txBox="1"/>
          <p:nvPr/>
        </p:nvSpPr>
        <p:spPr>
          <a:xfrm>
            <a:off x="3195172" y="3067050"/>
            <a:ext cx="23553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ABC7F3"/>
                </a:solidFill>
                <a:effectLst/>
                <a:latin typeface="Arial Black" panose="020B0A04020102020204" pitchFamily="34" charset="0"/>
              </a:rPr>
              <a:t>Реализация функции по запросу статьи от пользователя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3B700F4-67B2-7636-1429-E0A336142277}"/>
              </a:ext>
            </a:extLst>
          </p:cNvPr>
          <p:cNvSpPr txBox="1"/>
          <p:nvPr/>
        </p:nvSpPr>
        <p:spPr>
          <a:xfrm>
            <a:off x="3556942" y="11589577"/>
            <a:ext cx="803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B1B2B2"/>
                </a:solidFill>
                <a:latin typeface="Arial Black" panose="020B0A04020102020204" pitchFamily="34" charset="0"/>
              </a:rPr>
              <a:t>Целевая</a:t>
            </a:r>
            <a:r>
              <a:rPr lang="ru-RU" sz="3600" dirty="0">
                <a:latin typeface="Arial Black" panose="020B0A04020102020204" pitchFamily="34" charset="0"/>
              </a:rPr>
              <a:t> </a:t>
            </a:r>
            <a:r>
              <a:rPr lang="ru-RU" sz="3600" dirty="0">
                <a:solidFill>
                  <a:srgbClr val="ABC7F3"/>
                </a:solidFill>
                <a:latin typeface="Arial Black" panose="020B0A04020102020204" pitchFamily="34" charset="0"/>
              </a:rPr>
              <a:t>аудитория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38D07E5-A322-C2B0-B474-C9DF1206D488}"/>
              </a:ext>
            </a:extLst>
          </p:cNvPr>
          <p:cNvSpPr txBox="1"/>
          <p:nvPr/>
        </p:nvSpPr>
        <p:spPr>
          <a:xfrm>
            <a:off x="2789695" y="7786731"/>
            <a:ext cx="82788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Целев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ой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аудиторией этого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продукт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 являются люди всех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возрастов,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но всех этих людей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объединяе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т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одна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общая проблема: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определе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ние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фейковой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ации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в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интернете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15F9389-5864-BC8F-B2E9-69C3294F7E4B}"/>
              </a:ext>
            </a:extLst>
          </p:cNvPr>
          <p:cNvSpPr txBox="1"/>
          <p:nvPr/>
        </p:nvSpPr>
        <p:spPr>
          <a:xfrm>
            <a:off x="5473470" y="3224992"/>
            <a:ext cx="28361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Добавление </a:t>
            </a:r>
            <a:r>
              <a:rPr lang="en-US" b="1" dirty="0">
                <a:solidFill>
                  <a:srgbClr val="DBDBDB"/>
                </a:solidFill>
                <a:latin typeface="Arial Black" panose="020B0A04020102020204" pitchFamily="34" charset="0"/>
              </a:rPr>
              <a:t>“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фильтра запросов</a:t>
            </a:r>
            <a:r>
              <a:rPr lang="en-US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”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 и базовых</a:t>
            </a:r>
            <a:r>
              <a:rPr lang="ru-RU" b="1" dirty="0">
                <a:solidFill>
                  <a:srgbClr val="DBDBDB"/>
                </a:solidFill>
                <a:latin typeface="Arial Black" panose="020B0A04020102020204" pitchFamily="34" charset="0"/>
              </a:rPr>
              <a:t> случаев</a:t>
            </a:r>
            <a:endParaRPr lang="ru-RU" b="1" i="0" dirty="0">
              <a:solidFill>
                <a:srgbClr val="DBDBDB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AA85031-E099-D812-2DD9-87541C99EF11}"/>
              </a:ext>
            </a:extLst>
          </p:cNvPr>
          <p:cNvSpPr txBox="1"/>
          <p:nvPr/>
        </p:nvSpPr>
        <p:spPr>
          <a:xfrm>
            <a:off x="8115504" y="3204913"/>
            <a:ext cx="31553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ABC7F3"/>
                </a:solidFill>
                <a:latin typeface="Arial Black" panose="020B0A04020102020204" pitchFamily="34" charset="0"/>
              </a:rPr>
              <a:t>Разработать структуру для парсинга и скачивания текста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2397285-C012-680C-AB8E-33BE5FDF9E5F}"/>
              </a:ext>
            </a:extLst>
          </p:cNvPr>
          <p:cNvSpPr txBox="1"/>
          <p:nvPr/>
        </p:nvSpPr>
        <p:spPr>
          <a:xfrm>
            <a:off x="-9283" y="2971559"/>
            <a:ext cx="2836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DBDBDB"/>
                </a:solidFill>
                <a:latin typeface="Arial Black" panose="020B0A04020102020204" pitchFamily="34" charset="0"/>
              </a:rPr>
              <a:t>Поиск нужных библиотек и сайтов с проверенной информацией 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7B2F64B-DF3A-AAA4-7907-E948B0E5F3C7}"/>
              </a:ext>
            </a:extLst>
          </p:cNvPr>
          <p:cNvSpPr txBox="1"/>
          <p:nvPr/>
        </p:nvSpPr>
        <p:spPr>
          <a:xfrm>
            <a:off x="13424245" y="3046692"/>
            <a:ext cx="30725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DBDBDB"/>
                </a:solidFill>
                <a:latin typeface="Arial Black" panose="020B0A04020102020204" pitchFamily="34" charset="0"/>
              </a:rPr>
              <a:t>Реализация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 части кода отвечающую за математическое сравнение текстов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CFF1659-EE28-7D0E-5726-7FEABA13D750}"/>
              </a:ext>
            </a:extLst>
          </p:cNvPr>
          <p:cNvSpPr txBox="1"/>
          <p:nvPr/>
        </p:nvSpPr>
        <p:spPr>
          <a:xfrm>
            <a:off x="18296955" y="3014324"/>
            <a:ext cx="3125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Тесты прототипа проекта на дееспособность и исправную работу</a:t>
            </a:r>
            <a:endParaRPr lang="ru-RU" dirty="0">
              <a:solidFill>
                <a:srgbClr val="DBDBDB"/>
              </a:solidFill>
              <a:latin typeface="Arial Black" panose="020B0A04020102020204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BBA09A4-FECF-24A0-EBA5-509ED96F944F}"/>
              </a:ext>
            </a:extLst>
          </p:cNvPr>
          <p:cNvSpPr txBox="1"/>
          <p:nvPr/>
        </p:nvSpPr>
        <p:spPr>
          <a:xfrm>
            <a:off x="21174808" y="3038983"/>
            <a:ext cx="2769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ABC7F3"/>
                </a:solidFill>
                <a:effectLst/>
                <a:latin typeface="Arial Black" panose="020B0A04020102020204" pitchFamily="34" charset="0"/>
              </a:rPr>
              <a:t>Сделать интерфейс для более красивого ввода текста и вывода 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2C6EBB3-C553-7B6D-6F5C-BA79CC8DA87E}"/>
              </a:ext>
            </a:extLst>
          </p:cNvPr>
          <p:cNvSpPr txBox="1"/>
          <p:nvPr/>
        </p:nvSpPr>
        <p:spPr>
          <a:xfrm>
            <a:off x="16304087" y="3067050"/>
            <a:ext cx="2495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Размышление о</a:t>
            </a:r>
          </a:p>
          <a:p>
            <a:pPr algn="ctr"/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новых функциях и идеях для проекта</a:t>
            </a:r>
          </a:p>
        </p:txBody>
      </p:sp>
      <p:grpSp>
        <p:nvGrpSpPr>
          <p:cNvPr id="185" name="Группа 184">
            <a:extLst>
              <a:ext uri="{FF2B5EF4-FFF2-40B4-BE49-F238E27FC236}">
                <a16:creationId xmlns:a16="http://schemas.microsoft.com/office/drawing/2014/main" id="{92DE6E9C-CD62-DBBC-160C-76201BBB00A0}"/>
              </a:ext>
            </a:extLst>
          </p:cNvPr>
          <p:cNvGrpSpPr/>
          <p:nvPr/>
        </p:nvGrpSpPr>
        <p:grpSpPr>
          <a:xfrm>
            <a:off x="-1503" y="3067050"/>
            <a:ext cx="24217778" cy="1226812"/>
            <a:chOff x="-1500" y="3067050"/>
            <a:chExt cx="24217778" cy="1141510"/>
          </a:xfrm>
        </p:grpSpPr>
        <p:grpSp>
          <p:nvGrpSpPr>
            <p:cNvPr id="186" name="Группа 185">
              <a:extLst>
                <a:ext uri="{FF2B5EF4-FFF2-40B4-BE49-F238E27FC236}">
                  <a16:creationId xmlns:a16="http://schemas.microsoft.com/office/drawing/2014/main" id="{CD79C17D-A41A-B391-E54E-3B2E3554664D}"/>
                </a:ext>
              </a:extLst>
            </p:cNvPr>
            <p:cNvGrpSpPr/>
            <p:nvPr/>
          </p:nvGrpSpPr>
          <p:grpSpPr>
            <a:xfrm>
              <a:off x="-1500" y="3067050"/>
              <a:ext cx="23775818" cy="1141510"/>
              <a:chOff x="-1500" y="3067050"/>
              <a:chExt cx="23775818" cy="1141510"/>
            </a:xfrm>
          </p:grpSpPr>
          <p:sp>
            <p:nvSpPr>
              <p:cNvPr id="206" name="Прямоугольник 205">
                <a:extLst>
                  <a:ext uri="{FF2B5EF4-FFF2-40B4-BE49-F238E27FC236}">
                    <a16:creationId xmlns:a16="http://schemas.microsoft.com/office/drawing/2014/main" id="{9CF80C97-78B3-46F9-F96F-5770A1371F56}"/>
                  </a:ext>
                </a:extLst>
              </p:cNvPr>
              <p:cNvSpPr/>
              <p:nvPr/>
            </p:nvSpPr>
            <p:spPr>
              <a:xfrm>
                <a:off x="-1500" y="3074670"/>
                <a:ext cx="23775818" cy="1111632"/>
              </a:xfrm>
              <a:prstGeom prst="rect">
                <a:avLst/>
              </a:prstGeom>
              <a:solidFill>
                <a:srgbClr val="414141"/>
              </a:solidFill>
              <a:ln w="38100">
                <a:solidFill>
                  <a:srgbClr val="ABC7F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07" name="Прямая соединительная линия 206">
                <a:extLst>
                  <a:ext uri="{FF2B5EF4-FFF2-40B4-BE49-F238E27FC236}">
                    <a16:creationId xmlns:a16="http://schemas.microsoft.com/office/drawing/2014/main" id="{6525C873-55A8-535E-9CFA-8972C740CCA3}"/>
                  </a:ext>
                </a:extLst>
              </p:cNvPr>
              <p:cNvCxnSpPr/>
              <p:nvPr/>
            </p:nvCxnSpPr>
            <p:spPr>
              <a:xfrm>
                <a:off x="2593110" y="307467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Прямая соединительная линия 207">
                <a:extLst>
                  <a:ext uri="{FF2B5EF4-FFF2-40B4-BE49-F238E27FC236}">
                    <a16:creationId xmlns:a16="http://schemas.microsoft.com/office/drawing/2014/main" id="{AF47AFDF-3935-79B3-2976-BCAC2A9A89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5980" y="359283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Прямая соединительная линия 208">
                <a:extLst>
                  <a:ext uri="{FF2B5EF4-FFF2-40B4-BE49-F238E27FC236}">
                    <a16:creationId xmlns:a16="http://schemas.microsoft.com/office/drawing/2014/main" id="{73120C66-2156-96D3-11E9-EEE169939446}"/>
                  </a:ext>
                </a:extLst>
              </p:cNvPr>
              <p:cNvCxnSpPr/>
              <p:nvPr/>
            </p:nvCxnSpPr>
            <p:spPr>
              <a:xfrm>
                <a:off x="5473470" y="306705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Прямая соединительная линия 209">
                <a:extLst>
                  <a:ext uri="{FF2B5EF4-FFF2-40B4-BE49-F238E27FC236}">
                    <a16:creationId xmlns:a16="http://schemas.microsoft.com/office/drawing/2014/main" id="{47D781EB-C719-A39B-4F70-242B36FC27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340" y="358521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Прямая соединительная линия 210">
                <a:extLst>
                  <a:ext uri="{FF2B5EF4-FFF2-40B4-BE49-F238E27FC236}">
                    <a16:creationId xmlns:a16="http://schemas.microsoft.com/office/drawing/2014/main" id="{B93F670E-5CD5-BEAE-BF56-78A8E5B087D4}"/>
                  </a:ext>
                </a:extLst>
              </p:cNvPr>
              <p:cNvCxnSpPr/>
              <p:nvPr/>
            </p:nvCxnSpPr>
            <p:spPr>
              <a:xfrm>
                <a:off x="8073795" y="308168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Прямая соединительная линия 211">
                <a:extLst>
                  <a:ext uri="{FF2B5EF4-FFF2-40B4-BE49-F238E27FC236}">
                    <a16:creationId xmlns:a16="http://schemas.microsoft.com/office/drawing/2014/main" id="{3B8AE653-C4E0-5D01-7A0E-8162567156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76665" y="359984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Прямая соединительная линия 212">
                <a:extLst>
                  <a:ext uri="{FF2B5EF4-FFF2-40B4-BE49-F238E27FC236}">
                    <a16:creationId xmlns:a16="http://schemas.microsoft.com/office/drawing/2014/main" id="{39F0FF86-5B4B-2B77-EC8A-B5E4FB0E7303}"/>
                  </a:ext>
                </a:extLst>
              </p:cNvPr>
              <p:cNvCxnSpPr/>
              <p:nvPr/>
            </p:nvCxnSpPr>
            <p:spPr>
              <a:xfrm>
                <a:off x="10740795" y="309692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Прямая соединительная линия 213">
                <a:extLst>
                  <a:ext uri="{FF2B5EF4-FFF2-40B4-BE49-F238E27FC236}">
                    <a16:creationId xmlns:a16="http://schemas.microsoft.com/office/drawing/2014/main" id="{D349E032-A086-56FA-C187-F993805D07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43665" y="361508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Прямая соединительная линия 214">
                <a:extLst>
                  <a:ext uri="{FF2B5EF4-FFF2-40B4-BE49-F238E27FC236}">
                    <a16:creationId xmlns:a16="http://schemas.microsoft.com/office/drawing/2014/main" id="{1402A454-C2D6-01D1-EA98-2F338362452A}"/>
                  </a:ext>
                </a:extLst>
              </p:cNvPr>
              <p:cNvCxnSpPr/>
              <p:nvPr/>
            </p:nvCxnSpPr>
            <p:spPr>
              <a:xfrm>
                <a:off x="13268945" y="308930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Прямая соединительная линия 215">
                <a:extLst>
                  <a:ext uri="{FF2B5EF4-FFF2-40B4-BE49-F238E27FC236}">
                    <a16:creationId xmlns:a16="http://schemas.microsoft.com/office/drawing/2014/main" id="{22552C20-C599-F4E4-7E4B-879CA1EF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71815" y="360746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1B92304B-AC29-D314-CB12-30423E5607E8}"/>
                  </a:ext>
                </a:extLst>
              </p:cNvPr>
              <p:cNvSpPr txBox="1"/>
              <p:nvPr/>
            </p:nvSpPr>
            <p:spPr>
              <a:xfrm>
                <a:off x="549045" y="339187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1 неделя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9E8E7FB-9692-25E6-7A79-83008880E643}"/>
                  </a:ext>
                </a:extLst>
              </p:cNvPr>
              <p:cNvSpPr txBox="1"/>
              <p:nvPr/>
            </p:nvSpPr>
            <p:spPr>
              <a:xfrm>
                <a:off x="3478935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2 неделя</a:t>
                </a: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C41E01E0-643E-73BE-C1F8-1330583CB288}"/>
                  </a:ext>
                </a:extLst>
              </p:cNvPr>
              <p:cNvSpPr txBox="1"/>
              <p:nvPr/>
            </p:nvSpPr>
            <p:spPr>
              <a:xfrm>
                <a:off x="6013537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3 неделя</a:t>
                </a: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F096199B-6822-EEFB-5E73-12F3C2BAEE56}"/>
                  </a:ext>
                </a:extLst>
              </p:cNvPr>
              <p:cNvSpPr txBox="1"/>
              <p:nvPr/>
            </p:nvSpPr>
            <p:spPr>
              <a:xfrm>
                <a:off x="8677680" y="3391874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4 неделя</a:t>
                </a:r>
              </a:p>
            </p:txBody>
          </p:sp>
        </p:grp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BBF3815E-B668-976C-D2CB-7285C21A660D}"/>
                </a:ext>
              </a:extLst>
            </p:cNvPr>
            <p:cNvSpPr txBox="1"/>
            <p:nvPr/>
          </p:nvSpPr>
          <p:spPr>
            <a:xfrm>
              <a:off x="13821790" y="3394374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5 неделя</a:t>
              </a:r>
            </a:p>
          </p:txBody>
        </p:sp>
        <p:cxnSp>
          <p:nvCxnSpPr>
            <p:cNvPr id="188" name="Прямая соединительная линия 187">
              <a:extLst>
                <a:ext uri="{FF2B5EF4-FFF2-40B4-BE49-F238E27FC236}">
                  <a16:creationId xmlns:a16="http://schemas.microsoft.com/office/drawing/2014/main" id="{602A9154-2484-CB7C-E3C1-CFD4EDC52ED4}"/>
                </a:ext>
              </a:extLst>
            </p:cNvPr>
            <p:cNvCxnSpPr/>
            <p:nvPr/>
          </p:nvCxnSpPr>
          <p:spPr>
            <a:xfrm>
              <a:off x="15894724" y="3091808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Прямая соединительная линия 188">
              <a:extLst>
                <a:ext uri="{FF2B5EF4-FFF2-40B4-BE49-F238E27FC236}">
                  <a16:creationId xmlns:a16="http://schemas.microsoft.com/office/drawing/2014/main" id="{36FF59E7-115C-3CAF-4FAE-184C21F08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7594" y="3609968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Прямая соединительная линия 189">
              <a:extLst>
                <a:ext uri="{FF2B5EF4-FFF2-40B4-BE49-F238E27FC236}">
                  <a16:creationId xmlns:a16="http://schemas.microsoft.com/office/drawing/2014/main" id="{3277AD1C-A78A-B448-3F1E-11C98216C246}"/>
                </a:ext>
              </a:extLst>
            </p:cNvPr>
            <p:cNvCxnSpPr/>
            <p:nvPr/>
          </p:nvCxnSpPr>
          <p:spPr>
            <a:xfrm>
              <a:off x="15903287" y="3084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Прямая соединительная линия 190">
              <a:extLst>
                <a:ext uri="{FF2B5EF4-FFF2-40B4-BE49-F238E27FC236}">
                  <a16:creationId xmlns:a16="http://schemas.microsoft.com/office/drawing/2014/main" id="{CB7A4971-3CA4-808B-7FA4-59B55F83C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6157" y="3603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624B8D8-6F1C-3D35-3359-91902B30022F}"/>
                </a:ext>
              </a:extLst>
            </p:cNvPr>
            <p:cNvSpPr txBox="1"/>
            <p:nvPr/>
          </p:nvSpPr>
          <p:spPr>
            <a:xfrm>
              <a:off x="16456132" y="3390020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6 неделя</a:t>
              </a:r>
            </a:p>
          </p:txBody>
        </p:sp>
        <p:cxnSp>
          <p:nvCxnSpPr>
            <p:cNvPr id="193" name="Прямая соединительная линия 192">
              <a:extLst>
                <a:ext uri="{FF2B5EF4-FFF2-40B4-BE49-F238E27FC236}">
                  <a16:creationId xmlns:a16="http://schemas.microsoft.com/office/drawing/2014/main" id="{BCB96330-6FA3-2813-6A77-9718506BE579}"/>
                </a:ext>
              </a:extLst>
            </p:cNvPr>
            <p:cNvCxnSpPr/>
            <p:nvPr/>
          </p:nvCxnSpPr>
          <p:spPr>
            <a:xfrm>
              <a:off x="18529066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Прямая соединительная линия 193">
              <a:extLst>
                <a:ext uri="{FF2B5EF4-FFF2-40B4-BE49-F238E27FC236}">
                  <a16:creationId xmlns:a16="http://schemas.microsoft.com/office/drawing/2014/main" id="{999F498C-E615-2207-CC72-85DD767A8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36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Прямая соединительная линия 194">
              <a:extLst>
                <a:ext uri="{FF2B5EF4-FFF2-40B4-BE49-F238E27FC236}">
                  <a16:creationId xmlns:a16="http://schemas.microsoft.com/office/drawing/2014/main" id="{A7610D58-17B6-2FF6-35A5-17A1CE5B60DA}"/>
                </a:ext>
              </a:extLst>
            </p:cNvPr>
            <p:cNvCxnSpPr/>
            <p:nvPr/>
          </p:nvCxnSpPr>
          <p:spPr>
            <a:xfrm>
              <a:off x="18529059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Прямая соединительная линия 195">
              <a:extLst>
                <a:ext uri="{FF2B5EF4-FFF2-40B4-BE49-F238E27FC236}">
                  <a16:creationId xmlns:a16="http://schemas.microsoft.com/office/drawing/2014/main" id="{F4297437-71F8-5582-63C7-E09ACBA80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29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3B316B1-EB37-9F1E-93A9-DACBCEF19358}"/>
                </a:ext>
              </a:extLst>
            </p:cNvPr>
            <p:cNvSpPr txBox="1"/>
            <p:nvPr/>
          </p:nvSpPr>
          <p:spPr>
            <a:xfrm>
              <a:off x="19081904" y="3392520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7 неделя</a:t>
              </a:r>
            </a:p>
          </p:txBody>
        </p:sp>
        <p:cxnSp>
          <p:nvCxnSpPr>
            <p:cNvPr id="198" name="Прямая соединительная линия 197">
              <a:extLst>
                <a:ext uri="{FF2B5EF4-FFF2-40B4-BE49-F238E27FC236}">
                  <a16:creationId xmlns:a16="http://schemas.microsoft.com/office/drawing/2014/main" id="{FF4E8251-0D08-9DEA-E21A-4B737CAE6470}"/>
                </a:ext>
              </a:extLst>
            </p:cNvPr>
            <p:cNvCxnSpPr/>
            <p:nvPr/>
          </p:nvCxnSpPr>
          <p:spPr>
            <a:xfrm>
              <a:off x="21154838" y="3089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Прямая соединительная линия 198">
              <a:extLst>
                <a:ext uri="{FF2B5EF4-FFF2-40B4-BE49-F238E27FC236}">
                  <a16:creationId xmlns:a16="http://schemas.microsoft.com/office/drawing/2014/main" id="{89883F43-8D26-198E-FE33-D6411A1BB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7708" y="3608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Прямая соединительная линия 199">
              <a:extLst>
                <a:ext uri="{FF2B5EF4-FFF2-40B4-BE49-F238E27FC236}">
                  <a16:creationId xmlns:a16="http://schemas.microsoft.com/office/drawing/2014/main" id="{DF913334-9FD5-1665-775A-43CCF1490CC0}"/>
                </a:ext>
              </a:extLst>
            </p:cNvPr>
            <p:cNvCxnSpPr/>
            <p:nvPr/>
          </p:nvCxnSpPr>
          <p:spPr>
            <a:xfrm>
              <a:off x="21152349" y="30724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Прямая соединительная линия 200">
              <a:extLst>
                <a:ext uri="{FF2B5EF4-FFF2-40B4-BE49-F238E27FC236}">
                  <a16:creationId xmlns:a16="http://schemas.microsoft.com/office/drawing/2014/main" id="{DFEDCA94-8165-61AE-C9FA-31B1129223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5219" y="3590623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CB235863-CC54-B22C-0CF0-692E18CCAE5D}"/>
                </a:ext>
              </a:extLst>
            </p:cNvPr>
            <p:cNvSpPr txBox="1"/>
            <p:nvPr/>
          </p:nvSpPr>
          <p:spPr>
            <a:xfrm>
              <a:off x="21705194" y="3377529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8 неделя</a:t>
              </a:r>
            </a:p>
          </p:txBody>
        </p:sp>
        <p:cxnSp>
          <p:nvCxnSpPr>
            <p:cNvPr id="203" name="Прямая соединительная линия 202">
              <a:extLst>
                <a:ext uri="{FF2B5EF4-FFF2-40B4-BE49-F238E27FC236}">
                  <a16:creationId xmlns:a16="http://schemas.microsoft.com/office/drawing/2014/main" id="{73A9FF99-0F77-0A2E-1FBD-1D3A504D2035}"/>
                </a:ext>
              </a:extLst>
            </p:cNvPr>
            <p:cNvCxnSpPr/>
            <p:nvPr/>
          </p:nvCxnSpPr>
          <p:spPr>
            <a:xfrm>
              <a:off x="23778128" y="30749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Прямая соединительная линия 203">
              <a:extLst>
                <a:ext uri="{FF2B5EF4-FFF2-40B4-BE49-F238E27FC236}">
                  <a16:creationId xmlns:a16="http://schemas.microsoft.com/office/drawing/2014/main" id="{0375AD5E-828A-1577-3297-CBCC63837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4318" y="3593123"/>
              <a:ext cx="441960" cy="585559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Равнобедренный треугольник 204">
              <a:extLst>
                <a:ext uri="{FF2B5EF4-FFF2-40B4-BE49-F238E27FC236}">
                  <a16:creationId xmlns:a16="http://schemas.microsoft.com/office/drawing/2014/main" id="{56105BF2-0993-5A8E-8F0E-38175142BEF0}"/>
                </a:ext>
              </a:extLst>
            </p:cNvPr>
            <p:cNvSpPr/>
            <p:nvPr/>
          </p:nvSpPr>
          <p:spPr>
            <a:xfrm rot="5400000">
              <a:off x="23450006" y="3405997"/>
              <a:ext cx="1052481" cy="434341"/>
            </a:xfrm>
            <a:prstGeom prst="triangle">
              <a:avLst/>
            </a:prstGeom>
            <a:solidFill>
              <a:srgbClr val="414141"/>
            </a:solidFill>
            <a:ln>
              <a:solidFill>
                <a:srgbClr val="414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1" name="Прямоугольник 220">
            <a:extLst>
              <a:ext uri="{FF2B5EF4-FFF2-40B4-BE49-F238E27FC236}">
                <a16:creationId xmlns:a16="http://schemas.microsoft.com/office/drawing/2014/main" id="{899914F3-79FE-B3CD-279C-8FB341B735A2}"/>
              </a:ext>
            </a:extLst>
          </p:cNvPr>
          <p:cNvSpPr/>
          <p:nvPr/>
        </p:nvSpPr>
        <p:spPr>
          <a:xfrm>
            <a:off x="12210433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22" name="Picture 2">
            <a:extLst>
              <a:ext uri="{FF2B5EF4-FFF2-40B4-BE49-F238E27FC236}">
                <a16:creationId xmlns:a16="http://schemas.microsoft.com/office/drawing/2014/main" id="{6B217972-720B-06B7-3A3C-F51ADFE3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2704">
            <a:off x="9455964" y="6956299"/>
            <a:ext cx="938858" cy="97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Picture 10">
            <a:extLst>
              <a:ext uri="{FF2B5EF4-FFF2-40B4-BE49-F238E27FC236}">
                <a16:creationId xmlns:a16="http://schemas.microsoft.com/office/drawing/2014/main" id="{26B31804-3842-F9C8-D5AE-0DED977B3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237">
            <a:off x="1531078" y="10259099"/>
            <a:ext cx="1016376" cy="96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205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1CA41-8CDD-9CBB-10BB-C23E34242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B20DC-19F9-5315-5ECB-972DB13B1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94F7E8EB-1138-59BF-D508-3A83A786F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6366CF3-839D-2ED9-2DC2-7D854F8827F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1" y="0"/>
            <a:chExt cx="12192000" cy="68580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9D29DE5-486E-709C-836B-E72CA331F1E2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B5568231-F5A7-BC3E-CCF4-1D61744BD6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665B53-E0EB-BFE6-4A62-E74C48C28CF5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AC1E0B7A-4D40-FEBC-9E03-09CCE17A40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8853D31-02CD-14A6-DB38-58AFFC548360}"/>
              </a:ext>
            </a:extLst>
          </p:cNvPr>
          <p:cNvSpPr txBox="1"/>
          <p:nvPr/>
        </p:nvSpPr>
        <p:spPr>
          <a:xfrm>
            <a:off x="3652653" y="1312621"/>
            <a:ext cx="502502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Дорожная </a:t>
            </a:r>
            <a:r>
              <a:rPr lang="ru-RU" sz="4000" dirty="0">
                <a:solidFill>
                  <a:srgbClr val="DBDBDB"/>
                </a:solidFill>
                <a:latin typeface="Arial Black" panose="020B0A04020102020204" pitchFamily="34" charset="0"/>
              </a:rPr>
              <a:t>карта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29361-34DA-6908-B3A0-1CE564084CD2}"/>
              </a:ext>
            </a:extLst>
          </p:cNvPr>
          <p:cNvSpPr txBox="1"/>
          <p:nvPr/>
        </p:nvSpPr>
        <p:spPr>
          <a:xfrm>
            <a:off x="-114796" y="1881311"/>
            <a:ext cx="2836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DBDBDB"/>
                </a:solidFill>
                <a:latin typeface="Arial Black" panose="020B0A04020102020204" pitchFamily="34" charset="0"/>
              </a:rPr>
              <a:t>Поиск нужных библиотек и сайтов с проверенной информацией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719376-15E3-E664-9411-301DBDACA4E4}"/>
              </a:ext>
            </a:extLst>
          </p:cNvPr>
          <p:cNvSpPr txBox="1"/>
          <p:nvPr/>
        </p:nvSpPr>
        <p:spPr>
          <a:xfrm>
            <a:off x="2878646" y="4299095"/>
            <a:ext cx="23553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ABC7F3"/>
                </a:solidFill>
                <a:effectLst/>
                <a:latin typeface="Arial Black" panose="020B0A04020102020204" pitchFamily="34" charset="0"/>
              </a:rPr>
              <a:t>Реализация функции по запросу статьи от пользователя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B3CAE3-73DF-4A25-E913-DE98CD798659}"/>
              </a:ext>
            </a:extLst>
          </p:cNvPr>
          <p:cNvSpPr txBox="1"/>
          <p:nvPr/>
        </p:nvSpPr>
        <p:spPr>
          <a:xfrm>
            <a:off x="5367957" y="2081989"/>
            <a:ext cx="28361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Добавление </a:t>
            </a:r>
            <a:r>
              <a:rPr lang="en-US" b="1" dirty="0">
                <a:solidFill>
                  <a:srgbClr val="DBDBDB"/>
                </a:solidFill>
                <a:latin typeface="Arial Black" panose="020B0A04020102020204" pitchFamily="34" charset="0"/>
              </a:rPr>
              <a:t>“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фильтра запросов</a:t>
            </a:r>
            <a:r>
              <a:rPr lang="en-US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”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 и базовых</a:t>
            </a:r>
            <a:r>
              <a:rPr lang="ru-RU" b="1" dirty="0">
                <a:solidFill>
                  <a:srgbClr val="DBDBDB"/>
                </a:solidFill>
                <a:latin typeface="Arial Black" panose="020B0A04020102020204" pitchFamily="34" charset="0"/>
              </a:rPr>
              <a:t> случаев</a:t>
            </a:r>
            <a:endParaRPr lang="ru-RU" b="1" i="0" dirty="0">
              <a:solidFill>
                <a:srgbClr val="DBDBDB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393B1-36CF-BCA1-C757-CF22A98FAE98}"/>
              </a:ext>
            </a:extLst>
          </p:cNvPr>
          <p:cNvSpPr txBox="1"/>
          <p:nvPr/>
        </p:nvSpPr>
        <p:spPr>
          <a:xfrm>
            <a:off x="7675883" y="4347914"/>
            <a:ext cx="31553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ABC7F3"/>
                </a:solidFill>
                <a:latin typeface="Arial Black" panose="020B0A04020102020204" pitchFamily="34" charset="0"/>
              </a:rPr>
              <a:t>Разработать структуру для парсинга и скачивания текста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D184CD-3FD7-2C41-1054-B1953E12D1AA}"/>
              </a:ext>
            </a:extLst>
          </p:cNvPr>
          <p:cNvSpPr txBox="1"/>
          <p:nvPr/>
        </p:nvSpPr>
        <p:spPr>
          <a:xfrm>
            <a:off x="1572220" y="3046692"/>
            <a:ext cx="30725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DBDBDB"/>
                </a:solidFill>
                <a:latin typeface="Arial Black" panose="020B0A04020102020204" pitchFamily="34" charset="0"/>
              </a:rPr>
              <a:t>Реализация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 части кода отвечающую за математическое сравнение текстов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456F5-C479-C870-7C74-4F25824486BC}"/>
              </a:ext>
            </a:extLst>
          </p:cNvPr>
          <p:cNvSpPr txBox="1"/>
          <p:nvPr/>
        </p:nvSpPr>
        <p:spPr>
          <a:xfrm>
            <a:off x="6444930" y="3014324"/>
            <a:ext cx="3125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Тесты прототипа проекта на дееспособность и исправную работу</a:t>
            </a:r>
            <a:endParaRPr lang="ru-RU" dirty="0">
              <a:solidFill>
                <a:srgbClr val="DBDBDB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5C9643-658A-6089-4792-9FB0A0B118F6}"/>
              </a:ext>
            </a:extLst>
          </p:cNvPr>
          <p:cNvSpPr txBox="1"/>
          <p:nvPr/>
        </p:nvSpPr>
        <p:spPr>
          <a:xfrm>
            <a:off x="9322783" y="3038983"/>
            <a:ext cx="2769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ABC7F3"/>
                </a:solidFill>
                <a:effectLst/>
                <a:latin typeface="Arial Black" panose="020B0A04020102020204" pitchFamily="34" charset="0"/>
              </a:rPr>
              <a:t>Сделать интерфейс для более красивого ввода текста и вывода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DDE692-BFD6-BBFA-2CB6-D9CB4F457C65}"/>
              </a:ext>
            </a:extLst>
          </p:cNvPr>
          <p:cNvSpPr txBox="1"/>
          <p:nvPr/>
        </p:nvSpPr>
        <p:spPr>
          <a:xfrm>
            <a:off x="4452062" y="3067050"/>
            <a:ext cx="2495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Размышление о</a:t>
            </a:r>
          </a:p>
          <a:p>
            <a:pPr algn="ctr"/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новых функциях и идеях для проекта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8FCFDAB-A05D-67C6-4367-C175A4B872A9}"/>
              </a:ext>
            </a:extLst>
          </p:cNvPr>
          <p:cNvGrpSpPr/>
          <p:nvPr/>
        </p:nvGrpSpPr>
        <p:grpSpPr>
          <a:xfrm>
            <a:off x="16077" y="3067050"/>
            <a:ext cx="24217778" cy="1226812"/>
            <a:chOff x="-1500" y="3067050"/>
            <a:chExt cx="24217778" cy="1141510"/>
          </a:xfrm>
        </p:grpSpPr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AD392341-7556-F5F0-EADF-DB3185AD8E3C}"/>
                </a:ext>
              </a:extLst>
            </p:cNvPr>
            <p:cNvGrpSpPr/>
            <p:nvPr/>
          </p:nvGrpSpPr>
          <p:grpSpPr>
            <a:xfrm>
              <a:off x="-1500" y="3067050"/>
              <a:ext cx="23775818" cy="1141510"/>
              <a:chOff x="-1500" y="3067050"/>
              <a:chExt cx="23775818" cy="1141510"/>
            </a:xfrm>
          </p:grpSpPr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B578C4AA-3EAB-9793-407A-B542257407D2}"/>
                  </a:ext>
                </a:extLst>
              </p:cNvPr>
              <p:cNvSpPr/>
              <p:nvPr/>
            </p:nvSpPr>
            <p:spPr>
              <a:xfrm>
                <a:off x="-1500" y="3074670"/>
                <a:ext cx="23775818" cy="1111632"/>
              </a:xfrm>
              <a:prstGeom prst="rect">
                <a:avLst/>
              </a:prstGeom>
              <a:solidFill>
                <a:srgbClr val="414141"/>
              </a:solidFill>
              <a:ln w="38100">
                <a:solidFill>
                  <a:srgbClr val="ABC7F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42" name="Прямая соединительная линия 41">
                <a:extLst>
                  <a:ext uri="{FF2B5EF4-FFF2-40B4-BE49-F238E27FC236}">
                    <a16:creationId xmlns:a16="http://schemas.microsoft.com/office/drawing/2014/main" id="{98358837-3F1F-FC17-7D4F-83993BA62255}"/>
                  </a:ext>
                </a:extLst>
              </p:cNvPr>
              <p:cNvCxnSpPr/>
              <p:nvPr/>
            </p:nvCxnSpPr>
            <p:spPr>
              <a:xfrm>
                <a:off x="2593110" y="307467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Прямая соединительная линия 42">
                <a:extLst>
                  <a:ext uri="{FF2B5EF4-FFF2-40B4-BE49-F238E27FC236}">
                    <a16:creationId xmlns:a16="http://schemas.microsoft.com/office/drawing/2014/main" id="{13C4B90F-4AC5-B99E-4D38-A4CDE1E744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5980" y="359283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Прямая соединительная линия 43">
                <a:extLst>
                  <a:ext uri="{FF2B5EF4-FFF2-40B4-BE49-F238E27FC236}">
                    <a16:creationId xmlns:a16="http://schemas.microsoft.com/office/drawing/2014/main" id="{CB2C1B8D-3DF3-6E34-8F8B-67B34172D814}"/>
                  </a:ext>
                </a:extLst>
              </p:cNvPr>
              <p:cNvCxnSpPr/>
              <p:nvPr/>
            </p:nvCxnSpPr>
            <p:spPr>
              <a:xfrm>
                <a:off x="5473470" y="306705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единительная линия 44">
                <a:extLst>
                  <a:ext uri="{FF2B5EF4-FFF2-40B4-BE49-F238E27FC236}">
                    <a16:creationId xmlns:a16="http://schemas.microsoft.com/office/drawing/2014/main" id="{3B2AD9EB-5FE4-556F-157B-0BB580241D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340" y="358521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>
                <a:extLst>
                  <a:ext uri="{FF2B5EF4-FFF2-40B4-BE49-F238E27FC236}">
                    <a16:creationId xmlns:a16="http://schemas.microsoft.com/office/drawing/2014/main" id="{45E0CC7C-D984-87E5-67F4-DD89E7642D2F}"/>
                  </a:ext>
                </a:extLst>
              </p:cNvPr>
              <p:cNvCxnSpPr/>
              <p:nvPr/>
            </p:nvCxnSpPr>
            <p:spPr>
              <a:xfrm>
                <a:off x="8073795" y="308168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3280EC1D-A0E7-1569-0B0D-640993871F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76665" y="359984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>
                <a:extLst>
                  <a:ext uri="{FF2B5EF4-FFF2-40B4-BE49-F238E27FC236}">
                    <a16:creationId xmlns:a16="http://schemas.microsoft.com/office/drawing/2014/main" id="{72F40251-6D22-E623-5B20-98080BCFDDCE}"/>
                  </a:ext>
                </a:extLst>
              </p:cNvPr>
              <p:cNvCxnSpPr/>
              <p:nvPr/>
            </p:nvCxnSpPr>
            <p:spPr>
              <a:xfrm>
                <a:off x="10740795" y="309692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>
                <a:extLst>
                  <a:ext uri="{FF2B5EF4-FFF2-40B4-BE49-F238E27FC236}">
                    <a16:creationId xmlns:a16="http://schemas.microsoft.com/office/drawing/2014/main" id="{DCB0E160-9C82-46AE-F4D4-ABA8ECEF3F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43665" y="361508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>
                <a:extLst>
                  <a:ext uri="{FF2B5EF4-FFF2-40B4-BE49-F238E27FC236}">
                    <a16:creationId xmlns:a16="http://schemas.microsoft.com/office/drawing/2014/main" id="{F620BE2A-4729-9284-F634-3DE0EA5B9DBD}"/>
                  </a:ext>
                </a:extLst>
              </p:cNvPr>
              <p:cNvCxnSpPr/>
              <p:nvPr/>
            </p:nvCxnSpPr>
            <p:spPr>
              <a:xfrm>
                <a:off x="13268945" y="308930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FA1D2586-8BA9-8D91-7A21-CB32CBA7D3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71815" y="360746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89C66DE-4B7C-F6E3-0D40-F0E6D79ABA30}"/>
                  </a:ext>
                </a:extLst>
              </p:cNvPr>
              <p:cNvSpPr txBox="1"/>
              <p:nvPr/>
            </p:nvSpPr>
            <p:spPr>
              <a:xfrm>
                <a:off x="549045" y="339187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1 неделя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2CC3764-BBA0-6162-2F60-8C336B82D91F}"/>
                  </a:ext>
                </a:extLst>
              </p:cNvPr>
              <p:cNvSpPr txBox="1"/>
              <p:nvPr/>
            </p:nvSpPr>
            <p:spPr>
              <a:xfrm>
                <a:off x="3478935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2 неделя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B068F0F-D6EC-129E-0C27-4B48895F62C2}"/>
                  </a:ext>
                </a:extLst>
              </p:cNvPr>
              <p:cNvSpPr txBox="1"/>
              <p:nvPr/>
            </p:nvSpPr>
            <p:spPr>
              <a:xfrm>
                <a:off x="6013537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3 неделя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E0EF31-7816-05BA-A22F-B776FC3E3942}"/>
                  </a:ext>
                </a:extLst>
              </p:cNvPr>
              <p:cNvSpPr txBox="1"/>
              <p:nvPr/>
            </p:nvSpPr>
            <p:spPr>
              <a:xfrm>
                <a:off x="8677680" y="3391874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4 неделя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C8310E-32EA-B91B-DE0F-1ED5414CB3F6}"/>
                </a:ext>
              </a:extLst>
            </p:cNvPr>
            <p:cNvSpPr txBox="1"/>
            <p:nvPr/>
          </p:nvSpPr>
          <p:spPr>
            <a:xfrm>
              <a:off x="13821790" y="3394374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5 неделя</a:t>
              </a:r>
            </a:p>
          </p:txBody>
        </p: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04DD926F-2D31-24CA-727A-D4C275EC3179}"/>
                </a:ext>
              </a:extLst>
            </p:cNvPr>
            <p:cNvCxnSpPr/>
            <p:nvPr/>
          </p:nvCxnSpPr>
          <p:spPr>
            <a:xfrm>
              <a:off x="15894724" y="3091808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4EE4297C-7F75-0D33-655F-6D0D88E5C0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7594" y="3609968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C6C0D3FA-0040-07EE-6408-C7109779DC48}"/>
                </a:ext>
              </a:extLst>
            </p:cNvPr>
            <p:cNvCxnSpPr/>
            <p:nvPr/>
          </p:nvCxnSpPr>
          <p:spPr>
            <a:xfrm>
              <a:off x="15903287" y="3084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55DA3DAE-77FA-0A3A-ED72-B68BAD236B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6157" y="3603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69517D2-5A22-A101-21F7-79F6E694BEF7}"/>
                </a:ext>
              </a:extLst>
            </p:cNvPr>
            <p:cNvSpPr txBox="1"/>
            <p:nvPr/>
          </p:nvSpPr>
          <p:spPr>
            <a:xfrm>
              <a:off x="16456132" y="3390020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6 неделя</a:t>
              </a: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E9D952BD-2DE2-4C76-03BC-5A0E49520C53}"/>
                </a:ext>
              </a:extLst>
            </p:cNvPr>
            <p:cNvCxnSpPr/>
            <p:nvPr/>
          </p:nvCxnSpPr>
          <p:spPr>
            <a:xfrm>
              <a:off x="18529066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EE6A15DF-D6DF-7507-2C62-E7B392B1F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36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4C213B9C-ACE3-2ACB-2B8D-71FE5A734F35}"/>
                </a:ext>
              </a:extLst>
            </p:cNvPr>
            <p:cNvCxnSpPr/>
            <p:nvPr/>
          </p:nvCxnSpPr>
          <p:spPr>
            <a:xfrm>
              <a:off x="18529059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CDF2266A-B750-352F-5E00-E8D17D744A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29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99AF96E-DDBA-F29B-25E8-826326671087}"/>
                </a:ext>
              </a:extLst>
            </p:cNvPr>
            <p:cNvSpPr txBox="1"/>
            <p:nvPr/>
          </p:nvSpPr>
          <p:spPr>
            <a:xfrm>
              <a:off x="19081904" y="3392520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7 неделя</a:t>
              </a:r>
            </a:p>
          </p:txBody>
        </p: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26178144-AD58-5ADB-CB47-ABD3EFD4ACDF}"/>
                </a:ext>
              </a:extLst>
            </p:cNvPr>
            <p:cNvCxnSpPr/>
            <p:nvPr/>
          </p:nvCxnSpPr>
          <p:spPr>
            <a:xfrm>
              <a:off x="21154838" y="3089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A901EAE7-0343-84AA-7870-584D9821C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7708" y="3608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2563A47C-679F-0224-4744-8190AFACDA08}"/>
                </a:ext>
              </a:extLst>
            </p:cNvPr>
            <p:cNvCxnSpPr/>
            <p:nvPr/>
          </p:nvCxnSpPr>
          <p:spPr>
            <a:xfrm>
              <a:off x="21152349" y="30724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B1869F0C-A6B7-1301-D1C4-818850184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5219" y="3590623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55378F-6122-3557-83DE-4294BC7B324F}"/>
                </a:ext>
              </a:extLst>
            </p:cNvPr>
            <p:cNvSpPr txBox="1"/>
            <p:nvPr/>
          </p:nvSpPr>
          <p:spPr>
            <a:xfrm>
              <a:off x="21705194" y="3377529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8 неделя</a:t>
              </a:r>
            </a:p>
          </p:txBody>
        </p: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5A58BA0A-91E9-B085-62E9-DFA7BE4BF6CB}"/>
                </a:ext>
              </a:extLst>
            </p:cNvPr>
            <p:cNvCxnSpPr/>
            <p:nvPr/>
          </p:nvCxnSpPr>
          <p:spPr>
            <a:xfrm>
              <a:off x="23778128" y="30749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52B7614E-E928-E408-D6C7-BB0256FE1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4318" y="3593123"/>
              <a:ext cx="441960" cy="585559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Равнобедренный треугольник 39">
              <a:extLst>
                <a:ext uri="{FF2B5EF4-FFF2-40B4-BE49-F238E27FC236}">
                  <a16:creationId xmlns:a16="http://schemas.microsoft.com/office/drawing/2014/main" id="{292FB7A0-2750-29CD-76B0-C637C392989C}"/>
                </a:ext>
              </a:extLst>
            </p:cNvPr>
            <p:cNvSpPr/>
            <p:nvPr/>
          </p:nvSpPr>
          <p:spPr>
            <a:xfrm rot="5400000">
              <a:off x="23450006" y="3405997"/>
              <a:ext cx="1052481" cy="434341"/>
            </a:xfrm>
            <a:prstGeom prst="triangle">
              <a:avLst/>
            </a:prstGeom>
            <a:solidFill>
              <a:srgbClr val="414141"/>
            </a:solidFill>
            <a:ln>
              <a:solidFill>
                <a:srgbClr val="414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93642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E3E1276C-902D-5524-DBB4-D1FBDB8F3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3A6CBF1-D255-6CBE-0313-066F27DB09B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1" y="0"/>
            <a:chExt cx="12192000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27C1871-6FAC-B47A-92B4-F641846B967E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C730F4E1-B437-4965-68C9-CB86E8A53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18A511-FF64-D4B9-DBBC-F950475F3C1D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8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6BF5CF90-07EC-1448-D3AF-945232A813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8E21963A-E764-C048-EFFE-4F52EB539EA2}"/>
              </a:ext>
            </a:extLst>
          </p:cNvPr>
          <p:cNvSpPr txBox="1"/>
          <p:nvPr/>
        </p:nvSpPr>
        <p:spPr>
          <a:xfrm>
            <a:off x="3652653" y="1312621"/>
            <a:ext cx="502502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Дорожная </a:t>
            </a:r>
            <a:r>
              <a:rPr lang="ru-RU" sz="4000" dirty="0">
                <a:solidFill>
                  <a:srgbClr val="DBDBDB"/>
                </a:solidFill>
                <a:latin typeface="Arial Black" panose="020B0A04020102020204" pitchFamily="34" charset="0"/>
              </a:rPr>
              <a:t>карта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7AB87FB-8BC7-5FD6-46C3-F0790653733E}"/>
              </a:ext>
            </a:extLst>
          </p:cNvPr>
          <p:cNvSpPr txBox="1"/>
          <p:nvPr/>
        </p:nvSpPr>
        <p:spPr>
          <a:xfrm>
            <a:off x="-12019574" y="1881311"/>
            <a:ext cx="2836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DBDBDB"/>
                </a:solidFill>
                <a:latin typeface="Arial Black" panose="020B0A04020102020204" pitchFamily="34" charset="0"/>
              </a:rPr>
              <a:t>Поиск нужных библиотек и сайтов с проверенной информацией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CEFDB1F-D106-7EC1-C388-54667898221E}"/>
              </a:ext>
            </a:extLst>
          </p:cNvPr>
          <p:cNvSpPr txBox="1"/>
          <p:nvPr/>
        </p:nvSpPr>
        <p:spPr>
          <a:xfrm>
            <a:off x="-8815119" y="4299095"/>
            <a:ext cx="23553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ABC7F3"/>
                </a:solidFill>
                <a:effectLst/>
                <a:latin typeface="Arial Black" panose="020B0A04020102020204" pitchFamily="34" charset="0"/>
              </a:rPr>
              <a:t>Реализация функции по запросу статьи от пользователя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5D9CFF1-9437-E5CB-D5BE-0F262CF0BBC3}"/>
              </a:ext>
            </a:extLst>
          </p:cNvPr>
          <p:cNvSpPr txBox="1"/>
          <p:nvPr/>
        </p:nvSpPr>
        <p:spPr>
          <a:xfrm>
            <a:off x="-6536821" y="2081989"/>
            <a:ext cx="28361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Добавление </a:t>
            </a:r>
            <a:r>
              <a:rPr lang="en-US" b="1" dirty="0">
                <a:solidFill>
                  <a:srgbClr val="DBDBDB"/>
                </a:solidFill>
                <a:latin typeface="Arial Black" panose="020B0A04020102020204" pitchFamily="34" charset="0"/>
              </a:rPr>
              <a:t>“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фильтра запросов</a:t>
            </a:r>
            <a:r>
              <a:rPr lang="en-US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”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 и базовых</a:t>
            </a:r>
            <a:r>
              <a:rPr lang="ru-RU" b="1" dirty="0">
                <a:solidFill>
                  <a:srgbClr val="DBDBDB"/>
                </a:solidFill>
                <a:latin typeface="Arial Black" panose="020B0A04020102020204" pitchFamily="34" charset="0"/>
              </a:rPr>
              <a:t> случаев</a:t>
            </a:r>
            <a:endParaRPr lang="ru-RU" b="1" i="0" dirty="0">
              <a:solidFill>
                <a:srgbClr val="DBDBDB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1EE551B-ACD6-638E-89A8-DE68578F2DD0}"/>
              </a:ext>
            </a:extLst>
          </p:cNvPr>
          <p:cNvSpPr txBox="1"/>
          <p:nvPr/>
        </p:nvSpPr>
        <p:spPr>
          <a:xfrm>
            <a:off x="-4017882" y="4347914"/>
            <a:ext cx="31553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ABC7F3"/>
                </a:solidFill>
                <a:latin typeface="Arial Black" panose="020B0A04020102020204" pitchFamily="34" charset="0"/>
              </a:rPr>
              <a:t>Разработать структуру для парсинга и скачивания текста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C2EA7C8-C014-C6A9-581D-10721B448B1C}"/>
              </a:ext>
            </a:extLst>
          </p:cNvPr>
          <p:cNvSpPr txBox="1"/>
          <p:nvPr/>
        </p:nvSpPr>
        <p:spPr>
          <a:xfrm>
            <a:off x="1572220" y="3046692"/>
            <a:ext cx="30725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DBDBDB"/>
                </a:solidFill>
                <a:latin typeface="Arial Black" panose="020B0A04020102020204" pitchFamily="34" charset="0"/>
              </a:rPr>
              <a:t>Реализация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 части кода отвечающую за математическое сравнение текстов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D1B1EE9-FAA3-C871-B7FD-9A8B941E8F29}"/>
              </a:ext>
            </a:extLst>
          </p:cNvPr>
          <p:cNvSpPr txBox="1"/>
          <p:nvPr/>
        </p:nvSpPr>
        <p:spPr>
          <a:xfrm>
            <a:off x="6444930" y="3014324"/>
            <a:ext cx="3125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Тесты прототипа проекта на дееспособность и исправную работу</a:t>
            </a:r>
            <a:endParaRPr lang="ru-RU" dirty="0">
              <a:solidFill>
                <a:srgbClr val="DBDBDB"/>
              </a:solidFill>
              <a:latin typeface="Arial Black" panose="020B0A040201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D5C57C1-CF12-700F-A65D-A3A25E5AE46E}"/>
              </a:ext>
            </a:extLst>
          </p:cNvPr>
          <p:cNvSpPr txBox="1"/>
          <p:nvPr/>
        </p:nvSpPr>
        <p:spPr>
          <a:xfrm>
            <a:off x="9322783" y="3038983"/>
            <a:ext cx="2769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ABC7F3"/>
                </a:solidFill>
                <a:effectLst/>
                <a:latin typeface="Arial Black" panose="020B0A04020102020204" pitchFamily="34" charset="0"/>
              </a:rPr>
              <a:t>Сделать интерфейс для более красивого ввода текста и вывода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B246F35-4920-E2EB-E9E6-1CB17CEE5460}"/>
              </a:ext>
            </a:extLst>
          </p:cNvPr>
          <p:cNvSpPr txBox="1"/>
          <p:nvPr/>
        </p:nvSpPr>
        <p:spPr>
          <a:xfrm>
            <a:off x="4452062" y="3067050"/>
            <a:ext cx="2495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Размышление о</a:t>
            </a:r>
          </a:p>
          <a:p>
            <a:pPr algn="ctr"/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новых функциях и идеях для проекта</a:t>
            </a: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24E39EB-388B-23D3-670A-5C938768ADC6}"/>
              </a:ext>
            </a:extLst>
          </p:cNvPr>
          <p:cNvGrpSpPr/>
          <p:nvPr/>
        </p:nvGrpSpPr>
        <p:grpSpPr>
          <a:xfrm>
            <a:off x="-12011791" y="3067050"/>
            <a:ext cx="24217778" cy="1226812"/>
            <a:chOff x="-1500" y="3067050"/>
            <a:chExt cx="24217778" cy="1141510"/>
          </a:xfrm>
        </p:grpSpPr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7B70695B-2E38-05AA-266E-634471211FC7}"/>
                </a:ext>
              </a:extLst>
            </p:cNvPr>
            <p:cNvGrpSpPr/>
            <p:nvPr/>
          </p:nvGrpSpPr>
          <p:grpSpPr>
            <a:xfrm>
              <a:off x="-1500" y="3067050"/>
              <a:ext cx="23775818" cy="1141510"/>
              <a:chOff x="-1500" y="3067050"/>
              <a:chExt cx="23775818" cy="1141510"/>
            </a:xfrm>
          </p:grpSpPr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DEE69572-9B5C-4F51-809E-2D7ED684D65D}"/>
                  </a:ext>
                </a:extLst>
              </p:cNvPr>
              <p:cNvSpPr/>
              <p:nvPr/>
            </p:nvSpPr>
            <p:spPr>
              <a:xfrm>
                <a:off x="-1500" y="3074670"/>
                <a:ext cx="23775818" cy="1111632"/>
              </a:xfrm>
              <a:prstGeom prst="rect">
                <a:avLst/>
              </a:prstGeom>
              <a:solidFill>
                <a:srgbClr val="414141"/>
              </a:solidFill>
              <a:ln w="38100">
                <a:solidFill>
                  <a:srgbClr val="ABC7F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67" name="Прямая соединительная линия 66">
                <a:extLst>
                  <a:ext uri="{FF2B5EF4-FFF2-40B4-BE49-F238E27FC236}">
                    <a16:creationId xmlns:a16="http://schemas.microsoft.com/office/drawing/2014/main" id="{91F3F9BA-8697-62C9-4B5A-45D1C27712D0}"/>
                  </a:ext>
                </a:extLst>
              </p:cNvPr>
              <p:cNvCxnSpPr/>
              <p:nvPr/>
            </p:nvCxnSpPr>
            <p:spPr>
              <a:xfrm>
                <a:off x="2593110" y="307467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Прямая соединительная линия 67">
                <a:extLst>
                  <a:ext uri="{FF2B5EF4-FFF2-40B4-BE49-F238E27FC236}">
                    <a16:creationId xmlns:a16="http://schemas.microsoft.com/office/drawing/2014/main" id="{E788B878-E652-8AC7-F0F4-A4627FA8AF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5980" y="359283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Прямая соединительная линия 68">
                <a:extLst>
                  <a:ext uri="{FF2B5EF4-FFF2-40B4-BE49-F238E27FC236}">
                    <a16:creationId xmlns:a16="http://schemas.microsoft.com/office/drawing/2014/main" id="{8155DFA9-3C2D-44A1-802F-A13FE612DCCE}"/>
                  </a:ext>
                </a:extLst>
              </p:cNvPr>
              <p:cNvCxnSpPr/>
              <p:nvPr/>
            </p:nvCxnSpPr>
            <p:spPr>
              <a:xfrm>
                <a:off x="5473470" y="306705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Прямая соединительная линия 69">
                <a:extLst>
                  <a:ext uri="{FF2B5EF4-FFF2-40B4-BE49-F238E27FC236}">
                    <a16:creationId xmlns:a16="http://schemas.microsoft.com/office/drawing/2014/main" id="{F00D7A62-0C70-B1A1-5809-7BC5C5466E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340" y="358521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Прямая соединительная линия 70">
                <a:extLst>
                  <a:ext uri="{FF2B5EF4-FFF2-40B4-BE49-F238E27FC236}">
                    <a16:creationId xmlns:a16="http://schemas.microsoft.com/office/drawing/2014/main" id="{61A93FD0-2D45-34AC-E04B-AF24AFD1BC7E}"/>
                  </a:ext>
                </a:extLst>
              </p:cNvPr>
              <p:cNvCxnSpPr/>
              <p:nvPr/>
            </p:nvCxnSpPr>
            <p:spPr>
              <a:xfrm>
                <a:off x="8073795" y="308168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Прямая соединительная линия 71">
                <a:extLst>
                  <a:ext uri="{FF2B5EF4-FFF2-40B4-BE49-F238E27FC236}">
                    <a16:creationId xmlns:a16="http://schemas.microsoft.com/office/drawing/2014/main" id="{6E060A69-15F0-CCC7-B798-3239BE9C0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76665" y="359984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Прямая соединительная линия 72">
                <a:extLst>
                  <a:ext uri="{FF2B5EF4-FFF2-40B4-BE49-F238E27FC236}">
                    <a16:creationId xmlns:a16="http://schemas.microsoft.com/office/drawing/2014/main" id="{2BCE960C-0555-87B9-C37B-90B16F4B70C7}"/>
                  </a:ext>
                </a:extLst>
              </p:cNvPr>
              <p:cNvCxnSpPr/>
              <p:nvPr/>
            </p:nvCxnSpPr>
            <p:spPr>
              <a:xfrm>
                <a:off x="10740795" y="309692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Прямая соединительная линия 73">
                <a:extLst>
                  <a:ext uri="{FF2B5EF4-FFF2-40B4-BE49-F238E27FC236}">
                    <a16:creationId xmlns:a16="http://schemas.microsoft.com/office/drawing/2014/main" id="{124D7E89-FD69-A833-62E4-E831F0272B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43665" y="361508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Прямая соединительная линия 74">
                <a:extLst>
                  <a:ext uri="{FF2B5EF4-FFF2-40B4-BE49-F238E27FC236}">
                    <a16:creationId xmlns:a16="http://schemas.microsoft.com/office/drawing/2014/main" id="{FF6CE248-73D8-4840-D1A0-76F5231CDA09}"/>
                  </a:ext>
                </a:extLst>
              </p:cNvPr>
              <p:cNvCxnSpPr/>
              <p:nvPr/>
            </p:nvCxnSpPr>
            <p:spPr>
              <a:xfrm>
                <a:off x="13268945" y="308930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Прямая соединительная линия 75">
                <a:extLst>
                  <a:ext uri="{FF2B5EF4-FFF2-40B4-BE49-F238E27FC236}">
                    <a16:creationId xmlns:a16="http://schemas.microsoft.com/office/drawing/2014/main" id="{D953594F-0998-3E1B-E09C-88D5081637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71815" y="360746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8261B6D-237E-81BF-D979-627023C72889}"/>
                  </a:ext>
                </a:extLst>
              </p:cNvPr>
              <p:cNvSpPr txBox="1"/>
              <p:nvPr/>
            </p:nvSpPr>
            <p:spPr>
              <a:xfrm>
                <a:off x="549045" y="339187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1 неделя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9119D8F-6E09-8741-EE11-49C0CA923E00}"/>
                  </a:ext>
                </a:extLst>
              </p:cNvPr>
              <p:cNvSpPr txBox="1"/>
              <p:nvPr/>
            </p:nvSpPr>
            <p:spPr>
              <a:xfrm>
                <a:off x="3478935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2 неделя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5690B53C-7B1E-A96D-6F88-65022152169F}"/>
                  </a:ext>
                </a:extLst>
              </p:cNvPr>
              <p:cNvSpPr txBox="1"/>
              <p:nvPr/>
            </p:nvSpPr>
            <p:spPr>
              <a:xfrm>
                <a:off x="6013537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3 неделя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8E7F9A4-D572-C4B2-DD11-6599CA53DD24}"/>
                  </a:ext>
                </a:extLst>
              </p:cNvPr>
              <p:cNvSpPr txBox="1"/>
              <p:nvPr/>
            </p:nvSpPr>
            <p:spPr>
              <a:xfrm>
                <a:off x="8677680" y="3391874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4 неделя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46412DB-D830-329D-4E31-D84F2B4A115E}"/>
                </a:ext>
              </a:extLst>
            </p:cNvPr>
            <p:cNvSpPr txBox="1"/>
            <p:nvPr/>
          </p:nvSpPr>
          <p:spPr>
            <a:xfrm>
              <a:off x="13821790" y="3394374"/>
              <a:ext cx="2314575" cy="42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5 неделя</a:t>
              </a:r>
            </a:p>
          </p:txBody>
        </p: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29F628B7-EB48-4348-D3C9-2D98283CB8FA}"/>
                </a:ext>
              </a:extLst>
            </p:cNvPr>
            <p:cNvCxnSpPr/>
            <p:nvPr/>
          </p:nvCxnSpPr>
          <p:spPr>
            <a:xfrm>
              <a:off x="15894724" y="3091808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E11C3625-DACA-8434-9AF6-E8DB7C99C3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7594" y="3609968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9456E051-5515-6EB7-712F-A34F8200E785}"/>
                </a:ext>
              </a:extLst>
            </p:cNvPr>
            <p:cNvCxnSpPr/>
            <p:nvPr/>
          </p:nvCxnSpPr>
          <p:spPr>
            <a:xfrm>
              <a:off x="15903287" y="3084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63EFB350-9752-BC1E-4A4F-03DD6B6D8E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6157" y="3603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78E4792-51EA-CD5C-20E4-E592DCB2D3EE}"/>
                </a:ext>
              </a:extLst>
            </p:cNvPr>
            <p:cNvSpPr txBox="1"/>
            <p:nvPr/>
          </p:nvSpPr>
          <p:spPr>
            <a:xfrm>
              <a:off x="16456132" y="3390020"/>
              <a:ext cx="2314575" cy="42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B5B7B7"/>
                  </a:solidFill>
                  <a:latin typeface="Arial Black" panose="020B0A04020102020204" pitchFamily="34" charset="0"/>
                </a:rPr>
                <a:t>6 неделя</a:t>
              </a:r>
            </a:p>
          </p:txBody>
        </p: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334005B3-C6C3-0CFA-45DC-A695307C5A5D}"/>
                </a:ext>
              </a:extLst>
            </p:cNvPr>
            <p:cNvCxnSpPr/>
            <p:nvPr/>
          </p:nvCxnSpPr>
          <p:spPr>
            <a:xfrm>
              <a:off x="18529066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10AD861E-31C6-20A9-4387-AD53F1979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36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>
              <a:extLst>
                <a:ext uri="{FF2B5EF4-FFF2-40B4-BE49-F238E27FC236}">
                  <a16:creationId xmlns:a16="http://schemas.microsoft.com/office/drawing/2014/main" id="{61CD6806-DA26-50D9-8233-47817B025ABD}"/>
                </a:ext>
              </a:extLst>
            </p:cNvPr>
            <p:cNvCxnSpPr/>
            <p:nvPr/>
          </p:nvCxnSpPr>
          <p:spPr>
            <a:xfrm>
              <a:off x="18529059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FDE140BC-8626-189C-0CDF-439AA22EB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29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5A903E2-6699-FB3E-A4C0-A8F66F809674}"/>
                </a:ext>
              </a:extLst>
            </p:cNvPr>
            <p:cNvSpPr txBox="1"/>
            <p:nvPr/>
          </p:nvSpPr>
          <p:spPr>
            <a:xfrm>
              <a:off x="19081904" y="3392520"/>
              <a:ext cx="2314575" cy="42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7 неделя</a:t>
              </a:r>
            </a:p>
          </p:txBody>
        </p:sp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79A4EE94-6634-1EB5-3244-118F25121FE4}"/>
                </a:ext>
              </a:extLst>
            </p:cNvPr>
            <p:cNvCxnSpPr/>
            <p:nvPr/>
          </p:nvCxnSpPr>
          <p:spPr>
            <a:xfrm>
              <a:off x="21154838" y="3089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19AC34C7-5D89-910C-542F-77C5F6DF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7708" y="3608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id="{EF1B5D21-0AB5-7311-A1ED-53B62A9B7C78}"/>
                </a:ext>
              </a:extLst>
            </p:cNvPr>
            <p:cNvCxnSpPr/>
            <p:nvPr/>
          </p:nvCxnSpPr>
          <p:spPr>
            <a:xfrm>
              <a:off x="21152349" y="30724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141F4E85-BB21-5E51-AF77-96499F066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5219" y="3590623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C50D89B-3B09-D26D-1C50-4566021F4B6A}"/>
                </a:ext>
              </a:extLst>
            </p:cNvPr>
            <p:cNvSpPr txBox="1"/>
            <p:nvPr/>
          </p:nvSpPr>
          <p:spPr>
            <a:xfrm>
              <a:off x="21705194" y="3377529"/>
              <a:ext cx="2314575" cy="42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B5B7B7"/>
                  </a:solidFill>
                  <a:latin typeface="Arial Black" panose="020B0A04020102020204" pitchFamily="34" charset="0"/>
                </a:rPr>
                <a:t>8 неделя</a:t>
              </a:r>
            </a:p>
          </p:txBody>
        </p:sp>
        <p:cxnSp>
          <p:nvCxnSpPr>
            <p:cNvPr id="63" name="Прямая соединительная линия 62">
              <a:extLst>
                <a:ext uri="{FF2B5EF4-FFF2-40B4-BE49-F238E27FC236}">
                  <a16:creationId xmlns:a16="http://schemas.microsoft.com/office/drawing/2014/main" id="{4EC8D137-A947-8013-836E-F09E12416FBD}"/>
                </a:ext>
              </a:extLst>
            </p:cNvPr>
            <p:cNvCxnSpPr/>
            <p:nvPr/>
          </p:nvCxnSpPr>
          <p:spPr>
            <a:xfrm>
              <a:off x="23778128" y="30749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>
              <a:extLst>
                <a:ext uri="{FF2B5EF4-FFF2-40B4-BE49-F238E27FC236}">
                  <a16:creationId xmlns:a16="http://schemas.microsoft.com/office/drawing/2014/main" id="{2231F667-5D39-76D6-01CE-B045E17B2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4318" y="3593123"/>
              <a:ext cx="441960" cy="585559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Равнобедренный треугольник 64">
              <a:extLst>
                <a:ext uri="{FF2B5EF4-FFF2-40B4-BE49-F238E27FC236}">
                  <a16:creationId xmlns:a16="http://schemas.microsoft.com/office/drawing/2014/main" id="{F0F2479B-CD06-7C46-8567-3C78B4E8FE55}"/>
                </a:ext>
              </a:extLst>
            </p:cNvPr>
            <p:cNvSpPr/>
            <p:nvPr/>
          </p:nvSpPr>
          <p:spPr>
            <a:xfrm rot="5400000">
              <a:off x="23450006" y="3405997"/>
              <a:ext cx="1052481" cy="434341"/>
            </a:xfrm>
            <a:prstGeom prst="triangle">
              <a:avLst/>
            </a:prstGeom>
            <a:solidFill>
              <a:srgbClr val="414141"/>
            </a:solidFill>
            <a:ln>
              <a:solidFill>
                <a:srgbClr val="414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31933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F79DA-B388-4E64-4600-16230A51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4BF242-CDC1-8E18-C777-C7C89A3C0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80E61DE9-C3E3-421B-B050-76A9E887B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9FF778A-CB4C-CD1A-AF58-0DF3D4ADC61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1" y="0"/>
            <a:chExt cx="12192000" cy="68580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DED0EE1-586E-230E-D54C-F5F2706C182C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F60229C5-62AD-6389-0E2C-C8CBE114B2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F74EA1-8B22-93D9-D635-18399962238B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99FE0F29-4C79-3919-4061-2D46E84373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0570F38A-5DFD-9A48-CE15-CE17AE488DC0}"/>
              </a:ext>
            </a:extLst>
          </p:cNvPr>
          <p:cNvCxnSpPr>
            <a:cxnSpLocks/>
          </p:cNvCxnSpPr>
          <p:nvPr/>
        </p:nvCxnSpPr>
        <p:spPr>
          <a:xfrm flipH="1">
            <a:off x="11667001" y="3623168"/>
            <a:ext cx="419099" cy="526240"/>
          </a:xfrm>
          <a:prstGeom prst="line">
            <a:avLst/>
          </a:prstGeom>
          <a:ln w="38100">
            <a:solidFill>
              <a:srgbClr val="ABC7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6337B41-AB54-B9A5-25CA-932727F6B41F}"/>
              </a:ext>
            </a:extLst>
          </p:cNvPr>
          <p:cNvSpPr txBox="1"/>
          <p:nvPr/>
        </p:nvSpPr>
        <p:spPr>
          <a:xfrm>
            <a:off x="3652653" y="1312621"/>
            <a:ext cx="502502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Дорожная </a:t>
            </a:r>
            <a:r>
              <a:rPr lang="ru-RU" sz="4000" dirty="0">
                <a:solidFill>
                  <a:srgbClr val="DBDBDB"/>
                </a:solidFill>
                <a:latin typeface="Arial Black" panose="020B0A04020102020204" pitchFamily="34" charset="0"/>
              </a:rPr>
              <a:t>карта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0686A4-5CBF-9697-0026-B1111420E9B5}"/>
              </a:ext>
            </a:extLst>
          </p:cNvPr>
          <p:cNvSpPr txBox="1"/>
          <p:nvPr/>
        </p:nvSpPr>
        <p:spPr>
          <a:xfrm>
            <a:off x="1238110" y="4471044"/>
            <a:ext cx="30725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DBDBDB"/>
                </a:solidFill>
                <a:latin typeface="Arial Black" panose="020B0A04020102020204" pitchFamily="34" charset="0"/>
              </a:rPr>
              <a:t>Реализация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 части кода отвечающую за математическое сравнение текстов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A96B83-6964-76D4-3005-58DE594FBC1D}"/>
              </a:ext>
            </a:extLst>
          </p:cNvPr>
          <p:cNvSpPr txBox="1"/>
          <p:nvPr/>
        </p:nvSpPr>
        <p:spPr>
          <a:xfrm>
            <a:off x="6374592" y="4315587"/>
            <a:ext cx="3125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Тесты прототипа проекта на дееспособность и исправную работу</a:t>
            </a:r>
            <a:endParaRPr lang="ru-RU" dirty="0">
              <a:solidFill>
                <a:srgbClr val="DBDBDB"/>
              </a:solidFill>
              <a:latin typeface="Arial Black" panose="020B0A040201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B815C97-84D4-A401-F201-780994F7AEF8}"/>
              </a:ext>
            </a:extLst>
          </p:cNvPr>
          <p:cNvSpPr txBox="1"/>
          <p:nvPr/>
        </p:nvSpPr>
        <p:spPr>
          <a:xfrm>
            <a:off x="9252445" y="1895982"/>
            <a:ext cx="2769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ABC7F3"/>
                </a:solidFill>
                <a:effectLst/>
                <a:latin typeface="Arial Black" panose="020B0A04020102020204" pitchFamily="34" charset="0"/>
              </a:rPr>
              <a:t>Сделать интерфейс для более красивого ввода текста и вывода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3E717C-602A-2135-3CF6-FAF484B1D75F}"/>
              </a:ext>
            </a:extLst>
          </p:cNvPr>
          <p:cNvSpPr txBox="1"/>
          <p:nvPr/>
        </p:nvSpPr>
        <p:spPr>
          <a:xfrm>
            <a:off x="4205877" y="1853710"/>
            <a:ext cx="2495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Размышление о</a:t>
            </a:r>
          </a:p>
          <a:p>
            <a:pPr algn="ctr"/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новых функциях и идеях для проекта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024C3974-0D48-ED01-232F-05D370F7D9CD}"/>
              </a:ext>
            </a:extLst>
          </p:cNvPr>
          <p:cNvGrpSpPr/>
          <p:nvPr/>
        </p:nvGrpSpPr>
        <p:grpSpPr>
          <a:xfrm>
            <a:off x="-12029371" y="3067050"/>
            <a:ext cx="24217778" cy="1226812"/>
            <a:chOff x="-1500" y="3067050"/>
            <a:chExt cx="24217778" cy="1141510"/>
          </a:xfrm>
        </p:grpSpPr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514BB362-DF61-241C-96AA-18FB22F84412}"/>
                </a:ext>
              </a:extLst>
            </p:cNvPr>
            <p:cNvGrpSpPr/>
            <p:nvPr/>
          </p:nvGrpSpPr>
          <p:grpSpPr>
            <a:xfrm>
              <a:off x="-1500" y="3067050"/>
              <a:ext cx="23775818" cy="1141510"/>
              <a:chOff x="-1500" y="3067050"/>
              <a:chExt cx="23775818" cy="1141510"/>
            </a:xfrm>
          </p:grpSpPr>
          <p:sp>
            <p:nvSpPr>
              <p:cNvPr id="70" name="Прямоугольник 69">
                <a:extLst>
                  <a:ext uri="{FF2B5EF4-FFF2-40B4-BE49-F238E27FC236}">
                    <a16:creationId xmlns:a16="http://schemas.microsoft.com/office/drawing/2014/main" id="{DC4E3A4E-7C35-5E68-21FD-C025B686E64F}"/>
                  </a:ext>
                </a:extLst>
              </p:cNvPr>
              <p:cNvSpPr/>
              <p:nvPr/>
            </p:nvSpPr>
            <p:spPr>
              <a:xfrm>
                <a:off x="-1500" y="3074670"/>
                <a:ext cx="23775818" cy="1111632"/>
              </a:xfrm>
              <a:prstGeom prst="rect">
                <a:avLst/>
              </a:prstGeom>
              <a:solidFill>
                <a:srgbClr val="414141"/>
              </a:solidFill>
              <a:ln w="38100">
                <a:solidFill>
                  <a:srgbClr val="ABC7F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71" name="Прямая соединительная линия 70">
                <a:extLst>
                  <a:ext uri="{FF2B5EF4-FFF2-40B4-BE49-F238E27FC236}">
                    <a16:creationId xmlns:a16="http://schemas.microsoft.com/office/drawing/2014/main" id="{855F0C15-2124-EE43-AFB0-760BF4212301}"/>
                  </a:ext>
                </a:extLst>
              </p:cNvPr>
              <p:cNvCxnSpPr/>
              <p:nvPr/>
            </p:nvCxnSpPr>
            <p:spPr>
              <a:xfrm>
                <a:off x="2593110" y="307467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Прямая соединительная линия 71">
                <a:extLst>
                  <a:ext uri="{FF2B5EF4-FFF2-40B4-BE49-F238E27FC236}">
                    <a16:creationId xmlns:a16="http://schemas.microsoft.com/office/drawing/2014/main" id="{E37D5F5E-4780-6F6E-4BDA-8FECF1DBFD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5980" y="359283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Прямая соединительная линия 72">
                <a:extLst>
                  <a:ext uri="{FF2B5EF4-FFF2-40B4-BE49-F238E27FC236}">
                    <a16:creationId xmlns:a16="http://schemas.microsoft.com/office/drawing/2014/main" id="{EFB4C985-7A17-A9CC-8126-D80D206BA241}"/>
                  </a:ext>
                </a:extLst>
              </p:cNvPr>
              <p:cNvCxnSpPr/>
              <p:nvPr/>
            </p:nvCxnSpPr>
            <p:spPr>
              <a:xfrm>
                <a:off x="5473470" y="306705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Прямая соединительная линия 73">
                <a:extLst>
                  <a:ext uri="{FF2B5EF4-FFF2-40B4-BE49-F238E27FC236}">
                    <a16:creationId xmlns:a16="http://schemas.microsoft.com/office/drawing/2014/main" id="{AB98BDBE-AE0B-6EF7-2796-A11D13447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340" y="358521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Прямая соединительная линия 74">
                <a:extLst>
                  <a:ext uri="{FF2B5EF4-FFF2-40B4-BE49-F238E27FC236}">
                    <a16:creationId xmlns:a16="http://schemas.microsoft.com/office/drawing/2014/main" id="{0A3E4C0F-96FC-4F76-D8C6-4018F08C4915}"/>
                  </a:ext>
                </a:extLst>
              </p:cNvPr>
              <p:cNvCxnSpPr/>
              <p:nvPr/>
            </p:nvCxnSpPr>
            <p:spPr>
              <a:xfrm>
                <a:off x="8073795" y="308168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Прямая соединительная линия 75">
                <a:extLst>
                  <a:ext uri="{FF2B5EF4-FFF2-40B4-BE49-F238E27FC236}">
                    <a16:creationId xmlns:a16="http://schemas.microsoft.com/office/drawing/2014/main" id="{F572D50F-EB57-FDBC-9BC9-C9A2977CC9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76665" y="359984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Прямая соединительная линия 76">
                <a:extLst>
                  <a:ext uri="{FF2B5EF4-FFF2-40B4-BE49-F238E27FC236}">
                    <a16:creationId xmlns:a16="http://schemas.microsoft.com/office/drawing/2014/main" id="{16B43A1E-5CF7-663E-A44C-4E3FC4CF3F78}"/>
                  </a:ext>
                </a:extLst>
              </p:cNvPr>
              <p:cNvCxnSpPr/>
              <p:nvPr/>
            </p:nvCxnSpPr>
            <p:spPr>
              <a:xfrm>
                <a:off x="10740795" y="309692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Прямая соединительная линия 77">
                <a:extLst>
                  <a:ext uri="{FF2B5EF4-FFF2-40B4-BE49-F238E27FC236}">
                    <a16:creationId xmlns:a16="http://schemas.microsoft.com/office/drawing/2014/main" id="{63D816AE-B383-E375-6358-308EACA141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43665" y="361508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Прямая соединительная линия 78">
                <a:extLst>
                  <a:ext uri="{FF2B5EF4-FFF2-40B4-BE49-F238E27FC236}">
                    <a16:creationId xmlns:a16="http://schemas.microsoft.com/office/drawing/2014/main" id="{A51094E0-B169-C367-6472-1C5A79E0302F}"/>
                  </a:ext>
                </a:extLst>
              </p:cNvPr>
              <p:cNvCxnSpPr/>
              <p:nvPr/>
            </p:nvCxnSpPr>
            <p:spPr>
              <a:xfrm>
                <a:off x="13268945" y="308930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Прямая соединительная линия 79">
                <a:extLst>
                  <a:ext uri="{FF2B5EF4-FFF2-40B4-BE49-F238E27FC236}">
                    <a16:creationId xmlns:a16="http://schemas.microsoft.com/office/drawing/2014/main" id="{9AD55164-431E-29A2-D30C-89E37F92F3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71815" y="360746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AD0620D-16C9-A4C2-3F14-77BA3CDDCF43}"/>
                  </a:ext>
                </a:extLst>
              </p:cNvPr>
              <p:cNvSpPr txBox="1"/>
              <p:nvPr/>
            </p:nvSpPr>
            <p:spPr>
              <a:xfrm>
                <a:off x="549045" y="339187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1 неделя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090EDCC-3C36-D29E-9B21-12F1EF3DFC2D}"/>
                  </a:ext>
                </a:extLst>
              </p:cNvPr>
              <p:cNvSpPr txBox="1"/>
              <p:nvPr/>
            </p:nvSpPr>
            <p:spPr>
              <a:xfrm>
                <a:off x="3478935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2 неделя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9FA346F-70E5-77F0-E8C2-507B565E8276}"/>
                  </a:ext>
                </a:extLst>
              </p:cNvPr>
              <p:cNvSpPr txBox="1"/>
              <p:nvPr/>
            </p:nvSpPr>
            <p:spPr>
              <a:xfrm>
                <a:off x="6013537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3 неделя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AF671FD-795B-8333-EB8B-E48053FC4659}"/>
                  </a:ext>
                </a:extLst>
              </p:cNvPr>
              <p:cNvSpPr txBox="1"/>
              <p:nvPr/>
            </p:nvSpPr>
            <p:spPr>
              <a:xfrm>
                <a:off x="8677680" y="3391874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4 неделя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C330BB4-EFE5-9A66-7E21-5BCB2B556DA9}"/>
                </a:ext>
              </a:extLst>
            </p:cNvPr>
            <p:cNvSpPr txBox="1"/>
            <p:nvPr/>
          </p:nvSpPr>
          <p:spPr>
            <a:xfrm>
              <a:off x="13821790" y="3394374"/>
              <a:ext cx="2314575" cy="42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5 неделя</a:t>
              </a:r>
            </a:p>
          </p:txBody>
        </p: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C4908292-FE41-0791-A530-7000A07D91DB}"/>
                </a:ext>
              </a:extLst>
            </p:cNvPr>
            <p:cNvCxnSpPr/>
            <p:nvPr/>
          </p:nvCxnSpPr>
          <p:spPr>
            <a:xfrm>
              <a:off x="15894724" y="3091808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435D86E2-1344-A45F-B103-1511578F4F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7594" y="3609968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>
              <a:extLst>
                <a:ext uri="{FF2B5EF4-FFF2-40B4-BE49-F238E27FC236}">
                  <a16:creationId xmlns:a16="http://schemas.microsoft.com/office/drawing/2014/main" id="{37C9D562-5F89-7FCB-BEBD-BADF72055B42}"/>
                </a:ext>
              </a:extLst>
            </p:cNvPr>
            <p:cNvCxnSpPr/>
            <p:nvPr/>
          </p:nvCxnSpPr>
          <p:spPr>
            <a:xfrm>
              <a:off x="15903287" y="3084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9CF63715-D85F-09AD-F6C3-54C475A773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6157" y="3603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71971F9-4B3D-D5E9-F3E5-4A44BCE7F073}"/>
                </a:ext>
              </a:extLst>
            </p:cNvPr>
            <p:cNvSpPr txBox="1"/>
            <p:nvPr/>
          </p:nvSpPr>
          <p:spPr>
            <a:xfrm>
              <a:off x="16456132" y="3390020"/>
              <a:ext cx="2314575" cy="42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B5B7B7"/>
                  </a:solidFill>
                  <a:latin typeface="Arial Black" panose="020B0A04020102020204" pitchFamily="34" charset="0"/>
                </a:rPr>
                <a:t>6 неделя</a:t>
              </a:r>
            </a:p>
          </p:txBody>
        </p:sp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3A74CF7B-C087-346E-4CB0-2ABA3523B6D8}"/>
                </a:ext>
              </a:extLst>
            </p:cNvPr>
            <p:cNvCxnSpPr/>
            <p:nvPr/>
          </p:nvCxnSpPr>
          <p:spPr>
            <a:xfrm>
              <a:off x="18529066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9315D6BB-3E86-1D59-592E-14933635B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36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id="{AD6BAC1C-070B-C17A-1938-E6709FAE0FDA}"/>
                </a:ext>
              </a:extLst>
            </p:cNvPr>
            <p:cNvCxnSpPr/>
            <p:nvPr/>
          </p:nvCxnSpPr>
          <p:spPr>
            <a:xfrm>
              <a:off x="18529059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E856B66D-EB34-9500-9E1A-149239F3F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29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8A47404-C0B8-6DB4-584A-C4B93645FD37}"/>
                </a:ext>
              </a:extLst>
            </p:cNvPr>
            <p:cNvSpPr txBox="1"/>
            <p:nvPr/>
          </p:nvSpPr>
          <p:spPr>
            <a:xfrm>
              <a:off x="19081904" y="3392520"/>
              <a:ext cx="2314575" cy="42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7 неделя</a:t>
              </a:r>
            </a:p>
          </p:txBody>
        </p:sp>
        <p:cxnSp>
          <p:nvCxnSpPr>
            <p:cNvPr id="62" name="Прямая соединительная линия 61">
              <a:extLst>
                <a:ext uri="{FF2B5EF4-FFF2-40B4-BE49-F238E27FC236}">
                  <a16:creationId xmlns:a16="http://schemas.microsoft.com/office/drawing/2014/main" id="{8CB897CD-9DDE-124E-39AC-9888F711DDEF}"/>
                </a:ext>
              </a:extLst>
            </p:cNvPr>
            <p:cNvCxnSpPr/>
            <p:nvPr/>
          </p:nvCxnSpPr>
          <p:spPr>
            <a:xfrm>
              <a:off x="21154838" y="3089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>
              <a:extLst>
                <a:ext uri="{FF2B5EF4-FFF2-40B4-BE49-F238E27FC236}">
                  <a16:creationId xmlns:a16="http://schemas.microsoft.com/office/drawing/2014/main" id="{D6681E08-630C-5EB2-948A-B97AF6524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7708" y="3608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>
              <a:extLst>
                <a:ext uri="{FF2B5EF4-FFF2-40B4-BE49-F238E27FC236}">
                  <a16:creationId xmlns:a16="http://schemas.microsoft.com/office/drawing/2014/main" id="{7AE90381-B67D-E5CD-D32C-ECF895A10522}"/>
                </a:ext>
              </a:extLst>
            </p:cNvPr>
            <p:cNvCxnSpPr/>
            <p:nvPr/>
          </p:nvCxnSpPr>
          <p:spPr>
            <a:xfrm>
              <a:off x="21152349" y="30724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>
              <a:extLst>
                <a:ext uri="{FF2B5EF4-FFF2-40B4-BE49-F238E27FC236}">
                  <a16:creationId xmlns:a16="http://schemas.microsoft.com/office/drawing/2014/main" id="{1455DEDF-68B7-C6AD-03B7-669837BBE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5219" y="3590623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D8777B3-307F-B880-857F-2A53E2FBFBBA}"/>
                </a:ext>
              </a:extLst>
            </p:cNvPr>
            <p:cNvSpPr txBox="1"/>
            <p:nvPr/>
          </p:nvSpPr>
          <p:spPr>
            <a:xfrm>
              <a:off x="21705194" y="3377529"/>
              <a:ext cx="2314575" cy="42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B5B7B7"/>
                  </a:solidFill>
                  <a:latin typeface="Arial Black" panose="020B0A04020102020204" pitchFamily="34" charset="0"/>
                </a:rPr>
                <a:t>8 неделя</a:t>
              </a:r>
            </a:p>
          </p:txBody>
        </p:sp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695B6695-0BCF-1CD7-486D-88F18E05764F}"/>
                </a:ext>
              </a:extLst>
            </p:cNvPr>
            <p:cNvCxnSpPr/>
            <p:nvPr/>
          </p:nvCxnSpPr>
          <p:spPr>
            <a:xfrm>
              <a:off x="23778128" y="30749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B612E762-871E-C95C-154E-645FB9444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4318" y="3593123"/>
              <a:ext cx="441960" cy="585559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Равнобедренный треугольник 68">
              <a:extLst>
                <a:ext uri="{FF2B5EF4-FFF2-40B4-BE49-F238E27FC236}">
                  <a16:creationId xmlns:a16="http://schemas.microsoft.com/office/drawing/2014/main" id="{17ADFDE0-C899-0BEA-FAA7-171D41E29F67}"/>
                </a:ext>
              </a:extLst>
            </p:cNvPr>
            <p:cNvSpPr/>
            <p:nvPr/>
          </p:nvSpPr>
          <p:spPr>
            <a:xfrm rot="5400000">
              <a:off x="23450006" y="3405997"/>
              <a:ext cx="1052481" cy="434341"/>
            </a:xfrm>
            <a:prstGeom prst="triangle">
              <a:avLst/>
            </a:prstGeom>
            <a:solidFill>
              <a:srgbClr val="414141"/>
            </a:solidFill>
            <a:ln>
              <a:solidFill>
                <a:srgbClr val="414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DF0E7C3-CCF0-FEF7-39CC-BB08F530431E}"/>
              </a:ext>
            </a:extLst>
          </p:cNvPr>
          <p:cNvSpPr txBox="1"/>
          <p:nvPr/>
        </p:nvSpPr>
        <p:spPr>
          <a:xfrm>
            <a:off x="2907726" y="7550064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Коммерческая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5B7B7"/>
                </a:solidFill>
                <a:latin typeface="Arial Black" panose="020B0A04020102020204" pitchFamily="34" charset="0"/>
              </a:rPr>
              <a:t>ценность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0B2D1B-0202-1A72-B100-9501951265B9}"/>
              </a:ext>
            </a:extLst>
          </p:cNvPr>
          <p:cNvSpPr txBox="1"/>
          <p:nvPr/>
        </p:nvSpPr>
        <p:spPr>
          <a:xfrm>
            <a:off x="2107629" y="8473461"/>
            <a:ext cx="78093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News Checker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 будет использовать одну из моделей коммерческих отношений - </a:t>
            </a:r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 B2C(Business-to-Consumer; 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Бизнес для покупателей</a:t>
            </a:r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)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. Этот выбор обоснован на том что обычные люди со всей нашей страны которые нуждаются в помощи с определением ненастоящей информации, будут приобретать подписку на этого бота и не беспокоится о своей проблеме.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A268E971-883C-F406-534C-9BE1F7A1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7034" y="7993249"/>
            <a:ext cx="555590" cy="65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9839C5D9-EB9F-B338-DE66-F704831A3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28180">
            <a:off x="1296374" y="11389015"/>
            <a:ext cx="663689" cy="63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Объект 9" descr="Мультипликационная рука в перчатке 2">
                <a:extLst>
                  <a:ext uri="{FF2B5EF4-FFF2-40B4-BE49-F238E27FC236}">
                    <a16:creationId xmlns:a16="http://schemas.microsoft.com/office/drawing/2014/main" id="{AE13ED0A-6EDE-11D2-8250-3225C63D00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32386512"/>
                  </p:ext>
                </p:extLst>
              </p:nvPr>
            </p:nvGraphicFramePr>
            <p:xfrm>
              <a:off x="6057775" y="7832234"/>
              <a:ext cx="1683169" cy="1641555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683169" cy="1641555"/>
                    </a:xfrm>
                    <a:prstGeom prst="rect">
                      <a:avLst/>
                    </a:prstGeom>
                  </am3d:spPr>
                  <am3d:camera>
                    <am3d:pos x="0" y="0" z="6898717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00333" d="1000000"/>
                    <am3d:preTrans dx="6260246" dy="-17670345" dz="-1583609"/>
                    <am3d:scale>
                      <am3d:sx n="1000000" d="1000000"/>
                      <am3d:sy n="1000000" d="1000000"/>
                      <am3d:sz n="1000000" d="1000000"/>
                    </am3d:scale>
                    <am3d:rot ax="-1177953" ay="1533606" az="-524981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481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Объект 9" descr="Мультипликационная рука в перчатке 2">
                <a:extLst>
                  <a:ext uri="{FF2B5EF4-FFF2-40B4-BE49-F238E27FC236}">
                    <a16:creationId xmlns:a16="http://schemas.microsoft.com/office/drawing/2014/main" id="{AE13ED0A-6EDE-11D2-8250-3225C63D00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57775" y="7832234"/>
                <a:ext cx="1683169" cy="16415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5232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83D350-09D9-B92C-2047-7DBFCFF4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95E3E6ED-7CC8-DA6E-13F3-D40B62A30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8455B4E-9594-25AA-585A-E691EDCB283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1" y="0"/>
            <a:chExt cx="12192000" cy="68580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B8A6B7D7-6E35-DF6F-8C53-30B30C5E6A65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4ED59D0A-D075-898F-7F58-2D76442DD1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7B1ABF-A8F3-63FC-7A8F-452C0CED42B4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5B7B7"/>
                  </a:solidFill>
                  <a:latin typeface="Arial Black" panose="020B0A04020102020204" pitchFamily="34" charset="0"/>
                </a:rPr>
                <a:t>News</a:t>
              </a:r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5CE7977B-3B1C-5EC4-B3AE-6DAF0DAB34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1735F3D-B30D-679F-7D5C-F88FC8C74C20}"/>
              </a:ext>
            </a:extLst>
          </p:cNvPr>
          <p:cNvSpPr txBox="1"/>
          <p:nvPr/>
        </p:nvSpPr>
        <p:spPr>
          <a:xfrm>
            <a:off x="-10731552" y="1312621"/>
            <a:ext cx="502502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Дорожная </a:t>
            </a:r>
            <a:r>
              <a:rPr lang="ru-RU" sz="4000" dirty="0">
                <a:solidFill>
                  <a:srgbClr val="DBDBDB"/>
                </a:solidFill>
                <a:latin typeface="Arial Black" panose="020B0A04020102020204" pitchFamily="34" charset="0"/>
              </a:rPr>
              <a:t>карта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BA690-0C3D-6D51-F487-C1E800539B0F}"/>
              </a:ext>
            </a:extLst>
          </p:cNvPr>
          <p:cNvSpPr txBox="1"/>
          <p:nvPr/>
        </p:nvSpPr>
        <p:spPr>
          <a:xfrm>
            <a:off x="-11071110" y="4471044"/>
            <a:ext cx="30725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DBDBDB"/>
                </a:solidFill>
                <a:latin typeface="Arial Black" panose="020B0A04020102020204" pitchFamily="34" charset="0"/>
              </a:rPr>
              <a:t>Реализация</a:t>
            </a:r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 части кода отвечающую за математическое сравнение текстов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438A35-6CFA-6D11-EB7B-EC4CA45F3624}"/>
              </a:ext>
            </a:extLst>
          </p:cNvPr>
          <p:cNvSpPr txBox="1"/>
          <p:nvPr/>
        </p:nvSpPr>
        <p:spPr>
          <a:xfrm>
            <a:off x="-5934628" y="4315587"/>
            <a:ext cx="3125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DBDBDB"/>
                </a:solidFill>
                <a:effectLst/>
                <a:latin typeface="Arial Black" panose="020B0A04020102020204" pitchFamily="34" charset="0"/>
              </a:rPr>
              <a:t>Тесты прототипа проекта на дееспособность и исправную работу</a:t>
            </a:r>
            <a:endParaRPr lang="ru-RU" dirty="0">
              <a:solidFill>
                <a:srgbClr val="DBDBDB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5B516A-1011-464B-54B1-F1BE86E16E25}"/>
              </a:ext>
            </a:extLst>
          </p:cNvPr>
          <p:cNvSpPr txBox="1"/>
          <p:nvPr/>
        </p:nvSpPr>
        <p:spPr>
          <a:xfrm>
            <a:off x="-3056775" y="1895982"/>
            <a:ext cx="2769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ABC7F3"/>
                </a:solidFill>
                <a:effectLst/>
                <a:latin typeface="Arial Black" panose="020B0A04020102020204" pitchFamily="34" charset="0"/>
              </a:rPr>
              <a:t>Сделать интерфейс для более красивого ввода текста и вывода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7A05E4-44C5-6AB5-B70E-7B200A68A0DE}"/>
              </a:ext>
            </a:extLst>
          </p:cNvPr>
          <p:cNvSpPr txBox="1"/>
          <p:nvPr/>
        </p:nvSpPr>
        <p:spPr>
          <a:xfrm>
            <a:off x="-8103343" y="1853710"/>
            <a:ext cx="2495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Размышление о</a:t>
            </a:r>
          </a:p>
          <a:p>
            <a:pPr algn="ctr"/>
            <a:r>
              <a:rPr lang="ru-RU" dirty="0">
                <a:solidFill>
                  <a:srgbClr val="ABC7F3"/>
                </a:solidFill>
                <a:latin typeface="Arial Black" panose="020B0A04020102020204" pitchFamily="34" charset="0"/>
              </a:rPr>
              <a:t>новых функциях и идеях для проекта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55A5A0D5-E366-E710-9F81-98F5E38F32B2}"/>
              </a:ext>
            </a:extLst>
          </p:cNvPr>
          <p:cNvGrpSpPr/>
          <p:nvPr/>
        </p:nvGrpSpPr>
        <p:grpSpPr>
          <a:xfrm>
            <a:off x="-24338591" y="3067050"/>
            <a:ext cx="24217778" cy="1226812"/>
            <a:chOff x="-1500" y="3067050"/>
            <a:chExt cx="24217778" cy="1141510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D0EC5BB3-C2AF-065E-88D5-0AC82A3F851C}"/>
                </a:ext>
              </a:extLst>
            </p:cNvPr>
            <p:cNvGrpSpPr/>
            <p:nvPr/>
          </p:nvGrpSpPr>
          <p:grpSpPr>
            <a:xfrm>
              <a:off x="-1500" y="3067050"/>
              <a:ext cx="23775818" cy="1141510"/>
              <a:chOff x="-1500" y="3067050"/>
              <a:chExt cx="23775818" cy="1141510"/>
            </a:xfrm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81DB71A5-217E-E2A1-70CF-7BFC20AA764F}"/>
                  </a:ext>
                </a:extLst>
              </p:cNvPr>
              <p:cNvSpPr/>
              <p:nvPr/>
            </p:nvSpPr>
            <p:spPr>
              <a:xfrm>
                <a:off x="-1500" y="3074670"/>
                <a:ext cx="23775818" cy="1111632"/>
              </a:xfrm>
              <a:prstGeom prst="rect">
                <a:avLst/>
              </a:prstGeom>
              <a:solidFill>
                <a:srgbClr val="414141"/>
              </a:solidFill>
              <a:ln w="38100">
                <a:solidFill>
                  <a:srgbClr val="ABC7F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38" name="Прямая соединительная линия 37">
                <a:extLst>
                  <a:ext uri="{FF2B5EF4-FFF2-40B4-BE49-F238E27FC236}">
                    <a16:creationId xmlns:a16="http://schemas.microsoft.com/office/drawing/2014/main" id="{3F5E4093-99D1-5593-EE1A-245882DDE8A3}"/>
                  </a:ext>
                </a:extLst>
              </p:cNvPr>
              <p:cNvCxnSpPr/>
              <p:nvPr/>
            </p:nvCxnSpPr>
            <p:spPr>
              <a:xfrm>
                <a:off x="2593110" y="307467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Прямая соединительная линия 38">
                <a:extLst>
                  <a:ext uri="{FF2B5EF4-FFF2-40B4-BE49-F238E27FC236}">
                    <a16:creationId xmlns:a16="http://schemas.microsoft.com/office/drawing/2014/main" id="{563D85C2-2A4D-812F-9ACB-F4CEE2E1D8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5980" y="359283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Прямая соединительная линия 39">
                <a:extLst>
                  <a:ext uri="{FF2B5EF4-FFF2-40B4-BE49-F238E27FC236}">
                    <a16:creationId xmlns:a16="http://schemas.microsoft.com/office/drawing/2014/main" id="{E3D60870-05D1-379F-EA7D-4801E4082A51}"/>
                  </a:ext>
                </a:extLst>
              </p:cNvPr>
              <p:cNvCxnSpPr/>
              <p:nvPr/>
            </p:nvCxnSpPr>
            <p:spPr>
              <a:xfrm>
                <a:off x="5473470" y="3067050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единительная линия 40">
                <a:extLst>
                  <a:ext uri="{FF2B5EF4-FFF2-40B4-BE49-F238E27FC236}">
                    <a16:creationId xmlns:a16="http://schemas.microsoft.com/office/drawing/2014/main" id="{B981CD08-215F-10AB-0AAE-3B2B3BEFF6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340" y="3585210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Прямая соединительная линия 41">
                <a:extLst>
                  <a:ext uri="{FF2B5EF4-FFF2-40B4-BE49-F238E27FC236}">
                    <a16:creationId xmlns:a16="http://schemas.microsoft.com/office/drawing/2014/main" id="{CF6575D8-0A13-0188-D1DE-1F319DE70031}"/>
                  </a:ext>
                </a:extLst>
              </p:cNvPr>
              <p:cNvCxnSpPr/>
              <p:nvPr/>
            </p:nvCxnSpPr>
            <p:spPr>
              <a:xfrm>
                <a:off x="8073795" y="308168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Прямая соединительная линия 42">
                <a:extLst>
                  <a:ext uri="{FF2B5EF4-FFF2-40B4-BE49-F238E27FC236}">
                    <a16:creationId xmlns:a16="http://schemas.microsoft.com/office/drawing/2014/main" id="{1D048269-AFCE-C496-1F83-D3ECBB78D8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76665" y="359984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Прямая соединительная линия 43">
                <a:extLst>
                  <a:ext uri="{FF2B5EF4-FFF2-40B4-BE49-F238E27FC236}">
                    <a16:creationId xmlns:a16="http://schemas.microsoft.com/office/drawing/2014/main" id="{A3651F03-BEC1-5092-2558-D00A3D4CA431}"/>
                  </a:ext>
                </a:extLst>
              </p:cNvPr>
              <p:cNvCxnSpPr/>
              <p:nvPr/>
            </p:nvCxnSpPr>
            <p:spPr>
              <a:xfrm>
                <a:off x="10740795" y="309692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единительная линия 44">
                <a:extLst>
                  <a:ext uri="{FF2B5EF4-FFF2-40B4-BE49-F238E27FC236}">
                    <a16:creationId xmlns:a16="http://schemas.microsoft.com/office/drawing/2014/main" id="{8181F8B7-F49B-65C4-41D1-BFADAA586C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43665" y="361508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>
                <a:extLst>
                  <a:ext uri="{FF2B5EF4-FFF2-40B4-BE49-F238E27FC236}">
                    <a16:creationId xmlns:a16="http://schemas.microsoft.com/office/drawing/2014/main" id="{523B103D-C9A9-AFE3-B86E-58BD4EDD7001}"/>
                  </a:ext>
                </a:extLst>
              </p:cNvPr>
              <p:cNvCxnSpPr/>
              <p:nvPr/>
            </p:nvCxnSpPr>
            <p:spPr>
              <a:xfrm>
                <a:off x="13268945" y="3089308"/>
                <a:ext cx="434340" cy="525780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1AA649F5-9C14-AE1C-168F-EA49F0D14F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71815" y="3607468"/>
                <a:ext cx="335280" cy="593472"/>
              </a:xfrm>
              <a:prstGeom prst="line">
                <a:avLst/>
              </a:prstGeom>
              <a:ln w="38100">
                <a:solidFill>
                  <a:srgbClr val="ABC7F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E6B3F2-65BE-79E4-A426-9536B26692CA}"/>
                  </a:ext>
                </a:extLst>
              </p:cNvPr>
              <p:cNvSpPr txBox="1"/>
              <p:nvPr/>
            </p:nvSpPr>
            <p:spPr>
              <a:xfrm>
                <a:off x="549045" y="339187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1 неделя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C774712-9A19-C880-6569-8248C3E863D6}"/>
                  </a:ext>
                </a:extLst>
              </p:cNvPr>
              <p:cNvSpPr txBox="1"/>
              <p:nvPr/>
            </p:nvSpPr>
            <p:spPr>
              <a:xfrm>
                <a:off x="3478935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2 неделя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EA9AA8D-CD29-1A6F-19E4-C541B2D1BB07}"/>
                  </a:ext>
                </a:extLst>
              </p:cNvPr>
              <p:cNvSpPr txBox="1"/>
              <p:nvPr/>
            </p:nvSpPr>
            <p:spPr>
              <a:xfrm>
                <a:off x="6013537" y="3395685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3 неделя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5AF3710-51FC-DE92-D110-8B4801071913}"/>
                  </a:ext>
                </a:extLst>
              </p:cNvPr>
              <p:cNvSpPr txBox="1"/>
              <p:nvPr/>
            </p:nvSpPr>
            <p:spPr>
              <a:xfrm>
                <a:off x="8677680" y="3391874"/>
                <a:ext cx="2314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DBDBDB"/>
                    </a:solidFill>
                    <a:latin typeface="Arial Black" panose="020B0A04020102020204" pitchFamily="34" charset="0"/>
                  </a:rPr>
                  <a:t>4 неделя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3BA240-EE87-951F-745E-A381C8E97269}"/>
                </a:ext>
              </a:extLst>
            </p:cNvPr>
            <p:cNvSpPr txBox="1"/>
            <p:nvPr/>
          </p:nvSpPr>
          <p:spPr>
            <a:xfrm>
              <a:off x="13821790" y="3394374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5 неделя</a:t>
              </a:r>
            </a:p>
          </p:txBody>
        </p: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7C82EC4E-4512-B3B9-8417-17F26C4CF56E}"/>
                </a:ext>
              </a:extLst>
            </p:cNvPr>
            <p:cNvCxnSpPr/>
            <p:nvPr/>
          </p:nvCxnSpPr>
          <p:spPr>
            <a:xfrm>
              <a:off x="15894724" y="3091808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3A51E24A-9BE6-C7CC-8010-6238BAF66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7594" y="3609968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0C5EE099-9474-062A-9EA3-FC441474F425}"/>
                </a:ext>
              </a:extLst>
            </p:cNvPr>
            <p:cNvCxnSpPr/>
            <p:nvPr/>
          </p:nvCxnSpPr>
          <p:spPr>
            <a:xfrm>
              <a:off x="15903287" y="3084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7C683343-6089-2B84-A3F7-E075974F3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6157" y="3603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732883-4C88-1EDD-7637-ACD297DD475B}"/>
                </a:ext>
              </a:extLst>
            </p:cNvPr>
            <p:cNvSpPr txBox="1"/>
            <p:nvPr/>
          </p:nvSpPr>
          <p:spPr>
            <a:xfrm>
              <a:off x="16456132" y="3390020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6 неделя</a:t>
              </a:r>
            </a:p>
          </p:txBody>
        </p: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CE63898F-7EB1-7019-6144-BCC38D31813D}"/>
                </a:ext>
              </a:extLst>
            </p:cNvPr>
            <p:cNvCxnSpPr/>
            <p:nvPr/>
          </p:nvCxnSpPr>
          <p:spPr>
            <a:xfrm>
              <a:off x="18529066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DBE6B81D-B6CD-5809-04AD-AFCA0DE39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36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94FCCF6D-2CCC-0976-24ED-983D12E277DB}"/>
                </a:ext>
              </a:extLst>
            </p:cNvPr>
            <p:cNvCxnSpPr/>
            <p:nvPr/>
          </p:nvCxnSpPr>
          <p:spPr>
            <a:xfrm>
              <a:off x="18529059" y="30874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8FD7011B-2624-2DC6-DE82-11D021D18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31929" y="36056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627BBB-35FD-6964-3AE8-30A7276C0D60}"/>
                </a:ext>
              </a:extLst>
            </p:cNvPr>
            <p:cNvSpPr txBox="1"/>
            <p:nvPr/>
          </p:nvSpPr>
          <p:spPr>
            <a:xfrm>
              <a:off x="19081904" y="3392520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7 неделя</a:t>
              </a:r>
            </a:p>
          </p:txBody>
        </p: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D1C96EE8-4304-8F7E-6E56-73D665B16D93}"/>
                </a:ext>
              </a:extLst>
            </p:cNvPr>
            <p:cNvCxnSpPr/>
            <p:nvPr/>
          </p:nvCxnSpPr>
          <p:spPr>
            <a:xfrm>
              <a:off x="21154838" y="3089954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39CC0753-3BD1-1EFB-D2FD-6E6B886C14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7708" y="3608114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2BFE9B03-CE77-9644-8FCE-5947CD826160}"/>
                </a:ext>
              </a:extLst>
            </p:cNvPr>
            <p:cNvCxnSpPr/>
            <p:nvPr/>
          </p:nvCxnSpPr>
          <p:spPr>
            <a:xfrm>
              <a:off x="21152349" y="30724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0311132-DC20-2A75-0EF0-51E76DC14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55219" y="3590623"/>
              <a:ext cx="335280" cy="593472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9D49D3B-05B9-0772-9334-8F6718864532}"/>
                </a:ext>
              </a:extLst>
            </p:cNvPr>
            <p:cNvSpPr txBox="1"/>
            <p:nvPr/>
          </p:nvSpPr>
          <p:spPr>
            <a:xfrm>
              <a:off x="21705194" y="3377529"/>
              <a:ext cx="2314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rgbClr val="DBDBDB"/>
                  </a:solidFill>
                  <a:latin typeface="Arial Black" panose="020B0A04020102020204" pitchFamily="34" charset="0"/>
                </a:rPr>
                <a:t>8 неделя</a:t>
              </a:r>
            </a:p>
          </p:txBody>
        </p: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6EC5C0FD-A892-FFC5-FAB3-EC03AC527646}"/>
                </a:ext>
              </a:extLst>
            </p:cNvPr>
            <p:cNvCxnSpPr/>
            <p:nvPr/>
          </p:nvCxnSpPr>
          <p:spPr>
            <a:xfrm>
              <a:off x="23778128" y="3074963"/>
              <a:ext cx="434340" cy="525780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2734B28B-C07E-A550-0729-DEF708910A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4318" y="3593123"/>
              <a:ext cx="441960" cy="585559"/>
            </a:xfrm>
            <a:prstGeom prst="line">
              <a:avLst/>
            </a:prstGeom>
            <a:ln w="38100">
              <a:solidFill>
                <a:srgbClr val="ABC7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Равнобедренный треугольник 35">
              <a:extLst>
                <a:ext uri="{FF2B5EF4-FFF2-40B4-BE49-F238E27FC236}">
                  <a16:creationId xmlns:a16="http://schemas.microsoft.com/office/drawing/2014/main" id="{69FA6E00-4882-D747-6A10-2224F9E4A769}"/>
                </a:ext>
              </a:extLst>
            </p:cNvPr>
            <p:cNvSpPr/>
            <p:nvPr/>
          </p:nvSpPr>
          <p:spPr>
            <a:xfrm rot="5400000">
              <a:off x="23450006" y="3405997"/>
              <a:ext cx="1052481" cy="434341"/>
            </a:xfrm>
            <a:prstGeom prst="triangle">
              <a:avLst/>
            </a:prstGeom>
            <a:solidFill>
              <a:srgbClr val="414141"/>
            </a:solidFill>
            <a:ln>
              <a:solidFill>
                <a:srgbClr val="414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EEC10D1-F167-0A45-9180-82F40E4E46FF}"/>
              </a:ext>
            </a:extLst>
          </p:cNvPr>
          <p:cNvSpPr txBox="1"/>
          <p:nvPr/>
        </p:nvSpPr>
        <p:spPr>
          <a:xfrm>
            <a:off x="2907726" y="1410525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Коммерческая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5B7B7"/>
                </a:solidFill>
                <a:latin typeface="Arial Black" panose="020B0A04020102020204" pitchFamily="34" charset="0"/>
              </a:rPr>
              <a:t>ценность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D22264-51CD-B2BD-95C3-FDE362DF4B33}"/>
              </a:ext>
            </a:extLst>
          </p:cNvPr>
          <p:cNvSpPr txBox="1"/>
          <p:nvPr/>
        </p:nvSpPr>
        <p:spPr>
          <a:xfrm>
            <a:off x="2107629" y="2333922"/>
            <a:ext cx="78093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News Checker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 будет использовать одну из моделей коммерческих отношений - </a:t>
            </a:r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 B2C(Business-to-Consumer; 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Бизнес для покупателей</a:t>
            </a:r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)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. Этот выбор обоснован на том что обычные люди со всей нашей страны которые нуждаются в помощи с определением ненастоящей информации, будут приобретать подписку на этого бота и не беспокоится о своей проблеме.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3932F23-56EE-F297-262B-6E96D5795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7034" y="1853710"/>
            <a:ext cx="555590" cy="65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3EEB446-981B-A06A-A3BE-C626B5ACB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28180">
            <a:off x="1296374" y="5249476"/>
            <a:ext cx="663689" cy="63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0" name="Объект 9" descr="Мультипликационная рука в перчатке 2">
                <a:extLst>
                  <a:ext uri="{FF2B5EF4-FFF2-40B4-BE49-F238E27FC236}">
                    <a16:creationId xmlns:a16="http://schemas.microsoft.com/office/drawing/2014/main" id="{54B2E7AA-9F92-5137-6CA5-4E0AB76220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64054333"/>
                  </p:ext>
                </p:extLst>
              </p:nvPr>
            </p:nvGraphicFramePr>
            <p:xfrm>
              <a:off x="6103168" y="1725882"/>
              <a:ext cx="1721205" cy="1637313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721205" cy="1637313"/>
                    </a:xfrm>
                    <a:prstGeom prst="rect">
                      <a:avLst/>
                    </a:prstGeom>
                  </am3d:spPr>
                  <am3d:camera>
                    <am3d:pos x="0" y="0" z="6898717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00333" d="1000000"/>
                    <am3d:preTrans dx="6260246" dy="-17670345" dz="-1583609"/>
                    <am3d:scale>
                      <am3d:sx n="1000000" d="1000000"/>
                      <am3d:sy n="1000000" d="1000000"/>
                      <am3d:sz n="1000000" d="1000000"/>
                    </am3d:scale>
                    <am3d:rot ax="-1130946" ay="1214924" az="-404295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4819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0" name="Объект 9" descr="Мультипликационная рука в перчатке 2">
                <a:extLst>
                  <a:ext uri="{FF2B5EF4-FFF2-40B4-BE49-F238E27FC236}">
                    <a16:creationId xmlns:a16="http://schemas.microsoft.com/office/drawing/2014/main" id="{54B2E7AA-9F92-5137-6CA5-4E0AB76220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03168" y="1725882"/>
                <a:ext cx="1721205" cy="163731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1" name="Таблица 60">
            <a:extLst>
              <a:ext uri="{FF2B5EF4-FFF2-40B4-BE49-F238E27FC236}">
                <a16:creationId xmlns:a16="http://schemas.microsoft.com/office/drawing/2014/main" id="{0B6BF29E-4D9A-C3E9-D767-6B71DBA17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514269"/>
              </p:ext>
            </p:extLst>
          </p:nvPr>
        </p:nvGraphicFramePr>
        <p:xfrm>
          <a:off x="756948" y="-4652450"/>
          <a:ext cx="11002620" cy="2240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24">
                  <a:extLst>
                    <a:ext uri="{9D8B030D-6E8A-4147-A177-3AD203B41FA5}">
                      <a16:colId xmlns:a16="http://schemas.microsoft.com/office/drawing/2014/main" val="1546234424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747912534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3398370305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1513749971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2098762440"/>
                    </a:ext>
                  </a:extLst>
                </a:gridCol>
              </a:tblGrid>
              <a:tr h="48008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Время развития бота</a:t>
                      </a:r>
                    </a:p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И рекламы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Расходы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Доходы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Чистый</a:t>
                      </a:r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заработок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банковский</a:t>
                      </a:r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счёт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911551"/>
                  </a:ext>
                </a:extLst>
              </a:tr>
              <a:tr h="19866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месяца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-190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-190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4289"/>
                  </a:ext>
                </a:extLst>
              </a:tr>
              <a:tr h="4800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4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месяца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≈400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-170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93057"/>
                  </a:ext>
                </a:extLst>
              </a:tr>
              <a:tr h="4800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6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месяцев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≈700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320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70469"/>
                  </a:ext>
                </a:extLst>
              </a:tr>
            </a:tbl>
          </a:graphicData>
        </a:graphic>
      </p:graphicFrame>
      <p:graphicFrame>
        <p:nvGraphicFramePr>
          <p:cNvPr id="62" name="Таблица 61">
            <a:extLst>
              <a:ext uri="{FF2B5EF4-FFF2-40B4-BE49-F238E27FC236}">
                <a16:creationId xmlns:a16="http://schemas.microsoft.com/office/drawing/2014/main" id="{97629420-CEED-E792-849C-859516CD7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251506"/>
              </p:ext>
            </p:extLst>
          </p:nvPr>
        </p:nvGraphicFramePr>
        <p:xfrm>
          <a:off x="756948" y="-2412124"/>
          <a:ext cx="1100262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489">
                  <a:extLst>
                    <a:ext uri="{9D8B030D-6E8A-4147-A177-3AD203B41FA5}">
                      <a16:colId xmlns:a16="http://schemas.microsoft.com/office/drawing/2014/main" val="1671489502"/>
                    </a:ext>
                  </a:extLst>
                </a:gridCol>
                <a:gridCol w="2194559">
                  <a:extLst>
                    <a:ext uri="{9D8B030D-6E8A-4147-A177-3AD203B41FA5}">
                      <a16:colId xmlns:a16="http://schemas.microsoft.com/office/drawing/2014/main" val="2385424343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965176171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1559455262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2628637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8</a:t>
                      </a:r>
                      <a:r>
                        <a:rPr lang="en-US" b="0" dirty="0"/>
                        <a:t> </a:t>
                      </a:r>
                      <a:r>
                        <a:rPr lang="ru-RU" b="0" dirty="0"/>
                        <a:t>месяцев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dirty="0"/>
                        <a:t>≈700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≈1200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500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650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26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месяцев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≈700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≈1700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1000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1650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92120"/>
                  </a:ext>
                </a:extLst>
              </a:tr>
              <a:tr h="293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месяцев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≈740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≈2000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1260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2910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08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473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16 0.00996 L 0.01016 0.01019 C 0.03594 -0.01087 0.0612 -0.03425 0.08776 -0.05208 C 0.15066 -0.09444 0.21667 -0.12222 0.278 -0.17106 C 0.30391 -0.19166 0.33021 -0.21064 0.3556 -0.2331 C 0.51784 -0.37523 0.45196 -0.33078 0.58607 -0.4375 C 0.61706 -0.46226 0.70586 -0.5287 0.74401 -0.55671 C 0.78607 -0.58726 0.77396 -0.56689 0.78698 -0.59004 L 0.78698 -0.58981 " pathEditMode="relative" rAng="0" ptsTypes="AAAAAAAAA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41" y="-3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A5A34AA-B937-B751-0B57-A03A1403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ru-RU"/>
          </a:p>
        </p:txBody>
      </p:sp>
      <p:pic>
        <p:nvPicPr>
          <p:cNvPr id="5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F79BA67E-23DB-6719-8689-35EE9EB8E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9E20CCD-D2EB-60F2-2F09-5DFC9C65DFD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1" y="0"/>
            <a:chExt cx="12192000" cy="6858000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DEB5E934-1DEA-371D-EEAF-7ED4E1FAC3DE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D46E585C-C75A-0D1A-CCE8-9E2D43C076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E5D06E-A142-27F4-77AA-C8B6BC37DAFA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5B7B7"/>
                  </a:solidFill>
                  <a:latin typeface="Arial Black" panose="020B0A04020102020204" pitchFamily="34" charset="0"/>
                </a:rPr>
                <a:t>News</a:t>
              </a:r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0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E34DCB2F-BA20-6939-76D6-EFEC4F7DC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B5B33FE-E697-CDC8-D284-793D0C85CA1B}"/>
              </a:ext>
            </a:extLst>
          </p:cNvPr>
          <p:cNvSpPr txBox="1"/>
          <p:nvPr/>
        </p:nvSpPr>
        <p:spPr>
          <a:xfrm>
            <a:off x="2907726" y="1410525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Коммерческая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5B7B7"/>
                </a:solidFill>
                <a:latin typeface="Arial Black" panose="020B0A04020102020204" pitchFamily="34" charset="0"/>
              </a:rPr>
              <a:t>ценность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D0D8C-DD78-1D77-431F-578A13EE64E9}"/>
              </a:ext>
            </a:extLst>
          </p:cNvPr>
          <p:cNvSpPr txBox="1"/>
          <p:nvPr/>
        </p:nvSpPr>
        <p:spPr>
          <a:xfrm rot="663217">
            <a:off x="2727150" y="8620344"/>
            <a:ext cx="78093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News Checker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 будет использовать одну из моделей коммерческих отношений - </a:t>
            </a:r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 B2C(Business-to-Consumer; 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Бизнес для покупателей</a:t>
            </a:r>
            <a:r>
              <a:rPr lang="en-US" sz="2400" dirty="0">
                <a:solidFill>
                  <a:srgbClr val="B5B7B7"/>
                </a:solidFill>
                <a:latin typeface="Arial Black" panose="020B0A04020102020204" pitchFamily="34" charset="0"/>
              </a:rPr>
              <a:t>)</a:t>
            </a:r>
            <a:r>
              <a:rPr lang="ru-RU" sz="2400" dirty="0">
                <a:solidFill>
                  <a:srgbClr val="B5B7B7"/>
                </a:solidFill>
                <a:latin typeface="Arial Black" panose="020B0A04020102020204" pitchFamily="34" charset="0"/>
              </a:rPr>
              <a:t>. Этот выбор обоснован на том что обычные люди со всей нашей страны которые нуждаются в помощи с определением ненастоящей информации, будут приобретать подписку на этого бота и не беспокоится о своей проблеме.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13D61471-C747-19C3-6FE0-C1A80C03B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92063">
            <a:off x="10436555" y="8140132"/>
            <a:ext cx="555590" cy="65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89736333-0315-08DF-F74B-EE8483BA6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528810">
            <a:off x="1915895" y="11535898"/>
            <a:ext cx="663689" cy="63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EEC248A7-D234-4FAD-9DCC-0CB7AA9F7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670985"/>
              </p:ext>
            </p:extLst>
          </p:nvPr>
        </p:nvGraphicFramePr>
        <p:xfrm>
          <a:off x="708621" y="2605603"/>
          <a:ext cx="11002620" cy="2240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24">
                  <a:extLst>
                    <a:ext uri="{9D8B030D-6E8A-4147-A177-3AD203B41FA5}">
                      <a16:colId xmlns:a16="http://schemas.microsoft.com/office/drawing/2014/main" val="1546234424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747912534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3398370305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1513749971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2098762440"/>
                    </a:ext>
                  </a:extLst>
                </a:gridCol>
              </a:tblGrid>
              <a:tr h="48008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Время развития бота</a:t>
                      </a:r>
                    </a:p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И рекламы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Расходы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Доходы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Чистый</a:t>
                      </a:r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заработок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банковский</a:t>
                      </a:r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счёт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911551"/>
                  </a:ext>
                </a:extLst>
              </a:tr>
              <a:tr h="19866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месяца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-190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-190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4289"/>
                  </a:ext>
                </a:extLst>
              </a:tr>
              <a:tr h="4800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4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месяца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≈400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-170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93057"/>
                  </a:ext>
                </a:extLst>
              </a:tr>
              <a:tr h="4800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6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месяцев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≈700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320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70469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458C15AD-4975-66FF-94BB-9D7011AFC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247103"/>
              </p:ext>
            </p:extLst>
          </p:nvPr>
        </p:nvGraphicFramePr>
        <p:xfrm>
          <a:off x="708621" y="4845929"/>
          <a:ext cx="1100262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489">
                  <a:extLst>
                    <a:ext uri="{9D8B030D-6E8A-4147-A177-3AD203B41FA5}">
                      <a16:colId xmlns:a16="http://schemas.microsoft.com/office/drawing/2014/main" val="1671489502"/>
                    </a:ext>
                  </a:extLst>
                </a:gridCol>
                <a:gridCol w="2194559">
                  <a:extLst>
                    <a:ext uri="{9D8B030D-6E8A-4147-A177-3AD203B41FA5}">
                      <a16:colId xmlns:a16="http://schemas.microsoft.com/office/drawing/2014/main" val="2385424343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965176171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1559455262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2628637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8</a:t>
                      </a:r>
                      <a:r>
                        <a:rPr lang="en-US" b="0" dirty="0"/>
                        <a:t> </a:t>
                      </a:r>
                      <a:r>
                        <a:rPr lang="ru-RU" b="0" dirty="0"/>
                        <a:t>месяцев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dirty="0"/>
                        <a:t>≈700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≈1200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500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650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26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месяцев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≈700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≈1700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1000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1650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92120"/>
                  </a:ext>
                </a:extLst>
              </a:tr>
              <a:tr h="293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месяцев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≈740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≈2000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1260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2910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08564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Трехмерная модель 19" descr="Офисный блокнот">
                <a:extLst>
                  <a:ext uri="{FF2B5EF4-FFF2-40B4-BE49-F238E27FC236}">
                    <a16:creationId xmlns:a16="http://schemas.microsoft.com/office/drawing/2014/main" id="{E674A5DA-D754-EFB5-E308-85D09C05BA0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83653521"/>
                  </p:ext>
                </p:extLst>
              </p:nvPr>
            </p:nvGraphicFramePr>
            <p:xfrm rot="21017868">
              <a:off x="12325053" y="1665195"/>
              <a:ext cx="3402548" cy="4480225"/>
            </p:xfrm>
            <a:graphic>
              <a:graphicData uri="http://schemas.microsoft.com/office/drawing/2017/model3d">
                <am3d:model3d r:embed="rId7">
                  <am3d:spPr>
                    <a:xfrm rot="21017868">
                      <a:off x="0" y="0"/>
                      <a:ext cx="3402548" cy="4480225"/>
                    </a:xfrm>
                    <a:prstGeom prst="rect">
                      <a:avLst/>
                    </a:prstGeom>
                  </am3d:spPr>
                  <am3d:camera>
                    <am3d:pos x="0" y="0" z="599367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6563541" d="1000000"/>
                    <am3d:preTrans dx="-2" dy="-17615269" dz="38394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7984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Трехмерная модель 19" descr="Офисный блокнот">
                <a:extLst>
                  <a:ext uri="{FF2B5EF4-FFF2-40B4-BE49-F238E27FC236}">
                    <a16:creationId xmlns:a16="http://schemas.microsoft.com/office/drawing/2014/main" id="{E674A5DA-D754-EFB5-E308-85D09C05BA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1017868">
                <a:off x="12325053" y="1665195"/>
                <a:ext cx="3402548" cy="4480225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6950F3F-D61A-3B54-0EC1-B244FDB650B5}"/>
              </a:ext>
            </a:extLst>
          </p:cNvPr>
          <p:cNvSpPr/>
          <p:nvPr/>
        </p:nvSpPr>
        <p:spPr>
          <a:xfrm>
            <a:off x="12192000" y="0"/>
            <a:ext cx="355600" cy="6858000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763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7CD9C-D96A-CDC0-BA82-B14F2D11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8864A5-5FD8-844E-434D-C45CF78F7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A844B066-CC2D-9B76-04E0-8C74752C0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D3A9CAF-7CE6-C18B-CFDF-4895243896B7}"/>
              </a:ext>
            </a:extLst>
          </p:cNvPr>
          <p:cNvGrpSpPr/>
          <p:nvPr/>
        </p:nvGrpSpPr>
        <p:grpSpPr>
          <a:xfrm>
            <a:off x="7908" y="0"/>
            <a:ext cx="12192000" cy="6858000"/>
            <a:chOff x="-1" y="0"/>
            <a:chExt cx="12192000" cy="68580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8F9BB1D-7D60-BAE9-845C-717C05504A1F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E9467AA9-2814-AE61-1499-CF82D93FC5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64AFFD-FBF9-86E3-02E8-2B54BCE6F14F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5B7B7"/>
                  </a:solidFill>
                  <a:latin typeface="Arial Black" panose="020B0A04020102020204" pitchFamily="34" charset="0"/>
                </a:rPr>
                <a:t>News</a:t>
              </a:r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F67C078B-FF17-C750-8A35-CF2FE65830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01106B6-2D70-F1AF-A9AA-2B9773D5C4C1}"/>
              </a:ext>
            </a:extLst>
          </p:cNvPr>
          <p:cNvSpPr txBox="1"/>
          <p:nvPr/>
        </p:nvSpPr>
        <p:spPr>
          <a:xfrm>
            <a:off x="12187172" y="1410525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ABC7F3"/>
                </a:solidFill>
                <a:latin typeface="Arial Black" panose="020B0A04020102020204" pitchFamily="34" charset="0"/>
              </a:rPr>
              <a:t>Коммерческая</a:t>
            </a:r>
            <a:r>
              <a:rPr lang="ru-RU" sz="3200" dirty="0">
                <a:latin typeface="Arial Black" panose="020B0A04020102020204" pitchFamily="34" charset="0"/>
              </a:rPr>
              <a:t> </a:t>
            </a:r>
            <a:r>
              <a:rPr lang="ru-RU" sz="3200" dirty="0">
                <a:solidFill>
                  <a:srgbClr val="B5B7B7"/>
                </a:solidFill>
                <a:latin typeface="Arial Black" panose="020B0A04020102020204" pitchFamily="34" charset="0"/>
              </a:rPr>
              <a:t>ценность</a:t>
            </a:r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FAC300C6-B7A3-5782-FB0D-804FB2C5C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996176"/>
              </p:ext>
            </p:extLst>
          </p:nvPr>
        </p:nvGraphicFramePr>
        <p:xfrm>
          <a:off x="-8909497" y="2603273"/>
          <a:ext cx="11002620" cy="2240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24">
                  <a:extLst>
                    <a:ext uri="{9D8B030D-6E8A-4147-A177-3AD203B41FA5}">
                      <a16:colId xmlns:a16="http://schemas.microsoft.com/office/drawing/2014/main" val="1546234424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747912534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3398370305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1513749971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2098762440"/>
                    </a:ext>
                  </a:extLst>
                </a:gridCol>
              </a:tblGrid>
              <a:tr h="48008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Время развития бота</a:t>
                      </a:r>
                    </a:p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И рекламы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Расходы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Доходы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Чистый</a:t>
                      </a:r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заработок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банковский</a:t>
                      </a:r>
                    </a:p>
                    <a:p>
                      <a:pPr algn="l"/>
                      <a:r>
                        <a:rPr lang="ru-RU" dirty="0">
                          <a:solidFill>
                            <a:srgbClr val="080000"/>
                          </a:solidFill>
                        </a:rPr>
                        <a:t>счёт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911551"/>
                  </a:ext>
                </a:extLst>
              </a:tr>
              <a:tr h="19866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месяца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-190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-190 рублей</a:t>
                      </a:r>
                    </a:p>
                  </a:txBody>
                  <a:tcPr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4289"/>
                  </a:ext>
                </a:extLst>
              </a:tr>
              <a:tr h="4800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4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месяца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≈400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-170 рублей</a:t>
                      </a:r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93057"/>
                  </a:ext>
                </a:extLst>
              </a:tr>
              <a:tr h="4800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6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месяцев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≈380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≈700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320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150 рублей</a:t>
                      </a:r>
                    </a:p>
                  </a:txBody>
                  <a:tcPr>
                    <a:solidFill>
                      <a:srgbClr val="696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70469"/>
                  </a:ext>
                </a:extLst>
              </a:tr>
            </a:tbl>
          </a:graphicData>
        </a:graphic>
      </p:graphicFrame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1DECFDC3-6651-8C46-FB2C-EFC9F5AE1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851960"/>
              </p:ext>
            </p:extLst>
          </p:nvPr>
        </p:nvGraphicFramePr>
        <p:xfrm>
          <a:off x="-8909497" y="4843599"/>
          <a:ext cx="1100262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489">
                  <a:extLst>
                    <a:ext uri="{9D8B030D-6E8A-4147-A177-3AD203B41FA5}">
                      <a16:colId xmlns:a16="http://schemas.microsoft.com/office/drawing/2014/main" val="1671489502"/>
                    </a:ext>
                  </a:extLst>
                </a:gridCol>
                <a:gridCol w="2194559">
                  <a:extLst>
                    <a:ext uri="{9D8B030D-6E8A-4147-A177-3AD203B41FA5}">
                      <a16:colId xmlns:a16="http://schemas.microsoft.com/office/drawing/2014/main" val="2385424343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965176171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1559455262"/>
                    </a:ext>
                  </a:extLst>
                </a:gridCol>
                <a:gridCol w="2200524">
                  <a:extLst>
                    <a:ext uri="{9D8B030D-6E8A-4147-A177-3AD203B41FA5}">
                      <a16:colId xmlns:a16="http://schemas.microsoft.com/office/drawing/2014/main" val="2628637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8</a:t>
                      </a:r>
                      <a:r>
                        <a:rPr lang="en-US" b="0" dirty="0"/>
                        <a:t> </a:t>
                      </a:r>
                      <a:r>
                        <a:rPr lang="ru-RU" b="0" dirty="0"/>
                        <a:t>месяцев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dirty="0"/>
                        <a:t>≈700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≈1200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500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650 рублей</a:t>
                      </a:r>
                    </a:p>
                  </a:txBody>
                  <a:tcP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26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месяцев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≈700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≈1700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1000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1650 рублей</a:t>
                      </a:r>
                    </a:p>
                  </a:txBody>
                  <a:tcPr>
                    <a:solidFill>
                      <a:srgbClr val="29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92120"/>
                  </a:ext>
                </a:extLst>
              </a:tr>
              <a:tr h="293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месяцев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≈740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≈2000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1260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2910 рублей</a:t>
                      </a:r>
                    </a:p>
                  </a:txBody>
                  <a:tcPr>
                    <a:solidFill>
                      <a:srgbClr val="0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08564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Трехмерная модель 16" descr="Офисный блокнот">
                <a:extLst>
                  <a:ext uri="{FF2B5EF4-FFF2-40B4-BE49-F238E27FC236}">
                    <a16:creationId xmlns:a16="http://schemas.microsoft.com/office/drawing/2014/main" id="{F4541205-1D24-0D52-7242-C4469216E7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0618400"/>
                  </p:ext>
                </p:extLst>
              </p:nvPr>
            </p:nvGraphicFramePr>
            <p:xfrm>
              <a:off x="-900655" y="1825625"/>
              <a:ext cx="3477710" cy="446577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77710" cy="4465774"/>
                    </a:xfrm>
                    <a:prstGeom prst="rect">
                      <a:avLst/>
                    </a:prstGeom>
                  </am3d:spPr>
                  <am3d:camera>
                    <am3d:pos x="0" y="0" z="599367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6563541" d="1000000"/>
                    <am3d:preTrans dx="-2" dy="-17615269" dz="38394"/>
                    <am3d:scale>
                      <am3d:sx n="1000000" d="1000000"/>
                      <am3d:sy n="1000000" d="1000000"/>
                      <am3d:sz n="1000000" d="1000000"/>
                    </am3d:scale>
                    <am3d:rot ax="-10610199" ay="-265397" az="10785356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984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Трехмерная модель 16" descr="Офисный блокнот">
                <a:extLst>
                  <a:ext uri="{FF2B5EF4-FFF2-40B4-BE49-F238E27FC236}">
                    <a16:creationId xmlns:a16="http://schemas.microsoft.com/office/drawing/2014/main" id="{F4541205-1D24-0D52-7242-C4469216E7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900655" y="1825625"/>
                <a:ext cx="3477710" cy="4465774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AA744D2-BE6D-EF29-73FB-E2901ADC61B9}"/>
              </a:ext>
            </a:extLst>
          </p:cNvPr>
          <p:cNvSpPr/>
          <p:nvPr/>
        </p:nvSpPr>
        <p:spPr>
          <a:xfrm rot="10800000">
            <a:off x="0" y="-6872433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5269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71136F63-FFFA-8B07-B486-7160E39EF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72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2157403" y="697831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0" cap="all" dirty="0">
                <a:solidFill>
                  <a:srgbClr val="FFFFFF"/>
                </a:solidFill>
                <a:effectLst/>
                <a:latin typeface="Palatino"/>
              </a:rPr>
              <a:t>Fake Fighter GPT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12883790" y="1738647"/>
          <a:ext cx="8128000" cy="294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310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cap="all" dirty="0">
                          <a:solidFill>
                            <a:schemeClr val="tx1"/>
                          </a:solidFill>
                          <a:effectLst/>
                          <a:latin typeface="Palatino"/>
                        </a:rPr>
                        <a:t>Fake Fighter GPT</a:t>
                      </a:r>
                    </a:p>
                    <a:p>
                      <a:pPr algn="ctr"/>
                      <a:endParaRPr lang="ru-RU" dirty="0"/>
                    </a:p>
                  </a:txBody>
                  <a:tcPr>
                    <a:solidFill>
                      <a:srgbClr val="B1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highlight>
                            <a:srgbClr val="B1B2B2"/>
                          </a:highlight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1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8424">
                <a:tc>
                  <a:txBody>
                    <a:bodyPr/>
                    <a:lstStyle/>
                    <a:p>
                      <a:r>
                        <a:rPr lang="ru-RU" sz="2400" dirty="0"/>
                        <a:t>Требует подключение к </a:t>
                      </a:r>
                      <a:r>
                        <a:rPr lang="en-US" sz="2400" dirty="0"/>
                        <a:t>VPN</a:t>
                      </a:r>
                    </a:p>
                    <a:p>
                      <a:r>
                        <a:rPr lang="ru-RU" sz="2400" dirty="0"/>
                        <a:t>Нужна авторизация  в </a:t>
                      </a:r>
                      <a:r>
                        <a:rPr lang="en-US" sz="2400" dirty="0"/>
                        <a:t>ChatGPT</a:t>
                      </a:r>
                    </a:p>
                    <a:p>
                      <a:r>
                        <a:rPr lang="ru-RU" sz="2400" dirty="0"/>
                        <a:t>Более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 требует </a:t>
                      </a:r>
                      <a:r>
                        <a:rPr lang="en-US" sz="2400" dirty="0"/>
                        <a:t>VPN</a:t>
                      </a:r>
                      <a:endParaRPr lang="ru-RU" sz="2400" dirty="0"/>
                    </a:p>
                    <a:p>
                      <a:r>
                        <a:rPr lang="ru-RU" sz="2400" dirty="0"/>
                        <a:t>Не нужна авторизация</a:t>
                      </a:r>
                    </a:p>
                    <a:p>
                      <a:r>
                        <a:rPr lang="ru-RU" sz="2400" dirty="0"/>
                        <a:t>Но менее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5715" y="188391"/>
            <a:ext cx="1317914" cy="13222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AD3F78-D118-E8F1-36BF-02FA6A206A3B}"/>
              </a:ext>
            </a:extLst>
          </p:cNvPr>
          <p:cNvSpPr txBox="1"/>
          <p:nvPr/>
        </p:nvSpPr>
        <p:spPr>
          <a:xfrm>
            <a:off x="9662615" y="7001302"/>
            <a:ext cx="2528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Я не поддерживаю винипухов и всё что с ними связано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B87EC6-D7AF-DE02-6A1C-5B58AFF5B819}"/>
              </a:ext>
            </a:extLst>
          </p:cNvPr>
          <p:cNvSpPr/>
          <p:nvPr/>
        </p:nvSpPr>
        <p:spPr>
          <a:xfrm rot="10800000">
            <a:off x="0" y="8143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3741129" y="20723"/>
            <a:ext cx="4447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B3BDE4F8-9CAB-EE0C-87B9-4EF0553C9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15" y="814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D7DB343-249D-B1B2-1C7D-5C1AD47A8FC3}"/>
              </a:ext>
            </a:extLst>
          </p:cNvPr>
          <p:cNvSpPr/>
          <p:nvPr/>
        </p:nvSpPr>
        <p:spPr>
          <a:xfrm rot="10800000">
            <a:off x="-11015" y="20723"/>
            <a:ext cx="12203015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1E8C50-B710-8D47-64E1-9D174412A589}"/>
              </a:ext>
            </a:extLst>
          </p:cNvPr>
          <p:cNvSpPr txBox="1"/>
          <p:nvPr/>
        </p:nvSpPr>
        <p:spPr>
          <a:xfrm>
            <a:off x="9662615" y="7001302"/>
            <a:ext cx="2528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Я не поддерживаю винипухов и сё что с ними связано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TextBox 9"/>
          <p:cNvSpPr txBox="1"/>
          <p:nvPr/>
        </p:nvSpPr>
        <p:spPr>
          <a:xfrm>
            <a:off x="-421296" y="20723"/>
            <a:ext cx="4447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0339" y="713550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0" cap="all" dirty="0">
                <a:solidFill>
                  <a:srgbClr val="FFFFFF"/>
                </a:solidFill>
                <a:effectLst/>
                <a:latin typeface="Palatino"/>
              </a:rPr>
              <a:t>Fake Fighter GPT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266685"/>
              </p:ext>
            </p:extLst>
          </p:nvPr>
        </p:nvGraphicFramePr>
        <p:xfrm>
          <a:off x="1930040" y="1729122"/>
          <a:ext cx="8128000" cy="294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310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cap="all" dirty="0">
                          <a:solidFill>
                            <a:schemeClr val="tx1"/>
                          </a:solidFill>
                          <a:effectLst/>
                          <a:latin typeface="Palatino"/>
                        </a:rPr>
                        <a:t>Fake Fighter GPT</a:t>
                      </a:r>
                    </a:p>
                    <a:p>
                      <a:pPr algn="ctr"/>
                      <a:endParaRPr lang="ru-RU" dirty="0"/>
                    </a:p>
                  </a:txBody>
                  <a:tcPr>
                    <a:solidFill>
                      <a:srgbClr val="B1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highlight>
                            <a:srgbClr val="B1B2B2"/>
                          </a:highlight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1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8424">
                <a:tc>
                  <a:txBody>
                    <a:bodyPr/>
                    <a:lstStyle/>
                    <a:p>
                      <a:r>
                        <a:rPr lang="ru-RU" sz="2400" dirty="0"/>
                        <a:t>Требует подключение к </a:t>
                      </a:r>
                      <a:r>
                        <a:rPr lang="en-US" sz="2400" dirty="0"/>
                        <a:t>VPN</a:t>
                      </a:r>
                    </a:p>
                    <a:p>
                      <a:r>
                        <a:rPr lang="ru-RU" sz="2400" dirty="0"/>
                        <a:t>Нужна авторизация  в </a:t>
                      </a:r>
                      <a:r>
                        <a:rPr lang="en-US" sz="2400" dirty="0"/>
                        <a:t>ChatGPT</a:t>
                      </a:r>
                    </a:p>
                    <a:p>
                      <a:r>
                        <a:rPr lang="ru-RU" sz="2400" dirty="0"/>
                        <a:t>Более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 требует </a:t>
                      </a:r>
                      <a:r>
                        <a:rPr lang="en-US" sz="2400" dirty="0"/>
                        <a:t>VPN</a:t>
                      </a:r>
                      <a:endParaRPr lang="ru-RU" sz="2400" dirty="0"/>
                    </a:p>
                    <a:p>
                      <a:r>
                        <a:rPr lang="ru-RU" sz="2400" dirty="0"/>
                        <a:t>Не нужна авторизация</a:t>
                      </a:r>
                    </a:p>
                    <a:p>
                      <a:r>
                        <a:rPr lang="ru-RU" sz="2400" dirty="0"/>
                        <a:t>Но менее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" name="Рисунок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089" y="269968"/>
            <a:ext cx="1317914" cy="132223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73889" y="689737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Telegram-</a:t>
            </a:r>
            <a:r>
              <a:rPr lang="ru-RU" sz="3200" b="1" dirty="0">
                <a:solidFill>
                  <a:schemeClr val="bg1"/>
                </a:solidFill>
              </a:rPr>
              <a:t>бот </a:t>
            </a:r>
            <a:r>
              <a:rPr lang="en-US" sz="3200" b="1" dirty="0">
                <a:solidFill>
                  <a:schemeClr val="bg1"/>
                </a:solidFill>
              </a:rPr>
              <a:t>OFD.ru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27831" y="113334"/>
            <a:ext cx="1472419" cy="1477049"/>
          </a:xfrm>
          <a:prstGeom prst="rect">
            <a:avLst/>
          </a:prstGeom>
        </p:spPr>
      </p:pic>
      <p:graphicFrame>
        <p:nvGraphicFramePr>
          <p:cNvPr id="22" name="Объект 20"/>
          <p:cNvGraphicFramePr>
            <a:graphicFrameLocks noGrp="1"/>
          </p:cNvGraphicFramePr>
          <p:nvPr>
            <p:ph idx="1"/>
          </p:nvPr>
        </p:nvGraphicFramePr>
        <p:xfrm>
          <a:off x="-11620500" y="1716918"/>
          <a:ext cx="10515600" cy="360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2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Фактчек-бот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«Проверка»</a:t>
                      </a:r>
                      <a:endParaRPr lang="ru-RU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2400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2400" dirty="0">
                        <a:solidFill>
                          <a:srgbClr val="B1B2B2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2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endParaRPr lang="ru-RU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307">
                <a:tc>
                  <a:txBody>
                    <a:bodyPr/>
                    <a:lstStyle/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Проверяет только текст</a:t>
                      </a:r>
                    </a:p>
                    <a:p>
                      <a:r>
                        <a:rPr lang="ru-RU" sz="2800" dirty="0"/>
                        <a:t>Всё проверяется автоматически</a:t>
                      </a:r>
                    </a:p>
                    <a:p>
                      <a:r>
                        <a:rPr lang="ru-RU" sz="2800" dirty="0"/>
                        <a:t>Ответ приходит за несколько секунд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DC4C12-D2E5-71D2-1A11-9EF71711B10D}"/>
              </a:ext>
            </a:extLst>
          </p:cNvPr>
          <p:cNvSpPr txBox="1"/>
          <p:nvPr/>
        </p:nvSpPr>
        <p:spPr>
          <a:xfrm>
            <a:off x="9662615" y="5936774"/>
            <a:ext cx="2528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Я не поддерживаю винипухов и всё что с ними связано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2A6EF5C1-9D8A-A5E1-7693-94CA60BAC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72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B1E7BD9-0B4F-BA1D-6F5A-FF7DA0619F9D}"/>
              </a:ext>
            </a:extLst>
          </p:cNvPr>
          <p:cNvSpPr/>
          <p:nvPr/>
        </p:nvSpPr>
        <p:spPr>
          <a:xfrm rot="10800000">
            <a:off x="0" y="8143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TextBox 9"/>
          <p:cNvSpPr txBox="1"/>
          <p:nvPr/>
        </p:nvSpPr>
        <p:spPr>
          <a:xfrm>
            <a:off x="-421296" y="20723"/>
            <a:ext cx="4447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580" y="273149"/>
            <a:ext cx="45901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Фактчек-бот</a:t>
            </a:r>
            <a:r>
              <a:rPr lang="en-US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 </a:t>
            </a:r>
            <a:r>
              <a:rPr lang="ru-RU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«Проверка»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-9061450" y="1788249"/>
          <a:ext cx="8128000" cy="363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840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cap="all" dirty="0">
                          <a:solidFill>
                            <a:schemeClr val="tx1"/>
                          </a:solidFill>
                          <a:effectLst/>
                          <a:latin typeface="Palatino"/>
                        </a:rPr>
                        <a:t>Fake Fighter GPT</a:t>
                      </a:r>
                    </a:p>
                    <a:p>
                      <a:pPr algn="ctr"/>
                      <a:endParaRPr lang="ru-RU" dirty="0"/>
                    </a:p>
                  </a:txBody>
                  <a:tcPr>
                    <a:solidFill>
                      <a:srgbClr val="B1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highlight>
                            <a:srgbClr val="B1B2B2"/>
                          </a:highlight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1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3165">
                <a:tc>
                  <a:txBody>
                    <a:bodyPr/>
                    <a:lstStyle/>
                    <a:p>
                      <a:r>
                        <a:rPr lang="ru-RU" sz="2400" dirty="0"/>
                        <a:t>Требует подключение к </a:t>
                      </a:r>
                      <a:r>
                        <a:rPr lang="en-US" sz="2400" dirty="0"/>
                        <a:t>VPN</a:t>
                      </a:r>
                    </a:p>
                    <a:p>
                      <a:r>
                        <a:rPr lang="ru-RU" sz="2400" dirty="0"/>
                        <a:t>Нужна авторизация  в </a:t>
                      </a:r>
                      <a:r>
                        <a:rPr lang="en-US" sz="2400" dirty="0"/>
                        <a:t>ChatGPT</a:t>
                      </a:r>
                    </a:p>
                    <a:p>
                      <a:r>
                        <a:rPr lang="ru-RU" sz="2400" dirty="0"/>
                        <a:t>Более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 требует </a:t>
                      </a:r>
                      <a:r>
                        <a:rPr lang="en-US" sz="2400" dirty="0"/>
                        <a:t>VPN</a:t>
                      </a:r>
                      <a:endParaRPr lang="ru-RU" sz="2400" dirty="0"/>
                    </a:p>
                    <a:p>
                      <a:r>
                        <a:rPr lang="ru-RU" sz="2400" dirty="0"/>
                        <a:t>Не нужна авторизация</a:t>
                      </a:r>
                    </a:p>
                    <a:p>
                      <a:r>
                        <a:rPr lang="ru-RU" sz="2400" dirty="0"/>
                        <a:t>Но менее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581" y="113334"/>
            <a:ext cx="1472419" cy="1477049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51316" y="190740"/>
            <a:ext cx="1317914" cy="1322235"/>
          </a:xfrm>
          <a:prstGeom prst="rect">
            <a:avLst/>
          </a:prstGeom>
        </p:spPr>
      </p:pic>
      <p:graphicFrame>
        <p:nvGraphicFramePr>
          <p:cNvPr id="21" name="Объект 20"/>
          <p:cNvGraphicFramePr>
            <a:graphicFrameLocks noGrp="1"/>
          </p:cNvGraphicFramePr>
          <p:nvPr>
            <p:ph idx="1"/>
          </p:nvPr>
        </p:nvGraphicFramePr>
        <p:xfrm>
          <a:off x="838200" y="1793118"/>
          <a:ext cx="10515600" cy="360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2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Фактчек-бот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«Проверка»</a:t>
                      </a:r>
                      <a:endParaRPr lang="ru-RU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2400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2400" dirty="0">
                        <a:solidFill>
                          <a:srgbClr val="B1B2B2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2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endParaRPr lang="ru-RU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307">
                <a:tc>
                  <a:txBody>
                    <a:bodyPr/>
                    <a:lstStyle/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Проверяет только текст</a:t>
                      </a:r>
                    </a:p>
                    <a:p>
                      <a:r>
                        <a:rPr lang="ru-RU" sz="2800" dirty="0"/>
                        <a:t>Всё проверяется автоматически</a:t>
                      </a:r>
                    </a:p>
                    <a:p>
                      <a:r>
                        <a:rPr lang="ru-RU" sz="2800" dirty="0"/>
                        <a:t>Ответ приходит за несколько секунд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371" y="7305683"/>
            <a:ext cx="1355558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Объект 17" descr="Хлопать в ладоши со сплошной заливкой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282408">
            <a:off x="4513252" y="7541954"/>
            <a:ext cx="1162163" cy="1162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FED6EA-DBAF-2B71-1FD8-539170ADE717}"/>
              </a:ext>
            </a:extLst>
          </p:cNvPr>
          <p:cNvSpPr txBox="1"/>
          <p:nvPr/>
        </p:nvSpPr>
        <p:spPr>
          <a:xfrm>
            <a:off x="14352598" y="289071"/>
            <a:ext cx="45901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Фактчек-бот</a:t>
            </a:r>
            <a:r>
              <a:rPr lang="en-US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 </a:t>
            </a:r>
            <a:r>
              <a:rPr lang="ru-RU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«Проверка»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94E19-0C82-E013-3AD8-9003C4667823}"/>
              </a:ext>
            </a:extLst>
          </p:cNvPr>
          <p:cNvSpPr txBox="1"/>
          <p:nvPr/>
        </p:nvSpPr>
        <p:spPr>
          <a:xfrm>
            <a:off x="9662615" y="7001302"/>
            <a:ext cx="2528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Я не поддерживаю винипухов и всё что с ними связано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B45B10CB-F0DE-F9DC-0347-25D20EB19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72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3B4B0A3-76C0-1090-1D91-685BFBF71645}"/>
              </a:ext>
            </a:extLst>
          </p:cNvPr>
          <p:cNvSpPr/>
          <p:nvPr/>
        </p:nvSpPr>
        <p:spPr>
          <a:xfrm rot="10800000">
            <a:off x="0" y="8143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TextBox 9"/>
          <p:cNvSpPr txBox="1"/>
          <p:nvPr/>
        </p:nvSpPr>
        <p:spPr>
          <a:xfrm>
            <a:off x="-421296" y="20723"/>
            <a:ext cx="4447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7639" y="276644"/>
            <a:ext cx="36227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Фактчек-бот</a:t>
            </a:r>
            <a:r>
              <a:rPr lang="en-US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 </a:t>
            </a:r>
            <a:r>
              <a:rPr lang="ru-RU" sz="3200" b="1" dirty="0">
                <a:solidFill>
                  <a:srgbClr val="DBDBDB"/>
                </a:solidFill>
                <a:latin typeface="Arial Black" panose="020B0A04020102020204" pitchFamily="34" charset="0"/>
              </a:rPr>
              <a:t>«Проверка»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581" y="113334"/>
            <a:ext cx="1472419" cy="1477049"/>
          </a:xfrm>
          <a:prstGeom prst="rect">
            <a:avLst/>
          </a:prstGeom>
        </p:spPr>
      </p:pic>
      <p:graphicFrame>
        <p:nvGraphicFramePr>
          <p:cNvPr id="16" name="Объект 20"/>
          <p:cNvGraphicFramePr/>
          <p:nvPr/>
        </p:nvGraphicFramePr>
        <p:xfrm>
          <a:off x="838200" y="1793118"/>
          <a:ext cx="10515600" cy="360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2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Фактчек-бот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«Проверка»</a:t>
                      </a:r>
                      <a:endParaRPr lang="ru-RU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2400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2400" dirty="0">
                        <a:solidFill>
                          <a:srgbClr val="B1B2B2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2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endParaRPr lang="ru-RU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307">
                <a:tc>
                  <a:txBody>
                    <a:bodyPr/>
                    <a:lstStyle/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Проверяет только текст</a:t>
                      </a:r>
                    </a:p>
                    <a:p>
                      <a:r>
                        <a:rPr lang="ru-RU" sz="2800" dirty="0"/>
                        <a:t>Всё проверяется автоматически</a:t>
                      </a:r>
                    </a:p>
                    <a:p>
                      <a:r>
                        <a:rPr lang="ru-RU" sz="2800" dirty="0"/>
                        <a:t>Ответ приходит за несколько секунд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71" y="2943404"/>
            <a:ext cx="1355558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Объект 17" descr="Хлопать в ладоши со сплошной заливкой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282408">
            <a:off x="5694352" y="3179675"/>
            <a:ext cx="1162163" cy="1162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CAC589-6193-0C9B-A669-C6E39A8D3824}"/>
              </a:ext>
            </a:extLst>
          </p:cNvPr>
          <p:cNvSpPr txBox="1"/>
          <p:nvPr/>
        </p:nvSpPr>
        <p:spPr>
          <a:xfrm>
            <a:off x="4233647" y="-785789"/>
            <a:ext cx="4634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B1B2B2"/>
                </a:solidFill>
                <a:latin typeface="Arial Black" panose="020B0A04020102020204" pitchFamily="34" charset="0"/>
              </a:rPr>
              <a:t>Спасибо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AF50AC-0D50-4837-7295-5A069575FD96}"/>
              </a:ext>
            </a:extLst>
          </p:cNvPr>
          <p:cNvSpPr txBox="1"/>
          <p:nvPr/>
        </p:nvSpPr>
        <p:spPr>
          <a:xfrm>
            <a:off x="4087669" y="6916529"/>
            <a:ext cx="3812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ABC7F3"/>
                </a:solidFill>
                <a:latin typeface="Arial Black" panose="020B0A04020102020204" pitchFamily="34" charset="0"/>
              </a:rPr>
              <a:t>За внимание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3803 -0.03797 -0.0767 -0.07824 -0.11719 -0.10579 C -0.21016 -0.16829 -0.11094 -0.1 -0.22344 -0.18334 C -0.2629 -0.21273 -0.30378 -0.23635 -0.34219 -0.26968 C -0.35834 -0.28357 -0.37474 -0.29653 -0.39063 -0.31111 C -0.41902 -0.33727 -0.44623 -0.36713 -0.475 -0.39167 L -0.51407 -0.42523 C -0.51784 -0.42848 -0.525 -0.42871 -0.525 -0.43611 C -0.525 -0.44329 -0.51758 -0.43125 -0.51407 -0.42778 C -0.49987 -0.41366 -0.48529 -0.40023 -0.47188 -0.38334 C -0.41602 -0.3125 -0.4862 -0.40023 -0.425 -0.32778 C -0.41602 -0.31713 -0.40717 -0.30602 -0.39844 -0.29445 C -0.38425 -0.27547 -0.3711 -0.25371 -0.35625 -0.23635 C -0.33008 -0.2051 -0.29219 -0.15857 -0.2625 -0.12778 C -0.18165 -0.04422 -0.19584 -0.06297 -0.09688 0.02477 C 0.01028 0.12014 -0.14402 -0.00903 0.03906 0.13889 C 0.05364 0.15069 0.06783 0.16435 0.08281 0.17477 C 0.09843 0.18588 0.11406 0.19652 0.12968 0.2081 C 0.20052 0.26134 0.20377 0.27361 0.29531 0.325 C 0.32695 0.34259 0.31484 0.33703 0.33125 0.34421 C 0.32968 0.33611 0.32864 0.32708 0.32656 0.31944 C 0.322 0.30347 0.30989 0.27407 0.30312 0.26111 C 0.2858 0.22847 0.25585 0.175 0.23437 0.14699 C 0.1944 0.0956 0.18216 0.09305 0.15 0.04166 C 0.14361 0.03148 0.13893 0.01852 0.13281 0.00833 C 0.09192 -0.06135 0.05143 -0.11482 0.01718 -0.19723 C -0.01446 -0.27338 -0.01537 -0.2801 -0.05938 -0.35834 C -0.09167 -0.41574 -0.08894 -0.42292 -0.11719 -0.45 C -0.11875 -0.45139 -0.12032 -0.45255 -0.12188 -0.45301 C -0.13907 -0.45718 -0.15639 -0.45996 -0.17344 -0.46412 C -0.18034 -0.46551 -0.18698 -0.46783 -0.19375 -0.46968 C -0.18386 -0.45186 -0.17422 -0.43403 -0.16407 -0.41667 C -0.14935 -0.39144 -0.14597 -0.39121 -0.13282 -0.36111 C -0.12878 -0.35162 -0.12644 -0.33959 -0.12188 -0.33079 C -0.11719 -0.32153 -0.03425 -0.16875 -0.01719 -0.14445 C -0.00105 -0.1213 0.01432 -0.09653 0.03125 -0.07523 C 0.06536 -0.03172 0.10091 0.00833 0.13593 0.04977 C 0.19947 0.12523 0.16718 0.08333 0.20468 0.13333 C 0.2052 0.13611 0.20546 0.13889 0.20625 0.14143 C 0.21028 0.15602 0.21341 0.14768 0.19843 0.15532 C 0.16562 0.12199 0.13177 0.09143 0.1 0.05532 C 0.08281 0.03611 0.06614 0.01504 0.04843 -0.00278 C 0.01445 -0.03704 -0.02058 -0.06713 -0.05469 -0.10023 C -0.06954 -0.11436 -0.08373 -0.1301 -0.09844 -0.14445 C -0.11602 -0.16158 -0.1349 -0.17477 -0.15157 -0.19468 C -0.25469 -0.31667 -0.17123 -0.22107 -0.32813 -0.38334 C -0.34558 -0.40139 -0.3612 -0.42523 -0.37969 -0.43912 C -0.43125 -0.47732 -0.41159 -0.46528 -0.4375 -0.48056 C -0.46003 -0.50926 -0.43816 -0.47894 -0.45625 -0.51135 C -0.45977 -0.51736 -0.46381 -0.52199 -0.46719 -0.52778 C -0.48998 -0.56574 -0.48764 -0.57246 -0.52344 -0.61389 C -0.5323 -0.62408 -0.54154 -0.63311 -0.54987 -0.64445 C -0.55665 -0.65324 -0.55612 -0.64815 -0.55612 -0.65556 L -0.55612 -0.65556 L -0.55612 -0.65556 " pathEditMode="relative" ptsTypes="AAAAAAAAAAAAAAAAAAAAAAAAAAAAAAAAAAAAAAAAAAAAAAAAAAAAAAAA">
                                      <p:cBhvr>
                                        <p:cTn id="6" dur="2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3803 -0.03797 -0.0767 -0.07824 -0.11719 -0.10579 C -0.21016 -0.16829 -0.11094 -0.1 -0.22344 -0.18334 C -0.2629 -0.21273 -0.30378 -0.23635 -0.34219 -0.26968 C -0.35834 -0.28357 -0.37474 -0.29653 -0.39063 -0.31111 C -0.41902 -0.33727 -0.44623 -0.36713 -0.475 -0.39167 L -0.51407 -0.42523 C -0.51784 -0.42848 -0.525 -0.42871 -0.525 -0.43611 C -0.525 -0.44329 -0.51758 -0.43125 -0.51407 -0.42778 C -0.49987 -0.41366 -0.48529 -0.40023 -0.47188 -0.38334 C -0.41602 -0.3125 -0.4862 -0.40023 -0.425 -0.32778 C -0.41602 -0.31713 -0.40717 -0.30602 -0.39844 -0.29445 C -0.38425 -0.27547 -0.3711 -0.25371 -0.35625 -0.23635 C -0.33008 -0.2051 -0.29219 -0.15857 -0.2625 -0.12778 C -0.18165 -0.04422 -0.19584 -0.06297 -0.09688 0.02477 C 0.01028 0.12014 -0.14402 -0.00903 0.03906 0.13889 C 0.05364 0.15069 0.06783 0.16435 0.08281 0.17477 C 0.09843 0.18588 0.11406 0.19652 0.12968 0.2081 C 0.20052 0.26134 0.20377 0.27361 0.29531 0.325 C 0.32695 0.34259 0.31484 0.33703 0.33125 0.34421 C 0.32968 0.33611 0.32864 0.32708 0.32656 0.31944 C 0.322 0.30347 0.30989 0.27407 0.30312 0.26111 C 0.2858 0.22847 0.25585 0.175 0.23437 0.14699 C 0.1944 0.0956 0.18216 0.09305 0.15 0.04166 C 0.14361 0.03148 0.13893 0.01852 0.13281 0.00833 C 0.09192 -0.06135 0.05143 -0.11482 0.01718 -0.19723 C -0.01446 -0.27338 -0.01537 -0.2801 -0.05938 -0.35834 C -0.09167 -0.41574 -0.08894 -0.42292 -0.11719 -0.45 C -0.11875 -0.45139 -0.12032 -0.45255 -0.12188 -0.45301 C -0.13907 -0.45718 -0.15639 -0.45996 -0.17344 -0.46412 C -0.18034 -0.46551 -0.18698 -0.46783 -0.19375 -0.46968 C -0.18386 -0.45186 -0.17422 -0.43403 -0.16407 -0.41667 C -0.14935 -0.39144 -0.14597 -0.39121 -0.13282 -0.36111 C -0.12878 -0.35162 -0.12644 -0.33959 -0.12188 -0.33079 C -0.11719 -0.32153 -0.03425 -0.16875 -0.01719 -0.14445 C -0.00105 -0.1213 0.01432 -0.09653 0.03125 -0.07523 C 0.06536 -0.03172 0.10091 0.00833 0.13593 0.04977 C 0.19947 0.12523 0.16718 0.08333 0.20468 0.13333 C 0.2052 0.13611 0.20546 0.13889 0.20625 0.14143 C 0.21028 0.15602 0.21341 0.14768 0.19843 0.15532 C 0.16562 0.12199 0.13177 0.09143 0.1 0.05532 C 0.08281 0.03611 0.06614 0.01504 0.04843 -0.00278 C 0.01445 -0.03704 -0.02058 -0.06713 -0.05469 -0.10023 C -0.06954 -0.11436 -0.08373 -0.1301 -0.09844 -0.14445 C -0.11602 -0.16158 -0.1349 -0.17477 -0.15157 -0.19468 C -0.25469 -0.31667 -0.17123 -0.22107 -0.32813 -0.38334 C -0.34558 -0.40139 -0.3612 -0.42523 -0.37969 -0.43912 C -0.43125 -0.47732 -0.41159 -0.46528 -0.4375 -0.48056 C -0.46003 -0.50926 -0.43816 -0.47894 -0.45625 -0.51135 C -0.45977 -0.51736 -0.46381 -0.52199 -0.46719 -0.52778 C -0.48998 -0.56574 -0.48764 -0.57246 -0.52344 -0.61389 C -0.5323 -0.62408 -0.54154 -0.63311 -0.54987 -0.64445 C -0.55665 -0.65324 -0.55612 -0.64815 -0.55612 -0.65556 L -0.55612 -0.65556 L -0.55612 -0.65556 " pathEditMode="relative" ptsTypes="AAAAAAAAAAAAAAAAAAAAAAAAAAAAAAAAAAAAAAAAAAAAAAAAAAAAAAAA">
                                      <p:cBhvr>
                                        <p:cTn id="8" dur="2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7B44CF99-03E9-9B21-8473-25C73216B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-101960" y="2659520"/>
            <a:ext cx="12192000" cy="6858000"/>
            <a:chOff x="-1" y="0"/>
            <a:chExt cx="12192000" cy="6858000"/>
          </a:xfrm>
          <a:noFill/>
        </p:grpSpPr>
        <p:sp>
          <p:nvSpPr>
            <p:cNvPr id="8" name="Прямоугольник 7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10" name="TextBox 9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1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2" name="TextBox 11"/>
          <p:cNvSpPr txBox="1"/>
          <p:nvPr/>
        </p:nvSpPr>
        <p:spPr>
          <a:xfrm>
            <a:off x="4233647" y="2244021"/>
            <a:ext cx="4634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B1B2B2"/>
                </a:solidFill>
                <a:latin typeface="Arial Black" panose="020B0A04020102020204" pitchFamily="34" charset="0"/>
              </a:rPr>
              <a:t>Спасибо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669" y="3859422"/>
            <a:ext cx="3812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ABC7F3"/>
                </a:solidFill>
                <a:latin typeface="Arial Black" panose="020B0A04020102020204" pitchFamily="34" charset="0"/>
              </a:rPr>
              <a:t>За внимание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1407</Words>
  <Application>Microsoft Office PowerPoint</Application>
  <PresentationFormat>Широкоэкранный</PresentationFormat>
  <Paragraphs>363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Palatino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????????? ????????</cp:lastModifiedBy>
  <cp:revision>26</cp:revision>
  <dcterms:created xsi:type="dcterms:W3CDTF">2026-03-21T05:58:00Z</dcterms:created>
  <dcterms:modified xsi:type="dcterms:W3CDTF">2026-05-01T07:25:29Z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DA805FF1696B4EFCBDE2C435A5E25F0F_12</vt:lpwstr>
  </property>
  <property fmtid="{D5CDD505-2E9C-101B-9397-08002B2CF9AE}" pid="3" name="KSOProductBuildVer">
    <vt:lpwstr>1049-12.2.0.23196</vt:lpwstr>
  </property>
</Properties>
</file>