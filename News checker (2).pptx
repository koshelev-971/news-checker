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6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BC7F3"/>
    <a:srgbClr val="B1B2B2"/>
    <a:srgbClr val="696A6A"/>
    <a:srgbClr val="080000"/>
    <a:srgbClr val="B5B7B7"/>
    <a:srgbClr val="5E5E5E"/>
    <a:srgbClr val="29262B"/>
    <a:srgbClr val="DBDBDB"/>
    <a:srgbClr val="01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66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6" Type="http://schemas.openxmlformats.org/officeDocument/2006/relationships/tableStyles" Target="tableStyles.xml"/><Relationship Id="rId25" Type="http://schemas.openxmlformats.org/officeDocument/2006/relationships/viewProps" Target="viewProps.xml"/><Relationship Id="rId24" Type="http://schemas.openxmlformats.org/officeDocument/2006/relationships/presProps" Target="presProps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8FDCDC-D517-4D9C-97EE-253DDD2A2229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1FE81A-9D53-4809-B048-C31B756A1F81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8.png"/><Relationship Id="rId7" Type="http://schemas.openxmlformats.org/officeDocument/2006/relationships/image" Target="../media/image7.png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8.png"/><Relationship Id="rId8" Type="http://schemas.openxmlformats.org/officeDocument/2006/relationships/image" Target="../media/image9.png"/><Relationship Id="rId7" Type="http://schemas.openxmlformats.org/officeDocument/2006/relationships/image" Target="../media/image5.png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0" Type="http://schemas.openxmlformats.org/officeDocument/2006/relationships/slideLayout" Target="../slideLayouts/slideLayout2.xml"/><Relationship Id="rId1" Type="http://schemas.openxmlformats.org/officeDocument/2006/relationships/image" Target="../media/image1.jpeg"/></Relationships>
</file>

<file path=ppt/slides/_rels/slide5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8.png"/><Relationship Id="rId4" Type="http://schemas.openxmlformats.org/officeDocument/2006/relationships/image" Target="../media/image9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2.png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2.xml"/><Relationship Id="rId8" Type="http://schemas.openxmlformats.org/officeDocument/2006/relationships/image" Target="../media/image14.png"/><Relationship Id="rId7" Type="http://schemas.openxmlformats.org/officeDocument/2006/relationships/image" Target="../media/image13.png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4.png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9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1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jpeg"/></Relationships>
</file>

<file path=ppt/slides/_rels/slide14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2.xml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7" Type="http://schemas.openxmlformats.org/officeDocument/2006/relationships/image" Target="../media/image19.svg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5.png"/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6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/>
          <p:cNvSpPr txBox="1"/>
          <p:nvPr/>
        </p:nvSpPr>
        <p:spPr>
          <a:xfrm>
            <a:off x="7826375" y="69675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>
                <a:solidFill>
                  <a:srgbClr val="080000"/>
                </a:solidFill>
              </a:rPr>
              <a:t>Кошелев Михаил ИИ-71</a:t>
            </a:r>
            <a:endParaRPr lang="ru-RU" sz="2800">
              <a:solidFill>
                <a:srgbClr val="080000"/>
              </a:solidFill>
            </a:endParaRPr>
          </a:p>
        </p:txBody>
      </p:sp>
      <p:grpSp>
        <p:nvGrpSpPr>
          <p:cNvPr id="4" name="Группа 3"/>
          <p:cNvGrpSpPr/>
          <p:nvPr/>
        </p:nvGrpSpPr>
        <p:grpSpPr>
          <a:xfrm>
            <a:off x="-939115" y="-4819135"/>
            <a:ext cx="14461439" cy="11677135"/>
            <a:chOff x="-1" y="0"/>
            <a:chExt cx="12192000" cy="6858000"/>
          </a:xfrm>
        </p:grpSpPr>
        <p:sp>
          <p:nvSpPr>
            <p:cNvPr id="5" name="Прямоугольник 4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2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3" name="TextBox 12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5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839210" y="1546225"/>
            <a:ext cx="10515600" cy="1325563"/>
          </a:xfrm>
        </p:spPr>
        <p:txBody>
          <a:bodyPr>
            <a:noAutofit/>
          </a:bodyPr>
          <a:lstStyle/>
          <a:p>
            <a:endParaRPr lang="ru-RU" altLang="en-US" sz="9600">
              <a:solidFill>
                <a:srgbClr val="696A6A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2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Группа 9"/>
          <p:cNvGrpSpPr/>
          <p:nvPr/>
        </p:nvGrpSpPr>
        <p:grpSpPr>
          <a:xfrm>
            <a:off x="0" y="0"/>
            <a:ext cx="12192000" cy="6858000"/>
            <a:chOff x="-1" y="0"/>
            <a:chExt cx="12192000" cy="6858000"/>
          </a:xfrm>
        </p:grpSpPr>
        <p:sp>
          <p:nvSpPr>
            <p:cNvPr id="9" name="Прямоугольник 8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26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TextBox 4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6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4" name="TextBox 13"/>
          <p:cNvSpPr txBox="1"/>
          <p:nvPr/>
        </p:nvSpPr>
        <p:spPr>
          <a:xfrm>
            <a:off x="7826375" y="63833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>
                <a:solidFill>
                  <a:srgbClr val="DBDBDB"/>
                </a:solidFill>
              </a:rPr>
              <a:t>Кошелев Михаил ИИ-71</a:t>
            </a:r>
            <a:endParaRPr lang="ru-RU" sz="2800">
              <a:solidFill>
                <a:srgbClr val="DBDBDB"/>
              </a:solidFill>
            </a:endParaRPr>
          </a:p>
        </p:txBody>
      </p:sp>
      <p:pic>
        <p:nvPicPr>
          <p:cNvPr id="20" name="Picture 2" descr="https://dead-god.ru/wp-content/uploads/2021/11/29-3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21" y="7453824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https://dead-god.ru/wp-content/uploads/2021/11/50-2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10447581" y="9621709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Рисунок 21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780547" y="4844404"/>
            <a:ext cx="1352739" cy="134321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-1856514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  <a:endParaRPr lang="ru-RU">
              <a:solidFill>
                <a:srgbClr val="DBDBDB"/>
              </a:solidFill>
            </a:endParaRP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-3493041" y="4806304"/>
            <a:ext cx="1390844" cy="1400370"/>
          </a:xfrm>
          <a:prstGeom prst="rect">
            <a:avLst/>
          </a:prstGeom>
        </p:spPr>
      </p:pic>
      <p:sp>
        <p:nvSpPr>
          <p:cNvPr id="25" name="Прямоугольник 24"/>
          <p:cNvSpPr/>
          <p:nvPr/>
        </p:nvSpPr>
        <p:spPr>
          <a:xfrm>
            <a:off x="-3493041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  <a:endParaRPr lang="ru-RU">
              <a:solidFill>
                <a:srgbClr val="ABC7F3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217560" y="8390538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5" name="Группа 24"/>
          <p:cNvGrpSpPr/>
          <p:nvPr/>
        </p:nvGrpSpPr>
        <p:grpSpPr>
          <a:xfrm>
            <a:off x="0" y="-20135"/>
            <a:ext cx="12192000" cy="6962504"/>
            <a:chOff x="-1" y="0"/>
            <a:chExt cx="12192000" cy="6858000"/>
          </a:xfrm>
        </p:grpSpPr>
        <p:sp>
          <p:nvSpPr>
            <p:cNvPr id="26" name="Прямоугольник 25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7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8" name="TextBox 27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9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1" name="TextBox 10"/>
          <p:cNvSpPr txBox="1"/>
          <p:nvPr/>
        </p:nvSpPr>
        <p:spPr>
          <a:xfrm>
            <a:off x="7826375" y="6383337"/>
            <a:ext cx="56959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rgbClr val="ABC7F3"/>
                </a:solidFill>
              </a:rPr>
              <a:t>Кошелев Михаил ИИ-71</a:t>
            </a:r>
            <a:endParaRPr lang="ru-RU" sz="2800" dirty="0">
              <a:solidFill>
                <a:srgbClr val="ABC7F3"/>
              </a:solidFill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0" y="-682354"/>
            <a:ext cx="11344643" cy="6962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6" name="Прямая соединительная линия 15"/>
          <p:cNvCxnSpPr/>
          <p:nvPr/>
        </p:nvCxnSpPr>
        <p:spPr>
          <a:xfrm>
            <a:off x="5904411" y="1324872"/>
            <a:ext cx="0" cy="608430"/>
          </a:xfrm>
          <a:prstGeom prst="line">
            <a:avLst/>
          </a:prstGeom>
          <a:ln w="76200">
            <a:solidFill>
              <a:srgbClr val="B1B2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74" name="Picture 2" descr="https://dead-god.ru/wp-content/uploads/2021/11/29-3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1021" y="1324873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https://dead-god.ru/wp-content/uploads/2021/11/50-2.png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10447581" y="3492758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Рисунок 1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7112" y="4844404"/>
            <a:ext cx="1352739" cy="134321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1145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  <a:endParaRPr lang="ru-RU">
              <a:solidFill>
                <a:srgbClr val="DBDBDB"/>
              </a:solidFill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919227" y="4806304"/>
            <a:ext cx="1390844" cy="1400370"/>
          </a:xfrm>
          <a:prstGeom prst="rect">
            <a:avLst/>
          </a:prstGeom>
        </p:spPr>
      </p:pic>
      <p:sp>
        <p:nvSpPr>
          <p:cNvPr id="21" name="Прямоугольник 20"/>
          <p:cNvSpPr/>
          <p:nvPr/>
        </p:nvSpPr>
        <p:spPr>
          <a:xfrm>
            <a:off x="1919227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  <a:endParaRPr lang="ru-RU">
              <a:solidFill>
                <a:srgbClr val="ABC7F3"/>
              </a:solidFill>
            </a:endParaRPr>
          </a:p>
        </p:txBody>
      </p:sp>
      <p:sp>
        <p:nvSpPr>
          <p:cNvPr id="30" name="Прямоугольник 29"/>
          <p:cNvSpPr/>
          <p:nvPr/>
        </p:nvSpPr>
        <p:spPr>
          <a:xfrm>
            <a:off x="12170002" y="-20135"/>
            <a:ext cx="14461439" cy="6926692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3" name="Группа 32"/>
          <p:cNvGrpSpPr/>
          <p:nvPr/>
        </p:nvGrpSpPr>
        <p:grpSpPr>
          <a:xfrm>
            <a:off x="12195599" y="288372"/>
            <a:ext cx="3315406" cy="30171114"/>
            <a:chOff x="9531908" y="-188712"/>
            <a:chExt cx="3315406" cy="30171114"/>
          </a:xfrm>
        </p:grpSpPr>
        <p:grpSp>
          <p:nvGrpSpPr>
            <p:cNvPr id="34" name="Группа 33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7" name="Группа 36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39" name="Группа 38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41" name="Прямоугольник 40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42" name="TextBox 41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40" name="TextBox 39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38" name="TextBox 37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35" name="TextBox 34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43" name="Прямоугольник 42"/>
          <p:cNvSpPr/>
          <p:nvPr/>
        </p:nvSpPr>
        <p:spPr>
          <a:xfrm>
            <a:off x="12194870" y="-2146852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1217560" y="2112831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89595" y="7150776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3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53213">
            <a:off x="8309023" y="7135498"/>
            <a:ext cx="582226" cy="748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" name="Группа 1"/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Прямоугольник 12"/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Прямоугольник 17"/>
          <p:cNvSpPr/>
          <p:nvPr/>
        </p:nvSpPr>
        <p:spPr>
          <a:xfrm>
            <a:off x="-11664783" y="-682354"/>
            <a:ext cx="11344643" cy="696250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0" name="Прямая соединительная линия 19"/>
          <p:cNvCxnSpPr/>
          <p:nvPr/>
        </p:nvCxnSpPr>
        <p:spPr>
          <a:xfrm>
            <a:off x="-6481341" y="1324873"/>
            <a:ext cx="0" cy="608430"/>
          </a:xfrm>
          <a:prstGeom prst="line">
            <a:avLst/>
          </a:prstGeom>
          <a:ln w="76200">
            <a:solidFill>
              <a:srgbClr val="B1B2B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Рисунок 2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1517671" y="4844404"/>
            <a:ext cx="1352739" cy="13432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-11593638" y="6225519"/>
            <a:ext cx="17769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>
                <a:solidFill>
                  <a:srgbClr val="DBDBDB"/>
                </a:solidFill>
              </a:rPr>
              <a:t>Спрайты для презентации</a:t>
            </a:r>
            <a:endParaRPr lang="ru-RU">
              <a:solidFill>
                <a:srgbClr val="DBDBDB"/>
              </a:solidFill>
            </a:endParaRP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9745556" y="4806304"/>
            <a:ext cx="1390844" cy="1400370"/>
          </a:xfrm>
          <a:prstGeom prst="rect">
            <a:avLst/>
          </a:prstGeom>
        </p:spPr>
      </p:pic>
      <p:sp>
        <p:nvSpPr>
          <p:cNvPr id="26" name="Прямоугольник 25"/>
          <p:cNvSpPr/>
          <p:nvPr/>
        </p:nvSpPr>
        <p:spPr>
          <a:xfrm>
            <a:off x="-9745556" y="6311900"/>
            <a:ext cx="14612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>
                <a:solidFill>
                  <a:srgbClr val="ABC7F3"/>
                </a:solidFill>
              </a:rPr>
              <a:t>Репозиторий</a:t>
            </a:r>
            <a:endParaRPr lang="ru-RU">
              <a:solidFill>
                <a:srgbClr val="ABC7F3"/>
              </a:solidFill>
            </a:endParaRPr>
          </a:p>
        </p:txBody>
      </p:sp>
      <p:grpSp>
        <p:nvGrpSpPr>
          <p:cNvPr id="42" name="Группа 41"/>
          <p:cNvGrpSpPr/>
          <p:nvPr/>
        </p:nvGrpSpPr>
        <p:grpSpPr>
          <a:xfrm>
            <a:off x="9531908" y="288372"/>
            <a:ext cx="3315406" cy="30171114"/>
            <a:chOff x="9531908" y="-188712"/>
            <a:chExt cx="3315406" cy="30171114"/>
          </a:xfrm>
        </p:grpSpPr>
        <p:grpSp>
          <p:nvGrpSpPr>
            <p:cNvPr id="39" name="Группа 38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8" name="Группа 37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34" name="Группа 33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9" name="Прямоугольник 28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33" name="TextBox 32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36" name="TextBox 35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37" name="TextBox 36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40" name="TextBox 39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44" name="Прямоугольник 43"/>
          <p:cNvSpPr/>
          <p:nvPr/>
        </p:nvSpPr>
        <p:spPr>
          <a:xfrm>
            <a:off x="9531179" y="-2146852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207180" y="194573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5" name="Picture 2" descr="https://dead-god.ru/wp-content/uploads/2021/11/29-3.png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783710" y="1324873"/>
            <a:ext cx="798098" cy="912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https://dead-god.ru/wp-content/uploads/2021/11/50-2.pn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394">
            <a:off x="-1967150" y="3492758"/>
            <a:ext cx="746455" cy="7879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-11197171" y="2112831"/>
            <a:ext cx="1033426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Сервис для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верки новостей 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поиска ссылок</a:t>
            </a:r>
            <a:r>
              <a:rPr lang="ru-RU" sz="4000" dirty="0"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на достоверную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информацию.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75602">
            <a:off x="7288638" y="9418074"/>
            <a:ext cx="941546" cy="1076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53213">
            <a:off x="8309023" y="2120723"/>
            <a:ext cx="582226" cy="748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/>
          <p:cNvSpPr txBox="1"/>
          <p:nvPr/>
        </p:nvSpPr>
        <p:spPr>
          <a:xfrm>
            <a:off x="217454" y="6881815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быстрого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пределения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фейковой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информации.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также для э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кономии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времени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Прямоугольник 8"/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12" name="Группа 11"/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13" name="Прямоугольник 12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4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TextBox 14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6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2" name="Группа 41"/>
          <p:cNvGrpSpPr/>
          <p:nvPr/>
        </p:nvGrpSpPr>
        <p:grpSpPr>
          <a:xfrm>
            <a:off x="9531908" y="-5516083"/>
            <a:ext cx="3315406" cy="30171114"/>
            <a:chOff x="9531908" y="-188712"/>
            <a:chExt cx="3315406" cy="30171114"/>
          </a:xfrm>
        </p:grpSpPr>
        <p:grpSp>
          <p:nvGrpSpPr>
            <p:cNvPr id="43" name="Группа 42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46" name="Группа 45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48" name="Группа 47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50" name="Прямоугольник 49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51" name="TextBox 50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49" name="TextBox 48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47" name="TextBox 46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44" name="TextBox 43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52" name="Прямоугольник 51"/>
          <p:cNvSpPr/>
          <p:nvPr/>
        </p:nvSpPr>
        <p:spPr>
          <a:xfrm>
            <a:off x="9531179" y="-7951313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TextBox 1"/>
          <p:cNvSpPr txBox="1"/>
          <p:nvPr/>
        </p:nvSpPr>
        <p:spPr>
          <a:xfrm>
            <a:off x="207180" y="-3276902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Автоматич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еская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система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верифик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ации 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сравнения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новостн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статьи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теля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с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достоверными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источник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ами.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207180" y="1775547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быстрого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пределения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фейковой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информации.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также для э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кономии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времени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75602">
            <a:off x="7449645" y="4320937"/>
            <a:ext cx="941546" cy="1076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53213">
            <a:off x="8309023" y="-3760326"/>
            <a:ext cx="582226" cy="7485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/>
          <p:cNvSpPr txBox="1"/>
          <p:nvPr/>
        </p:nvSpPr>
        <p:spPr>
          <a:xfrm>
            <a:off x="207180" y="7011700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B1B2B2"/>
                </a:solidFill>
                <a:latin typeface="Arial Black" panose="020B0A04020102020204" pitchFamily="34" charset="0"/>
              </a:rPr>
              <a:t>API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для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окупателей(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B2C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):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атели могут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пользоват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ься ботом бесплатно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2-3 раза з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день, а безлимит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за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латную подписку.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20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289" y="10237863"/>
            <a:ext cx="812602" cy="100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/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8" name="Прямоугольник 7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/>
          <p:cNvGrpSpPr/>
          <p:nvPr/>
        </p:nvGrpSpPr>
        <p:grpSpPr>
          <a:xfrm>
            <a:off x="9531908" y="-11320547"/>
            <a:ext cx="3315406" cy="30171114"/>
            <a:chOff x="9531908" y="-188712"/>
            <a:chExt cx="3315406" cy="30171114"/>
          </a:xfrm>
        </p:grpSpPr>
        <p:grpSp>
          <p:nvGrpSpPr>
            <p:cNvPr id="15" name="Группа 14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8" name="Группа 17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0" name="Группа 19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2" name="Прямоугольник 21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23" name="TextBox 22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21" name="TextBox 20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19" name="TextBox 18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24" name="Прямоугольник 23"/>
          <p:cNvSpPr/>
          <p:nvPr/>
        </p:nvSpPr>
        <p:spPr>
          <a:xfrm>
            <a:off x="9531179" y="-13716020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13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75602">
            <a:off x="7288638" y="-1549996"/>
            <a:ext cx="941546" cy="10760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5" name="TextBox 24"/>
          <p:cNvSpPr txBox="1"/>
          <p:nvPr/>
        </p:nvSpPr>
        <p:spPr>
          <a:xfrm>
            <a:off x="207180" y="1775547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B1B2B2"/>
                </a:solidFill>
                <a:latin typeface="Arial Black" panose="020B0A04020102020204" pitchFamily="34" charset="0"/>
              </a:rPr>
              <a:t>API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для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окупателей(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B2C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):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атели могут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пользоват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ься ботом бесплатно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2-3 раза з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день, а безлимит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за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латную подписку.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289" y="5001710"/>
            <a:ext cx="812602" cy="100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TextBox 25"/>
          <p:cNvSpPr txBox="1"/>
          <p:nvPr/>
        </p:nvSpPr>
        <p:spPr>
          <a:xfrm>
            <a:off x="207180" y="8048166"/>
            <a:ext cx="92117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 моим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расчётам сезонность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моего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екта будет где то 3-4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раза за г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од, из-за войн,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выборов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или просто громких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событий.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Именно в это время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сам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ый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большой спрос.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27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83629">
            <a:off x="211570" y="11863363"/>
            <a:ext cx="745757" cy="745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2997">
            <a:off x="7334114" y="7253241"/>
            <a:ext cx="614934" cy="85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207180" y="-3936899"/>
            <a:ext cx="921176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Проект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здан для помощи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быстрого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пределения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фейковой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информации.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также для э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кономии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времени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5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рямоугольник 5"/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8" name="Группа 7"/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9" name="Прямоугольник 8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1" name="TextBox 10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2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5" name="Группа 14"/>
          <p:cNvGrpSpPr/>
          <p:nvPr/>
        </p:nvGrpSpPr>
        <p:grpSpPr>
          <a:xfrm>
            <a:off x="9531908" y="-17164761"/>
            <a:ext cx="3315406" cy="30171114"/>
            <a:chOff x="9531908" y="-188712"/>
            <a:chExt cx="3315406" cy="30171114"/>
          </a:xfrm>
        </p:grpSpPr>
        <p:grpSp>
          <p:nvGrpSpPr>
            <p:cNvPr id="16" name="Группа 15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9" name="Группа 18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1" name="Группа 20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3" name="Прямоугольник 22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24" name="TextBox 23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22" name="TextBox 21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20" name="TextBox 19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7" name="TextBox 16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25" name="Прямоугольник 24"/>
          <p:cNvSpPr/>
          <p:nvPr/>
        </p:nvSpPr>
        <p:spPr>
          <a:xfrm>
            <a:off x="9531179" y="-19560234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" name="TextBox 3"/>
          <p:cNvSpPr txBox="1"/>
          <p:nvPr/>
        </p:nvSpPr>
        <p:spPr>
          <a:xfrm>
            <a:off x="207180" y="-440389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solidFill>
                  <a:srgbClr val="B1B2B2"/>
                </a:solidFill>
                <a:latin typeface="Arial Black" panose="020B0A04020102020204" pitchFamily="34" charset="0"/>
              </a:rPr>
              <a:t>API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для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окупателей(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B2C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):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атели могут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пользоват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ься ботом бесплатно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2-3 раза з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день, а безлимит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за п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латную подписку.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7289" y="-1177728"/>
            <a:ext cx="812602" cy="1003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/>
          <p:cNvSpPr txBox="1"/>
          <p:nvPr/>
        </p:nvSpPr>
        <p:spPr>
          <a:xfrm>
            <a:off x="207180" y="2118986"/>
            <a:ext cx="92117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 моим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расчётам сезонность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моего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екта будет где то 3-4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раза за г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од, из-за войн,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выборов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или просто громких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событий.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Именно в это время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сам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ый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большой спрос.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83629">
            <a:off x="211570" y="5934183"/>
            <a:ext cx="745757" cy="745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2997">
            <a:off x="7334114" y="1324061"/>
            <a:ext cx="614934" cy="85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/>
          <p:cNvSpPr txBox="1"/>
          <p:nvPr/>
        </p:nvSpPr>
        <p:spPr>
          <a:xfrm>
            <a:off x="380430" y="753147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Моим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ектом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будут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пользоватьс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люди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всех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возрастов,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имеющие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одну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проблему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плохое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различие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правды от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лжи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 интернете.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26" name="Picture 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14306">
            <a:off x="7998028" y="7221423"/>
            <a:ext cx="688129" cy="72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Picture 4"/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269849">
            <a:off x="118127" y="6991250"/>
            <a:ext cx="571500" cy="60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/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8" name="Прямоугольник 7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0" name="TextBox 9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14" name="Группа 13"/>
          <p:cNvGrpSpPr/>
          <p:nvPr/>
        </p:nvGrpSpPr>
        <p:grpSpPr>
          <a:xfrm>
            <a:off x="9531908" y="-22929462"/>
            <a:ext cx="3315406" cy="30171114"/>
            <a:chOff x="9531908" y="-188712"/>
            <a:chExt cx="3315406" cy="30171114"/>
          </a:xfrm>
        </p:grpSpPr>
        <p:grpSp>
          <p:nvGrpSpPr>
            <p:cNvPr id="15" name="Группа 14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8" name="Группа 17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20" name="Группа 19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22" name="Прямоугольник 21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23" name="TextBox 22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21" name="TextBox 20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19" name="TextBox 18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6" name="TextBox 15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24" name="Прямоугольник 23"/>
          <p:cNvSpPr/>
          <p:nvPr/>
        </p:nvSpPr>
        <p:spPr>
          <a:xfrm>
            <a:off x="9531179" y="-253249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TextBox 5"/>
          <p:cNvSpPr txBox="1"/>
          <p:nvPr/>
        </p:nvSpPr>
        <p:spPr>
          <a:xfrm>
            <a:off x="207180" y="-4868977"/>
            <a:ext cx="9211768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По моим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расчётам сезонность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моего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екта будет где то 3-4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раза за г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од, из-за войн,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выборов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или просто громких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событий.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Именно в это время 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будет сам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ый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большой спрос.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83629">
            <a:off x="211570" y="-1053780"/>
            <a:ext cx="745757" cy="7457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632997">
            <a:off x="7334114" y="-5663902"/>
            <a:ext cx="614934" cy="854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Box 29"/>
          <p:cNvSpPr txBox="1"/>
          <p:nvPr/>
        </p:nvSpPr>
        <p:spPr>
          <a:xfrm>
            <a:off x="380430" y="1987303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Моим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ектом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будут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пользоватьс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люди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всех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возрастов,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имеющие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одну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проблему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плохое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различие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правды от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лжи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 интернете.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6146" name="Picture 2"/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14306">
            <a:off x="7998028" y="1677255"/>
            <a:ext cx="688129" cy="72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269849">
            <a:off x="118127" y="1447082"/>
            <a:ext cx="571500" cy="60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2" name="Прямоугольник 31"/>
          <p:cNvSpPr/>
          <p:nvPr/>
        </p:nvSpPr>
        <p:spPr>
          <a:xfrm>
            <a:off x="9539372" y="6934200"/>
            <a:ext cx="2660822" cy="6931400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/>
          <p:cNvSpPr txBox="1"/>
          <p:nvPr/>
        </p:nvSpPr>
        <p:spPr>
          <a:xfrm>
            <a:off x="9742698" y="7870355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Прямоугольник 46"/>
          <p:cNvSpPr/>
          <p:nvPr/>
        </p:nvSpPr>
        <p:spPr>
          <a:xfrm>
            <a:off x="9506464" y="0"/>
            <a:ext cx="14461439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8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endParaRPr lang="ru-RU"/>
          </a:p>
        </p:txBody>
      </p:sp>
      <p:sp>
        <p:nvSpPr>
          <p:cNvPr id="9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endParaRPr lang="ru-RU"/>
          </a:p>
        </p:txBody>
      </p:sp>
      <p:pic>
        <p:nvPicPr>
          <p:cNvPr id="10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Прямоугольник 26"/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35" name="Группа 34"/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36" name="Группа 35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39" name="Группа 38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41" name="Группа 40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43" name="Прямоугольник 42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44" name="TextBox 43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42" name="TextBox 41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40" name="TextBox 39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37" name="TextBox 36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45" name="Прямоугольник 44"/>
          <p:cNvSpPr/>
          <p:nvPr/>
        </p:nvSpPr>
        <p:spPr>
          <a:xfrm>
            <a:off x="9531864" y="-82200"/>
            <a:ext cx="2660822" cy="6931400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3" name="TextBox 52"/>
          <p:cNvSpPr txBox="1"/>
          <p:nvPr/>
        </p:nvSpPr>
        <p:spPr>
          <a:xfrm>
            <a:off x="9742698" y="433952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grpSp>
        <p:nvGrpSpPr>
          <p:cNvPr id="54" name="Группа 53"/>
          <p:cNvGrpSpPr/>
          <p:nvPr/>
        </p:nvGrpSpPr>
        <p:grpSpPr>
          <a:xfrm>
            <a:off x="-2635378" y="0"/>
            <a:ext cx="12192000" cy="6858000"/>
            <a:chOff x="-1" y="0"/>
            <a:chExt cx="12192000" cy="6858000"/>
          </a:xfrm>
        </p:grpSpPr>
        <p:sp>
          <p:nvSpPr>
            <p:cNvPr id="55" name="Прямоугольник 54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adFill>
              <a:gsLst>
                <a:gs pos="0">
                  <a:schemeClr val="tx1">
                    <a:lumMod val="75000"/>
                    <a:lumOff val="25000"/>
                  </a:schemeClr>
                </a:gs>
                <a:gs pos="2112">
                  <a:srgbClr val="404040">
                    <a:alpha val="97000"/>
                  </a:srgbClr>
                </a:gs>
                <a:gs pos="33000">
                  <a:schemeClr val="tx1">
                    <a:lumMod val="75000"/>
                    <a:lumOff val="25000"/>
                    <a:alpha val="86000"/>
                  </a:schemeClr>
                </a:gs>
                <a:gs pos="68000">
                  <a:schemeClr val="tx1">
                    <a:lumMod val="75000"/>
                    <a:lumOff val="25000"/>
                    <a:alpha val="77000"/>
                  </a:schemeClr>
                </a:gs>
                <a:gs pos="100000">
                  <a:schemeClr val="tx1">
                    <a:lumMod val="75000"/>
                    <a:lumOff val="25000"/>
                    <a:alpha val="52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56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7" name="TextBox 56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58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59" name="TextBox 58"/>
          <p:cNvSpPr txBox="1"/>
          <p:nvPr/>
        </p:nvSpPr>
        <p:spPr>
          <a:xfrm>
            <a:off x="403877" y="-5019911"/>
            <a:ext cx="921176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Моим про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ектом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будут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пользоватьс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я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люди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всех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возрастов,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но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имеющие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одну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проблему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плохое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различие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правды от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лжи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в интернете.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pic>
        <p:nvPicPr>
          <p:cNvPr id="60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114306">
            <a:off x="7998028" y="-5462844"/>
            <a:ext cx="688129" cy="7225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" name="Picture 4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269849">
            <a:off x="118127" y="-5693017"/>
            <a:ext cx="571500" cy="600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4" name="TextBox 73"/>
          <p:cNvSpPr txBox="1"/>
          <p:nvPr/>
        </p:nvSpPr>
        <p:spPr>
          <a:xfrm>
            <a:off x="12379545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1.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75" name="TextBox 74"/>
          <p:cNvSpPr txBox="1"/>
          <p:nvPr/>
        </p:nvSpPr>
        <p:spPr>
          <a:xfrm>
            <a:off x="14712437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2.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76" name="TextBox 75"/>
          <p:cNvSpPr txBox="1"/>
          <p:nvPr/>
        </p:nvSpPr>
        <p:spPr>
          <a:xfrm>
            <a:off x="1695740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3.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19325467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4.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7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Прямоугольник 7"/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0" name="Группа 9"/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11" name="Группа 10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4" name="Группа 13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6" name="Группа 15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8" name="Прямоугольник 17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19" name="TextBox 18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17" name="TextBox 16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15" name="TextBox 14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12" name="TextBox 11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20" name="Прямоугольник 19"/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1" name="TextBox 30"/>
          <p:cNvSpPr txBox="1"/>
          <p:nvPr/>
        </p:nvSpPr>
        <p:spPr>
          <a:xfrm>
            <a:off x="274644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1.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9679573" y="47652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grpSp>
        <p:nvGrpSpPr>
          <p:cNvPr id="40" name="Группа 39"/>
          <p:cNvGrpSpPr/>
          <p:nvPr/>
        </p:nvGrpSpPr>
        <p:grpSpPr>
          <a:xfrm>
            <a:off x="-2635378" y="-35173"/>
            <a:ext cx="12192000" cy="6858000"/>
            <a:chOff x="-1" y="0"/>
            <a:chExt cx="12192000" cy="6858000"/>
          </a:xfrm>
          <a:noFill/>
        </p:grpSpPr>
        <p:sp>
          <p:nvSpPr>
            <p:cNvPr id="41" name="Прямоугольник 40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42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43" name="TextBox 42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44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55" name="TextBox 54"/>
          <p:cNvSpPr txBox="1"/>
          <p:nvPr/>
        </p:nvSpPr>
        <p:spPr>
          <a:xfrm>
            <a:off x="260753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2.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852505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3.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220566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4.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36120" y="7289627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49500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711020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72741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/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8" name="Группа 7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1" name="Группа 10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3" name="Группа 12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5" name="Прямоугольник 14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16" name="TextBox 15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14" name="TextBox 13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12" name="TextBox 11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17" name="Прямоугольник 16"/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74644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1.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79573" y="47652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grpSp>
        <p:nvGrpSpPr>
          <p:cNvPr id="20" name="Группа 19"/>
          <p:cNvGrpSpPr/>
          <p:nvPr/>
        </p:nvGrpSpPr>
        <p:grpSpPr>
          <a:xfrm>
            <a:off x="-2635378" y="-35173"/>
            <a:ext cx="12192000" cy="6858000"/>
            <a:chOff x="-1" y="0"/>
            <a:chExt cx="12192000" cy="6858000"/>
          </a:xfrm>
          <a:noFill/>
        </p:grpSpPr>
        <p:sp>
          <p:nvSpPr>
            <p:cNvPr id="21" name="Прямоугольник 20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2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23" name="TextBox 22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4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" name="TextBox 24"/>
          <p:cNvSpPr txBox="1"/>
          <p:nvPr/>
        </p:nvSpPr>
        <p:spPr>
          <a:xfrm>
            <a:off x="260753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2.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852505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3.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20566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4.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6120" y="2347525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50073" y="2347525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11020" y="2347525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274173" y="2347525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866074" y="7026175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Тесты готового на тот момент кода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227413" y="7024465"/>
            <a:ext cx="181384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сайта для проекта с помощью библиотеки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2702477" y="7029720"/>
            <a:ext cx="203818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выводу информации пользователю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30865" y="7009487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векторного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сравнения текстов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/>
          <p:cNvGrpSpPr/>
          <p:nvPr/>
        </p:nvGrpSpPr>
        <p:grpSpPr>
          <a:xfrm>
            <a:off x="9531908" y="-29812862"/>
            <a:ext cx="3315406" cy="30171114"/>
            <a:chOff x="9531908" y="-188712"/>
            <a:chExt cx="3315406" cy="30171114"/>
          </a:xfrm>
        </p:grpSpPr>
        <p:grpSp>
          <p:nvGrpSpPr>
            <p:cNvPr id="8" name="Группа 7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1" name="Группа 10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3" name="Группа 12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5" name="Прямоугольник 14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16" name="TextBox 15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14" name="TextBox 13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12" name="TextBox 11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17" name="Прямоугольник 16"/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TextBox 17"/>
          <p:cNvSpPr txBox="1"/>
          <p:nvPr/>
        </p:nvSpPr>
        <p:spPr>
          <a:xfrm>
            <a:off x="274644" y="147967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5.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79573" y="47652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grpSp>
        <p:nvGrpSpPr>
          <p:cNvPr id="20" name="Группа 19"/>
          <p:cNvGrpSpPr/>
          <p:nvPr/>
        </p:nvGrpSpPr>
        <p:grpSpPr>
          <a:xfrm>
            <a:off x="-2635378" y="-35173"/>
            <a:ext cx="12192000" cy="6858000"/>
            <a:chOff x="-1" y="0"/>
            <a:chExt cx="12192000" cy="6858000"/>
          </a:xfrm>
          <a:noFill/>
        </p:grpSpPr>
        <p:sp>
          <p:nvSpPr>
            <p:cNvPr id="21" name="Прямоугольник 20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2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23" name="TextBox 22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4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" name="TextBox 24"/>
          <p:cNvSpPr txBox="1"/>
          <p:nvPr/>
        </p:nvSpPr>
        <p:spPr>
          <a:xfrm>
            <a:off x="260753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6.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4852505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7.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220566" y="1455013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8.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6120" y="7289627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500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11020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2741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30865" y="2428598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векторного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сравнения текстов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4866074" y="2423343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Тесты готового на тот момент кода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227413" y="2421633"/>
            <a:ext cx="181384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сайта для проекта с помощью библиотеки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702477" y="2426888"/>
            <a:ext cx="203818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выводу информации пользователю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8" descr="Обои газета (79 фото) - красивые картинки и HD фото"/>
          <p:cNvPicPr>
            <a:picLocks noChangeAspect="1" noChangeArrowheads="1"/>
          </p:cNvPicPr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Прямоугольник 4"/>
          <p:cNvSpPr/>
          <p:nvPr/>
        </p:nvSpPr>
        <p:spPr>
          <a:xfrm>
            <a:off x="-2660456" y="-8801"/>
            <a:ext cx="12192000" cy="6858000"/>
          </a:xfrm>
          <a:prstGeom prst="rect">
            <a:avLst/>
          </a:prstGeom>
          <a:gradFill>
            <a:gsLst>
              <a:gs pos="0">
                <a:schemeClr val="tx1">
                  <a:lumMod val="75000"/>
                  <a:lumOff val="25000"/>
                </a:schemeClr>
              </a:gs>
              <a:gs pos="2112">
                <a:srgbClr val="404040">
                  <a:alpha val="97000"/>
                </a:srgbClr>
              </a:gs>
              <a:gs pos="33000">
                <a:schemeClr val="tx1">
                  <a:lumMod val="75000"/>
                  <a:lumOff val="25000"/>
                  <a:alpha val="86000"/>
                </a:schemeClr>
              </a:gs>
              <a:gs pos="68000">
                <a:schemeClr val="tx1">
                  <a:lumMod val="75000"/>
                  <a:lumOff val="25000"/>
                  <a:alpha val="77000"/>
                </a:schemeClr>
              </a:gs>
              <a:gs pos="100000">
                <a:schemeClr val="tx1">
                  <a:lumMod val="75000"/>
                  <a:lumOff val="25000"/>
                  <a:alpha val="52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9531179" y="-24715335"/>
            <a:ext cx="2660822" cy="2435224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7" name="Группа 6"/>
          <p:cNvGrpSpPr/>
          <p:nvPr/>
        </p:nvGrpSpPr>
        <p:grpSpPr>
          <a:xfrm>
            <a:off x="9531908" y="-36559672"/>
            <a:ext cx="3315406" cy="30171114"/>
            <a:chOff x="9531908" y="-188712"/>
            <a:chExt cx="3315406" cy="30171114"/>
          </a:xfrm>
        </p:grpSpPr>
        <p:grpSp>
          <p:nvGrpSpPr>
            <p:cNvPr id="8" name="Группа 7"/>
            <p:cNvGrpSpPr/>
            <p:nvPr/>
          </p:nvGrpSpPr>
          <p:grpSpPr>
            <a:xfrm>
              <a:off x="9531908" y="-188712"/>
              <a:ext cx="3315406" cy="30171114"/>
              <a:chOff x="9531908" y="-188712"/>
              <a:chExt cx="3315406" cy="30171114"/>
            </a:xfrm>
          </p:grpSpPr>
          <p:grpSp>
            <p:nvGrpSpPr>
              <p:cNvPr id="11" name="Группа 10"/>
              <p:cNvGrpSpPr/>
              <p:nvPr/>
            </p:nvGrpSpPr>
            <p:grpSpPr>
              <a:xfrm>
                <a:off x="9531908" y="-188712"/>
                <a:ext cx="2870560" cy="30171114"/>
                <a:chOff x="9531908" y="-188712"/>
                <a:chExt cx="2870560" cy="30171114"/>
              </a:xfrm>
            </p:grpSpPr>
            <p:grpSp>
              <p:nvGrpSpPr>
                <p:cNvPr id="13" name="Группа 12"/>
                <p:cNvGrpSpPr/>
                <p:nvPr/>
              </p:nvGrpSpPr>
              <p:grpSpPr>
                <a:xfrm>
                  <a:off x="9531908" y="-188712"/>
                  <a:ext cx="2660822" cy="30171114"/>
                  <a:chOff x="9531908" y="-188712"/>
                  <a:chExt cx="2660822" cy="30171114"/>
                </a:xfrm>
              </p:grpSpPr>
              <p:sp>
                <p:nvSpPr>
                  <p:cNvPr id="15" name="Прямоугольник 14"/>
                  <p:cNvSpPr/>
                  <p:nvPr/>
                </p:nvSpPr>
                <p:spPr>
                  <a:xfrm>
                    <a:off x="9531908" y="-188712"/>
                    <a:ext cx="2660822" cy="30171114"/>
                  </a:xfrm>
                  <a:prstGeom prst="rect">
                    <a:avLst/>
                  </a:prstGeom>
                  <a:solidFill>
                    <a:srgbClr val="29262B"/>
                  </a:solidFill>
                  <a:ln>
                    <a:solidFill>
                      <a:srgbClr val="29262B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1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2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3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4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5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  <a:p>
                    <a:pPr algn="ctr"/>
                    <a:r>
                      <a:rPr lang="en-US" sz="9600" dirty="0">
                        <a:latin typeface="Bahnschrift SemiBold" panose="020B0502040204020203" pitchFamily="34" charset="0"/>
                      </a:rPr>
                      <a:t>----</a:t>
                    </a:r>
                    <a:endParaRPr lang="en-US" sz="9600" dirty="0">
                      <a:latin typeface="Bahnschrift SemiBold" panose="020B0502040204020203" pitchFamily="34" charset="0"/>
                    </a:endParaRPr>
                  </a:p>
                </p:txBody>
              </p:sp>
              <p:sp>
                <p:nvSpPr>
                  <p:cNvPr id="16" name="TextBox 15"/>
                  <p:cNvSpPr txBox="1"/>
                  <p:nvPr/>
                </p:nvSpPr>
                <p:spPr>
                  <a:xfrm>
                    <a:off x="10072508" y="307734"/>
                    <a:ext cx="1937027" cy="101566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ru-RU" sz="6000" dirty="0">
                        <a:solidFill>
                          <a:schemeClr val="bg1"/>
                        </a:solidFill>
                      </a:rPr>
                      <a:t>Что?</a:t>
                    </a:r>
                    <a:endParaRPr lang="ru-RU" sz="6000" dirty="0">
                      <a:solidFill>
                        <a:schemeClr val="bg1"/>
                      </a:solidFill>
                    </a:endParaRPr>
                  </a:p>
                </p:txBody>
              </p:sp>
            </p:grpSp>
            <p:sp>
              <p:nvSpPr>
                <p:cNvPr id="14" name="TextBox 13"/>
                <p:cNvSpPr txBox="1"/>
                <p:nvPr/>
              </p:nvSpPr>
              <p:spPr>
                <a:xfrm>
                  <a:off x="9679573" y="6150071"/>
                  <a:ext cx="2722895" cy="1015663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ru-RU" sz="6000" dirty="0">
                      <a:solidFill>
                        <a:schemeClr val="bg1"/>
                      </a:solidFill>
                    </a:rPr>
                    <a:t>Зачем?</a:t>
                  </a:r>
                  <a:endParaRPr lang="ru-RU" sz="6000" dirty="0">
                    <a:solidFill>
                      <a:schemeClr val="bg1"/>
                    </a:solidFill>
                  </a:endParaRPr>
                </a:p>
              </p:txBody>
            </p:sp>
          </p:grpSp>
          <p:sp>
            <p:nvSpPr>
              <p:cNvPr id="12" name="TextBox 11"/>
              <p:cNvSpPr txBox="1"/>
              <p:nvPr/>
            </p:nvSpPr>
            <p:spPr>
              <a:xfrm>
                <a:off x="10124419" y="12203508"/>
                <a:ext cx="272289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ru-RU" sz="6000" dirty="0">
                    <a:solidFill>
                      <a:schemeClr val="bg1"/>
                    </a:solidFill>
                  </a:rPr>
                  <a:t>Где?</a:t>
                </a:r>
                <a:endParaRPr lang="ru-RU" sz="6000" dirty="0">
                  <a:solidFill>
                    <a:schemeClr val="bg1"/>
                  </a:solidFill>
                </a:endParaRPr>
              </a:p>
            </p:txBody>
          </p:sp>
        </p:grpSp>
        <p:sp>
          <p:nvSpPr>
            <p:cNvPr id="9" name="TextBox 8"/>
            <p:cNvSpPr txBox="1"/>
            <p:nvPr/>
          </p:nvSpPr>
          <p:spPr>
            <a:xfrm>
              <a:off x="9778428" y="17786134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Когда?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10124419" y="23753105"/>
              <a:ext cx="2722895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ru-RU" sz="6000" dirty="0">
                  <a:solidFill>
                    <a:schemeClr val="bg1"/>
                  </a:solidFill>
                </a:rPr>
                <a:t>Кто?</a:t>
              </a:r>
              <a:endParaRPr lang="ru-RU" sz="6000" dirty="0">
                <a:solidFill>
                  <a:schemeClr val="bg1"/>
                </a:solidFill>
              </a:endParaRPr>
            </a:p>
          </p:txBody>
        </p:sp>
      </p:grpSp>
      <p:sp>
        <p:nvSpPr>
          <p:cNvPr id="17" name="Прямоугольник 16"/>
          <p:cNvSpPr/>
          <p:nvPr/>
        </p:nvSpPr>
        <p:spPr>
          <a:xfrm>
            <a:off x="0" y="8801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18" name="TextBox 17"/>
          <p:cNvSpPr txBox="1"/>
          <p:nvPr/>
        </p:nvSpPr>
        <p:spPr>
          <a:xfrm>
            <a:off x="-3891112" y="1566838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5.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679573" y="-6270290"/>
            <a:ext cx="2237783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Д       К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       Р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О       Т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Ж      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Н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А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4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Я</a:t>
            </a:r>
            <a:endParaRPr lang="ru-RU" sz="4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grpSp>
        <p:nvGrpSpPr>
          <p:cNvPr id="20" name="Группа 19"/>
          <p:cNvGrpSpPr/>
          <p:nvPr/>
        </p:nvGrpSpPr>
        <p:grpSpPr>
          <a:xfrm>
            <a:off x="-101960" y="-126286"/>
            <a:ext cx="12192000" cy="6858000"/>
            <a:chOff x="-1" y="0"/>
            <a:chExt cx="12192000" cy="6858000"/>
          </a:xfrm>
          <a:noFill/>
        </p:grpSpPr>
        <p:sp>
          <p:nvSpPr>
            <p:cNvPr id="21" name="Прямоугольник 20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22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23" name="TextBox 22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24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25" name="TextBox 24"/>
          <p:cNvSpPr txBox="1"/>
          <p:nvPr/>
        </p:nvSpPr>
        <p:spPr>
          <a:xfrm>
            <a:off x="-2772346" y="1456229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6.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2501323" y="1172684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7.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2627297" y="1327188"/>
            <a:ext cx="277335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chemeClr val="bg1"/>
                </a:solidFill>
              </a:rPr>
              <a:t>8. неделя</a:t>
            </a:r>
            <a:endParaRPr lang="ru-RU" sz="4000" dirty="0">
              <a:solidFill>
                <a:schemeClr val="bg1"/>
              </a:solidFill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36120" y="7289627"/>
            <a:ext cx="202964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Поиск достоверных сайтов, и библиотек для парсинга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9500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базовых случаев для ввода пользователя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711020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запросу статьи от пользователя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274173" y="7289627"/>
            <a:ext cx="202964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структуры для парсинга и скачивания текста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-3834891" y="2515762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векторного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сравнения текстов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448179" y="1999686"/>
            <a:ext cx="2029644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Тесты готового на тот момент кода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2818618" y="2084874"/>
            <a:ext cx="1813845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Создание сайта для проекта с помощью библиотеки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-2677405" y="2426888"/>
            <a:ext cx="2038188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solidFill>
                  <a:schemeClr val="bg1"/>
                </a:solidFill>
                <a:latin typeface="Bahnschrift SemiBold" panose="020B0502040204020203" pitchFamily="34" charset="0"/>
              </a:rPr>
              <a:t>Реализация функции по выводу информации пользователю</a:t>
            </a:r>
            <a:endParaRPr lang="ru-RU" sz="2800" dirty="0">
              <a:solidFill>
                <a:schemeClr val="bg1"/>
              </a:solidFill>
              <a:latin typeface="Bahnschrift SemiBold" panose="020B0502040204020203" pitchFamily="34" charset="0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3741129" y="-3133102"/>
            <a:ext cx="444753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>
                <a:solidFill>
                  <a:schemeClr val="bg1"/>
                </a:solidFill>
                <a:latin typeface="Arial Black" panose="020B0A04020102020204" pitchFamily="34" charset="0"/>
              </a:rPr>
              <a:t>Конкуренты</a:t>
            </a:r>
            <a:endParaRPr lang="ru-RU" sz="40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4000" dirty="0">
                <a:solidFill>
                  <a:schemeClr val="bg1"/>
                </a:solidFill>
                <a:latin typeface="Arial Black" panose="020B0A04020102020204" pitchFamily="34" charset="0"/>
              </a:rPr>
              <a:t>Моего </a:t>
            </a:r>
            <a:endParaRPr lang="ru-RU" sz="40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4000" dirty="0">
                <a:solidFill>
                  <a:schemeClr val="bg1"/>
                </a:solidFill>
                <a:latin typeface="Arial Black" panose="020B0A04020102020204" pitchFamily="34" charset="0"/>
              </a:rPr>
              <a:t>проекта</a:t>
            </a:r>
            <a:endParaRPr lang="ru-RU" sz="40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-687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/>
          <p:cNvGrpSpPr/>
          <p:nvPr/>
        </p:nvGrpSpPr>
        <p:grpSpPr>
          <a:xfrm>
            <a:off x="-101960" y="5420481"/>
            <a:ext cx="12192000" cy="6858000"/>
            <a:chOff x="-1" y="0"/>
            <a:chExt cx="12192000" cy="6858000"/>
          </a:xfrm>
          <a:noFill/>
        </p:grpSpPr>
        <p:sp>
          <p:nvSpPr>
            <p:cNvPr id="6" name="Прямоугольник 5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7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8" name="TextBox 7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9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10" name="TextBox 9"/>
          <p:cNvSpPr txBox="1"/>
          <p:nvPr/>
        </p:nvSpPr>
        <p:spPr>
          <a:xfrm>
            <a:off x="3741129" y="20723"/>
            <a:ext cx="44475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Конкуренты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Моего 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проекта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157403" y="697831"/>
            <a:ext cx="61506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200" b="1" i="0" cap="all" dirty="0">
                <a:solidFill>
                  <a:srgbClr val="FFFFFF"/>
                </a:solidFill>
                <a:effectLst/>
                <a:latin typeface="Palatino"/>
              </a:rPr>
              <a:t>Fake Fighter GPT</a:t>
            </a:r>
            <a:endParaRPr lang="en-US" sz="3200" b="1" i="0" cap="all" dirty="0">
              <a:solidFill>
                <a:srgbClr val="FFFFFF"/>
              </a:solidFill>
              <a:effectLst/>
              <a:latin typeface="Palatino"/>
            </a:endParaRPr>
          </a:p>
        </p:txBody>
      </p:sp>
      <p:graphicFrame>
        <p:nvGraphicFramePr>
          <p:cNvPr id="15" name="Таблица 14"/>
          <p:cNvGraphicFramePr>
            <a:graphicFrameLocks noGrp="1"/>
          </p:cNvGraphicFramePr>
          <p:nvPr/>
        </p:nvGraphicFramePr>
        <p:xfrm>
          <a:off x="12883790" y="1738647"/>
          <a:ext cx="8128000" cy="2942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/>
                <a:gridCol w="4064000"/>
              </a:tblGrid>
              <a:tr h="83310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1" i="0" cap="all" dirty="0">
                          <a:solidFill>
                            <a:schemeClr val="tx1"/>
                          </a:solidFill>
                          <a:effectLst/>
                          <a:latin typeface="Palatino"/>
                        </a:rPr>
                        <a:t>Fake Fighter GPT</a:t>
                      </a:r>
                      <a:endParaRPr lang="en-US" sz="1800" b="1" i="0" cap="all" dirty="0">
                        <a:solidFill>
                          <a:schemeClr val="tx1"/>
                        </a:solidFill>
                        <a:effectLst/>
                        <a:latin typeface="Palatino"/>
                      </a:endParaRPr>
                    </a:p>
                    <a:p>
                      <a:pPr algn="ctr"/>
                      <a:endParaRPr lang="ru-RU" dirty="0"/>
                    </a:p>
                  </a:txBody>
                  <a:tcPr>
                    <a:solidFill>
                      <a:srgbClr val="B1B2B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1800" dirty="0">
                        <a:solidFill>
                          <a:schemeClr val="tx1"/>
                        </a:solidFill>
                        <a:highlight>
                          <a:srgbClr val="B1B2B2"/>
                        </a:highlight>
                        <a:latin typeface="Arial Black" panose="020B0A040201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highlight>
                            <a:srgbClr val="B1B2B2"/>
                          </a:highlight>
                          <a:latin typeface="Arial Black" panose="020B0A04020102020204" pitchFamily="34" charset="0"/>
                        </a:rPr>
                        <a:t>News Checker</a:t>
                      </a:r>
                      <a:endParaRPr lang="ru-RU" sz="1800" dirty="0">
                        <a:solidFill>
                          <a:schemeClr val="tx1"/>
                        </a:solidFill>
                        <a:highlight>
                          <a:srgbClr val="B1B2B2"/>
                        </a:highlight>
                        <a:latin typeface="Arial Black" panose="020B0A04020102020204" pitchFamily="34" charset="0"/>
                      </a:endParaRPr>
                    </a:p>
                    <a:p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B1B2B2"/>
                    </a:solidFill>
                  </a:tcPr>
                </a:tc>
              </a:tr>
              <a:tr h="2028424">
                <a:tc>
                  <a:txBody>
                    <a:bodyPr/>
                    <a:lstStyle/>
                    <a:p>
                      <a:r>
                        <a:rPr lang="ru-RU" sz="2400" dirty="0"/>
                        <a:t>Требует подключение к </a:t>
                      </a:r>
                      <a:r>
                        <a:rPr lang="en-US" sz="2400" dirty="0"/>
                        <a:t>VPN</a:t>
                      </a:r>
                      <a:endParaRPr lang="en-US" sz="2400" dirty="0"/>
                    </a:p>
                    <a:p>
                      <a:r>
                        <a:rPr lang="ru-RU" sz="2400" dirty="0"/>
                        <a:t>Нужна авторизация  в </a:t>
                      </a:r>
                      <a:r>
                        <a:rPr lang="en-US" sz="2400" dirty="0"/>
                        <a:t>ChatGPT</a:t>
                      </a:r>
                      <a:endParaRPr lang="en-US" sz="2400" dirty="0"/>
                    </a:p>
                    <a:p>
                      <a:r>
                        <a:rPr lang="ru-RU" sz="2400" dirty="0"/>
                        <a:t>Более точный поиск</a:t>
                      </a:r>
                      <a:endParaRPr lang="ru-RU" sz="2400" dirty="0"/>
                    </a:p>
                    <a:p>
                      <a:endParaRPr lang="ru-RU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/>
                        <a:t>Не требует </a:t>
                      </a:r>
                      <a:r>
                        <a:rPr lang="en-US" sz="2400" dirty="0"/>
                        <a:t>VPN</a:t>
                      </a:r>
                      <a:endParaRPr lang="ru-RU" sz="2400" dirty="0"/>
                    </a:p>
                    <a:p>
                      <a:r>
                        <a:rPr lang="ru-RU" sz="2400" dirty="0"/>
                        <a:t>Не нужна авторизация</a:t>
                      </a:r>
                      <a:endParaRPr lang="ru-RU" sz="2400" dirty="0"/>
                    </a:p>
                    <a:p>
                      <a:r>
                        <a:rPr lang="ru-RU" sz="2400" dirty="0"/>
                        <a:t>Но менее точный поиск</a:t>
                      </a:r>
                      <a:endParaRPr lang="ru-RU" sz="2400" dirty="0"/>
                    </a:p>
                    <a:p>
                      <a:endParaRPr lang="ru-RU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</a:tr>
            </a:tbl>
          </a:graphicData>
        </a:graphic>
      </p:graphicFrame>
      <p:pic>
        <p:nvPicPr>
          <p:cNvPr id="16" name="Рисунок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05715" y="188391"/>
            <a:ext cx="1317914" cy="13222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-687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/>
          <p:cNvGrpSpPr/>
          <p:nvPr/>
        </p:nvGrpSpPr>
        <p:grpSpPr>
          <a:xfrm>
            <a:off x="-101960" y="5420481"/>
            <a:ext cx="12192000" cy="6858000"/>
            <a:chOff x="-1" y="0"/>
            <a:chExt cx="12192000" cy="6858000"/>
          </a:xfrm>
          <a:noFill/>
        </p:grpSpPr>
        <p:sp>
          <p:nvSpPr>
            <p:cNvPr id="6" name="Прямоугольник 5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7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8" name="TextBox 7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9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10" name="TextBox 9"/>
          <p:cNvSpPr txBox="1"/>
          <p:nvPr/>
        </p:nvSpPr>
        <p:spPr>
          <a:xfrm>
            <a:off x="-421296" y="20723"/>
            <a:ext cx="44475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Конкуренты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Моего 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проекта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020339" y="713550"/>
            <a:ext cx="61506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200" b="1" i="0" cap="all" dirty="0">
                <a:solidFill>
                  <a:srgbClr val="FFFFFF"/>
                </a:solidFill>
                <a:effectLst/>
                <a:latin typeface="Palatino"/>
              </a:rPr>
              <a:t>Fake Fighter GPT</a:t>
            </a:r>
            <a:endParaRPr lang="en-US" sz="3200" b="1" i="0" cap="all" dirty="0">
              <a:solidFill>
                <a:srgbClr val="FFFFFF"/>
              </a:solidFill>
              <a:effectLst/>
              <a:latin typeface="Palatino"/>
            </a:endParaRPr>
          </a:p>
        </p:txBody>
      </p:sp>
      <p:graphicFrame>
        <p:nvGraphicFramePr>
          <p:cNvPr id="16" name="Таблица 15"/>
          <p:cNvGraphicFramePr>
            <a:graphicFrameLocks noGrp="1"/>
          </p:cNvGraphicFramePr>
          <p:nvPr/>
        </p:nvGraphicFramePr>
        <p:xfrm>
          <a:off x="1930040" y="1729122"/>
          <a:ext cx="8128000" cy="2942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/>
                <a:gridCol w="4064000"/>
              </a:tblGrid>
              <a:tr h="833103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1" i="0" cap="all" dirty="0">
                          <a:solidFill>
                            <a:schemeClr val="tx1"/>
                          </a:solidFill>
                          <a:effectLst/>
                          <a:latin typeface="Palatino"/>
                        </a:rPr>
                        <a:t>Fake Fighter GPT</a:t>
                      </a:r>
                      <a:endParaRPr lang="en-US" sz="1800" b="1" i="0" cap="all" dirty="0">
                        <a:solidFill>
                          <a:schemeClr val="tx1"/>
                        </a:solidFill>
                        <a:effectLst/>
                        <a:latin typeface="Palatino"/>
                      </a:endParaRPr>
                    </a:p>
                    <a:p>
                      <a:pPr algn="ctr"/>
                      <a:endParaRPr lang="ru-RU" dirty="0"/>
                    </a:p>
                  </a:txBody>
                  <a:tcPr>
                    <a:solidFill>
                      <a:srgbClr val="B1B2B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1800" dirty="0">
                        <a:solidFill>
                          <a:schemeClr val="tx1"/>
                        </a:solidFill>
                        <a:highlight>
                          <a:srgbClr val="B1B2B2"/>
                        </a:highlight>
                        <a:latin typeface="Arial Black" panose="020B0A040201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highlight>
                            <a:srgbClr val="B1B2B2"/>
                          </a:highlight>
                          <a:latin typeface="Arial Black" panose="020B0A04020102020204" pitchFamily="34" charset="0"/>
                        </a:rPr>
                        <a:t>News Checker</a:t>
                      </a:r>
                      <a:endParaRPr lang="ru-RU" sz="1800" dirty="0">
                        <a:solidFill>
                          <a:schemeClr val="tx1"/>
                        </a:solidFill>
                        <a:highlight>
                          <a:srgbClr val="B1B2B2"/>
                        </a:highlight>
                        <a:latin typeface="Arial Black" panose="020B0A04020102020204" pitchFamily="34" charset="0"/>
                      </a:endParaRPr>
                    </a:p>
                    <a:p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B1B2B2"/>
                    </a:solidFill>
                  </a:tcPr>
                </a:tc>
              </a:tr>
              <a:tr h="2028424">
                <a:tc>
                  <a:txBody>
                    <a:bodyPr/>
                    <a:lstStyle/>
                    <a:p>
                      <a:r>
                        <a:rPr lang="ru-RU" sz="2400" dirty="0"/>
                        <a:t>Требует подключение к </a:t>
                      </a:r>
                      <a:r>
                        <a:rPr lang="en-US" sz="2400" dirty="0"/>
                        <a:t>VPN</a:t>
                      </a:r>
                      <a:endParaRPr lang="en-US" sz="2400" dirty="0"/>
                    </a:p>
                    <a:p>
                      <a:r>
                        <a:rPr lang="ru-RU" sz="2400" dirty="0"/>
                        <a:t>Нужна авторизация  в </a:t>
                      </a:r>
                      <a:r>
                        <a:rPr lang="en-US" sz="2400" dirty="0"/>
                        <a:t>ChatGPT</a:t>
                      </a:r>
                      <a:endParaRPr lang="en-US" sz="2400" dirty="0"/>
                    </a:p>
                    <a:p>
                      <a:r>
                        <a:rPr lang="ru-RU" sz="2400" dirty="0"/>
                        <a:t>Более точный поиск</a:t>
                      </a:r>
                      <a:endParaRPr lang="ru-RU" sz="2400" dirty="0"/>
                    </a:p>
                    <a:p>
                      <a:endParaRPr lang="ru-RU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/>
                        <a:t>Не требует </a:t>
                      </a:r>
                      <a:r>
                        <a:rPr lang="en-US" sz="2400" dirty="0"/>
                        <a:t>VPN</a:t>
                      </a:r>
                      <a:endParaRPr lang="ru-RU" sz="2400" dirty="0"/>
                    </a:p>
                    <a:p>
                      <a:r>
                        <a:rPr lang="ru-RU" sz="2400" dirty="0"/>
                        <a:t>Не нужна авторизация</a:t>
                      </a:r>
                      <a:endParaRPr lang="ru-RU" sz="2400" dirty="0"/>
                    </a:p>
                    <a:p>
                      <a:r>
                        <a:rPr lang="ru-RU" sz="2400" dirty="0"/>
                        <a:t>Но менее точный поиск</a:t>
                      </a:r>
                      <a:endParaRPr lang="ru-RU" sz="2400" dirty="0"/>
                    </a:p>
                    <a:p>
                      <a:endParaRPr lang="ru-RU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</a:tr>
            </a:tbl>
          </a:graphicData>
        </a:graphic>
      </p:graphicFrame>
      <p:pic>
        <p:nvPicPr>
          <p:cNvPr id="18" name="Рисунок 1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7089" y="269968"/>
            <a:ext cx="1317914" cy="132223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2373889" y="689737"/>
            <a:ext cx="61506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Telegram-</a:t>
            </a:r>
            <a:r>
              <a:rPr lang="ru-RU" sz="3200" b="1" dirty="0">
                <a:solidFill>
                  <a:schemeClr val="bg1"/>
                </a:solidFill>
              </a:rPr>
              <a:t>бот </a:t>
            </a:r>
            <a:r>
              <a:rPr lang="en-US" sz="3200" b="1" dirty="0">
                <a:solidFill>
                  <a:schemeClr val="bg1"/>
                </a:solidFill>
              </a:rPr>
              <a:t>OFD.ru</a:t>
            </a:r>
            <a:endParaRPr lang="en-US" sz="3200" b="1" dirty="0">
              <a:solidFill>
                <a:schemeClr val="bg1"/>
              </a:solidFill>
            </a:endParaRPr>
          </a:p>
        </p:txBody>
      </p:sp>
      <p:pic>
        <p:nvPicPr>
          <p:cNvPr id="21" name="Рисунок 2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27831" y="113334"/>
            <a:ext cx="1472419" cy="1477049"/>
          </a:xfrm>
          <a:prstGeom prst="rect">
            <a:avLst/>
          </a:prstGeom>
        </p:spPr>
      </p:pic>
      <p:graphicFrame>
        <p:nvGraphicFramePr>
          <p:cNvPr id="22" name="Объект 20"/>
          <p:cNvGraphicFramePr>
            <a:graphicFrameLocks noGrp="1"/>
          </p:cNvGraphicFramePr>
          <p:nvPr>
            <p:ph idx="1"/>
          </p:nvPr>
        </p:nvGraphicFramePr>
        <p:xfrm>
          <a:off x="-11620500" y="1716918"/>
          <a:ext cx="10515600" cy="3601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2400" b="1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Фактчек-бот</a:t>
                      </a:r>
                      <a:r>
                        <a:rPr lang="en-US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«Проверка»</a:t>
                      </a:r>
                      <a:endParaRPr lang="ru-RU" sz="2400" b="1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ru-RU" sz="2400" dirty="0"/>
                    </a:p>
                  </a:txBody>
                  <a:tcPr>
                    <a:solidFill>
                      <a:srgbClr val="B5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2400" dirty="0">
                        <a:solidFill>
                          <a:srgbClr val="B1B2B2"/>
                        </a:solidFill>
                        <a:latin typeface="Arial Black" panose="020B0A040201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Arial Black" panose="020B0A04020102020204" pitchFamily="34" charset="0"/>
                        </a:rPr>
                        <a:t>News Checker</a:t>
                      </a:r>
                      <a:endParaRPr lang="ru-RU" sz="2400" dirty="0">
                        <a:solidFill>
                          <a:schemeClr val="tx1"/>
                        </a:solidFill>
                        <a:latin typeface="Arial Black" panose="020B0A04020102020204" pitchFamily="34" charset="0"/>
                      </a:endParaRPr>
                    </a:p>
                    <a:p>
                      <a:endParaRPr lang="ru-RU" dirty="0"/>
                    </a:p>
                  </a:txBody>
                  <a:tcPr>
                    <a:solidFill>
                      <a:srgbClr val="B5B7B7"/>
                    </a:solidFill>
                  </a:tcPr>
                </a:tc>
              </a:tr>
              <a:tr h="2412307">
                <a:tc>
                  <a:txBody>
                    <a:bodyPr/>
                    <a:lstStyle/>
                    <a:p>
                      <a:r>
                        <a:rPr lang="ru-RU" dirty="0"/>
                        <a:t>Проверяет также фото и видео</a:t>
                      </a:r>
                      <a:endParaRPr lang="ru-RU" dirty="0"/>
                    </a:p>
                    <a:p>
                      <a:r>
                        <a:rPr lang="ru-RU" dirty="0"/>
                        <a:t>Контент проверяется вручную при помощи нейросетей</a:t>
                      </a:r>
                      <a:endParaRPr lang="ru-RU" dirty="0"/>
                    </a:p>
                    <a:p>
                      <a:r>
                        <a:rPr lang="ru-RU" dirty="0"/>
                        <a:t>Ответ может приходить от 2 до 3 минут</a:t>
                      </a:r>
                      <a:endParaRPr lang="ru-RU" dirty="0"/>
                    </a:p>
                    <a:p>
                      <a:r>
                        <a:rPr lang="ru-RU" dirty="0"/>
                        <a:t>Проверяет также фото и видео</a:t>
                      </a:r>
                      <a:endParaRPr lang="ru-RU" dirty="0"/>
                    </a:p>
                    <a:p>
                      <a:r>
                        <a:rPr lang="ru-RU" dirty="0"/>
                        <a:t>Контент проверяется вручную при помощи нейросетей</a:t>
                      </a:r>
                      <a:endParaRPr lang="ru-RU" dirty="0"/>
                    </a:p>
                    <a:p>
                      <a:r>
                        <a:rPr lang="ru-RU" dirty="0"/>
                        <a:t>Ответ может приходить от 2 до 3 минут</a:t>
                      </a:r>
                      <a:endParaRPr lang="ru-RU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800" dirty="0"/>
                        <a:t>Проверяет только текст</a:t>
                      </a:r>
                      <a:endParaRPr lang="ru-RU" sz="2800" dirty="0"/>
                    </a:p>
                    <a:p>
                      <a:r>
                        <a:rPr lang="ru-RU" sz="2800" dirty="0"/>
                        <a:t>Всё проверяется автоматически</a:t>
                      </a:r>
                      <a:endParaRPr lang="ru-RU" sz="2800" dirty="0"/>
                    </a:p>
                    <a:p>
                      <a:r>
                        <a:rPr lang="ru-RU" sz="2800" dirty="0"/>
                        <a:t>Ответ приходит за несколько секунд</a:t>
                      </a:r>
                      <a:endParaRPr lang="ru-RU" sz="2800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-687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/>
          <p:cNvGrpSpPr/>
          <p:nvPr/>
        </p:nvGrpSpPr>
        <p:grpSpPr>
          <a:xfrm>
            <a:off x="-101960" y="5420481"/>
            <a:ext cx="12192000" cy="6858000"/>
            <a:chOff x="-1" y="0"/>
            <a:chExt cx="12192000" cy="6858000"/>
          </a:xfrm>
          <a:noFill/>
        </p:grpSpPr>
        <p:sp>
          <p:nvSpPr>
            <p:cNvPr id="6" name="Прямоугольник 5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7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8" name="TextBox 7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9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10" name="TextBox 9"/>
          <p:cNvSpPr txBox="1"/>
          <p:nvPr/>
        </p:nvSpPr>
        <p:spPr>
          <a:xfrm>
            <a:off x="-421296" y="20723"/>
            <a:ext cx="44475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Конкуренты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Моего 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проекта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277639" y="689737"/>
            <a:ext cx="61506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Telegram-</a:t>
            </a:r>
            <a:r>
              <a:rPr lang="ru-RU" sz="3200" b="1" dirty="0">
                <a:solidFill>
                  <a:schemeClr val="bg1"/>
                </a:solidFill>
              </a:rPr>
              <a:t>бот </a:t>
            </a:r>
            <a:r>
              <a:rPr lang="en-US" sz="3200" b="1" dirty="0">
                <a:solidFill>
                  <a:schemeClr val="bg1"/>
                </a:solidFill>
              </a:rPr>
              <a:t>OFD.ru</a:t>
            </a:r>
            <a:endParaRPr lang="en-US" sz="3200" b="1" dirty="0">
              <a:solidFill>
                <a:schemeClr val="bg1"/>
              </a:solidFill>
            </a:endParaRPr>
          </a:p>
        </p:txBody>
      </p:sp>
      <p:graphicFrame>
        <p:nvGraphicFramePr>
          <p:cNvPr id="12" name="Таблица 11"/>
          <p:cNvGraphicFramePr>
            <a:graphicFrameLocks noGrp="1"/>
          </p:cNvGraphicFramePr>
          <p:nvPr/>
        </p:nvGraphicFramePr>
        <p:xfrm>
          <a:off x="-9061450" y="1788249"/>
          <a:ext cx="8128000" cy="363157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/>
                <a:gridCol w="4064000"/>
              </a:tblGrid>
              <a:tr h="1128408"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b="1" i="0" cap="all" dirty="0">
                          <a:solidFill>
                            <a:schemeClr val="tx1"/>
                          </a:solidFill>
                          <a:effectLst/>
                          <a:latin typeface="Palatino"/>
                        </a:rPr>
                        <a:t>Fake Fighter GPT</a:t>
                      </a:r>
                      <a:endParaRPr lang="en-US" sz="1800" b="1" i="0" cap="all" dirty="0">
                        <a:solidFill>
                          <a:schemeClr val="tx1"/>
                        </a:solidFill>
                        <a:effectLst/>
                        <a:latin typeface="Palatino"/>
                      </a:endParaRPr>
                    </a:p>
                    <a:p>
                      <a:pPr algn="ctr"/>
                      <a:endParaRPr lang="ru-RU" dirty="0"/>
                    </a:p>
                  </a:txBody>
                  <a:tcPr>
                    <a:solidFill>
                      <a:srgbClr val="B1B2B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en-US" sz="1800" dirty="0">
                        <a:solidFill>
                          <a:schemeClr val="tx1"/>
                        </a:solidFill>
                        <a:highlight>
                          <a:srgbClr val="B1B2B2"/>
                        </a:highlight>
                        <a:latin typeface="Arial Black" panose="020B0A040201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  <a:highlight>
                            <a:srgbClr val="B1B2B2"/>
                          </a:highlight>
                          <a:latin typeface="Arial Black" panose="020B0A04020102020204" pitchFamily="34" charset="0"/>
                        </a:rPr>
                        <a:t>News Checker</a:t>
                      </a:r>
                      <a:endParaRPr lang="ru-RU" sz="1800" dirty="0">
                        <a:solidFill>
                          <a:schemeClr val="tx1"/>
                        </a:solidFill>
                        <a:highlight>
                          <a:srgbClr val="B1B2B2"/>
                        </a:highlight>
                        <a:latin typeface="Arial Black" panose="020B0A04020102020204" pitchFamily="34" charset="0"/>
                      </a:endParaRPr>
                    </a:p>
                    <a:p>
                      <a:endParaRPr lang="ru-RU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B1B2B2"/>
                    </a:solidFill>
                  </a:tcPr>
                </a:tc>
              </a:tr>
              <a:tr h="2503165">
                <a:tc>
                  <a:txBody>
                    <a:bodyPr/>
                    <a:lstStyle/>
                    <a:p>
                      <a:r>
                        <a:rPr lang="ru-RU" sz="2400" dirty="0"/>
                        <a:t>Требует подключение к </a:t>
                      </a:r>
                      <a:r>
                        <a:rPr lang="en-US" sz="2400" dirty="0"/>
                        <a:t>VPN</a:t>
                      </a:r>
                      <a:endParaRPr lang="en-US" sz="2400" dirty="0"/>
                    </a:p>
                    <a:p>
                      <a:r>
                        <a:rPr lang="ru-RU" sz="2400" dirty="0"/>
                        <a:t>Нужна авторизация  в </a:t>
                      </a:r>
                      <a:r>
                        <a:rPr lang="en-US" sz="2400" dirty="0"/>
                        <a:t>ChatGPT</a:t>
                      </a:r>
                      <a:endParaRPr lang="en-US" sz="2400" dirty="0"/>
                    </a:p>
                    <a:p>
                      <a:r>
                        <a:rPr lang="ru-RU" sz="2400" dirty="0"/>
                        <a:t>Более точный поиск</a:t>
                      </a:r>
                      <a:endParaRPr lang="ru-RU" sz="2400" dirty="0"/>
                    </a:p>
                    <a:p>
                      <a:endParaRPr lang="ru-RU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400" dirty="0"/>
                        <a:t>Не требует </a:t>
                      </a:r>
                      <a:r>
                        <a:rPr lang="en-US" sz="2400" dirty="0"/>
                        <a:t>VPN</a:t>
                      </a:r>
                      <a:endParaRPr lang="ru-RU" sz="2400" dirty="0"/>
                    </a:p>
                    <a:p>
                      <a:r>
                        <a:rPr lang="ru-RU" sz="2400" dirty="0"/>
                        <a:t>Не нужна авторизация</a:t>
                      </a:r>
                      <a:endParaRPr lang="ru-RU" sz="2400" dirty="0"/>
                    </a:p>
                    <a:p>
                      <a:r>
                        <a:rPr lang="ru-RU" sz="2400" dirty="0"/>
                        <a:t>Но менее точный поиск</a:t>
                      </a:r>
                      <a:endParaRPr lang="ru-RU" sz="2400" dirty="0"/>
                    </a:p>
                    <a:p>
                      <a:endParaRPr lang="ru-RU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12659639" y="713550"/>
            <a:ext cx="61506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3200" b="1" i="0" cap="all" dirty="0">
                <a:solidFill>
                  <a:srgbClr val="FFFFFF"/>
                </a:solidFill>
                <a:effectLst/>
                <a:latin typeface="Palatino"/>
              </a:rPr>
              <a:t>Fake Fighter GPT</a:t>
            </a:r>
            <a:endParaRPr lang="en-US" sz="3200" b="1" i="0" cap="all" dirty="0">
              <a:solidFill>
                <a:srgbClr val="FFFFFF"/>
              </a:solidFill>
              <a:effectLst/>
              <a:latin typeface="Palatino"/>
            </a:endParaRPr>
          </a:p>
        </p:txBody>
      </p:sp>
      <p:pic>
        <p:nvPicPr>
          <p:cNvPr id="19" name="Рисунок 1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1581" y="113334"/>
            <a:ext cx="1472419" cy="1477049"/>
          </a:xfrm>
          <a:prstGeom prst="rect">
            <a:avLst/>
          </a:prstGeom>
        </p:spPr>
      </p:pic>
      <p:pic>
        <p:nvPicPr>
          <p:cNvPr id="20" name="Рисунок 1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51316" y="190740"/>
            <a:ext cx="1317914" cy="1322235"/>
          </a:xfrm>
          <a:prstGeom prst="rect">
            <a:avLst/>
          </a:prstGeom>
        </p:spPr>
      </p:pic>
      <p:graphicFrame>
        <p:nvGraphicFramePr>
          <p:cNvPr id="21" name="Объект 20"/>
          <p:cNvGraphicFramePr>
            <a:graphicFrameLocks noGrp="1"/>
          </p:cNvGraphicFramePr>
          <p:nvPr>
            <p:ph idx="1"/>
          </p:nvPr>
        </p:nvGraphicFramePr>
        <p:xfrm>
          <a:off x="838200" y="1793118"/>
          <a:ext cx="10515600" cy="3601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2400" b="1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Фактчек-бот</a:t>
                      </a:r>
                      <a:r>
                        <a:rPr lang="en-US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«Проверка»</a:t>
                      </a:r>
                      <a:endParaRPr lang="ru-RU" sz="2400" b="1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ru-RU" sz="2400" dirty="0"/>
                    </a:p>
                  </a:txBody>
                  <a:tcPr>
                    <a:solidFill>
                      <a:srgbClr val="B5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2400" dirty="0">
                        <a:solidFill>
                          <a:srgbClr val="B1B2B2"/>
                        </a:solidFill>
                        <a:latin typeface="Arial Black" panose="020B0A040201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Arial Black" panose="020B0A04020102020204" pitchFamily="34" charset="0"/>
                        </a:rPr>
                        <a:t>News Checker</a:t>
                      </a:r>
                      <a:endParaRPr lang="ru-RU" sz="2400" dirty="0">
                        <a:solidFill>
                          <a:schemeClr val="tx1"/>
                        </a:solidFill>
                        <a:latin typeface="Arial Black" panose="020B0A04020102020204" pitchFamily="34" charset="0"/>
                      </a:endParaRPr>
                    </a:p>
                    <a:p>
                      <a:endParaRPr lang="ru-RU" dirty="0"/>
                    </a:p>
                  </a:txBody>
                  <a:tcPr>
                    <a:solidFill>
                      <a:srgbClr val="B5B7B7"/>
                    </a:solidFill>
                  </a:tcPr>
                </a:tc>
              </a:tr>
              <a:tr h="2412307">
                <a:tc>
                  <a:txBody>
                    <a:bodyPr/>
                    <a:lstStyle/>
                    <a:p>
                      <a:r>
                        <a:rPr lang="ru-RU" dirty="0"/>
                        <a:t>Проверяет также фото и видео</a:t>
                      </a:r>
                      <a:endParaRPr lang="ru-RU" dirty="0"/>
                    </a:p>
                    <a:p>
                      <a:r>
                        <a:rPr lang="ru-RU" dirty="0"/>
                        <a:t>Контент проверяется вручную при помощи нейросетей</a:t>
                      </a:r>
                      <a:endParaRPr lang="ru-RU" dirty="0"/>
                    </a:p>
                    <a:p>
                      <a:r>
                        <a:rPr lang="ru-RU" dirty="0"/>
                        <a:t>Ответ может приходить от 2 до 3 минут</a:t>
                      </a:r>
                      <a:endParaRPr lang="ru-RU" dirty="0"/>
                    </a:p>
                    <a:p>
                      <a:r>
                        <a:rPr lang="ru-RU" dirty="0"/>
                        <a:t>Проверяет также фото и видео</a:t>
                      </a:r>
                      <a:endParaRPr lang="ru-RU" dirty="0"/>
                    </a:p>
                    <a:p>
                      <a:r>
                        <a:rPr lang="ru-RU" dirty="0"/>
                        <a:t>Контент проверяется вручную при помощи нейросетей</a:t>
                      </a:r>
                      <a:endParaRPr lang="ru-RU" dirty="0"/>
                    </a:p>
                    <a:p>
                      <a:r>
                        <a:rPr lang="ru-RU" dirty="0"/>
                        <a:t>Ответ может приходить от 2 до 3 минут</a:t>
                      </a:r>
                      <a:endParaRPr lang="ru-RU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800" dirty="0"/>
                        <a:t>Проверяет только текст</a:t>
                      </a:r>
                      <a:endParaRPr lang="ru-RU" sz="2800" dirty="0"/>
                    </a:p>
                    <a:p>
                      <a:r>
                        <a:rPr lang="ru-RU" sz="2800" dirty="0"/>
                        <a:t>Всё проверяется автоматически</a:t>
                      </a:r>
                      <a:endParaRPr lang="ru-RU" sz="2800" dirty="0"/>
                    </a:p>
                    <a:p>
                      <a:r>
                        <a:rPr lang="ru-RU" sz="2800" dirty="0"/>
                        <a:t>Ответ приходит за несколько секунд</a:t>
                      </a:r>
                      <a:endParaRPr lang="ru-RU" sz="2800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</a:tr>
            </a:tbl>
          </a:graphicData>
        </a:graphic>
      </p:graphicFrame>
      <p:pic>
        <p:nvPicPr>
          <p:cNvPr id="23" name="Picture 2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17371" y="7305683"/>
            <a:ext cx="1355558" cy="99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Объект 17" descr="Хлопать в ладоши со сплошной заливкой"/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9282408">
            <a:off x="4513252" y="7541954"/>
            <a:ext cx="1162163" cy="1162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-687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/>
          <p:cNvGrpSpPr/>
          <p:nvPr/>
        </p:nvGrpSpPr>
        <p:grpSpPr>
          <a:xfrm>
            <a:off x="-101960" y="5420481"/>
            <a:ext cx="12192000" cy="6858000"/>
            <a:chOff x="-1" y="0"/>
            <a:chExt cx="12192000" cy="6858000"/>
          </a:xfrm>
          <a:noFill/>
        </p:grpSpPr>
        <p:sp>
          <p:nvSpPr>
            <p:cNvPr id="6" name="Прямоугольник 5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7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8" name="TextBox 7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9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10" name="TextBox 9"/>
          <p:cNvSpPr txBox="1"/>
          <p:nvPr/>
        </p:nvSpPr>
        <p:spPr>
          <a:xfrm>
            <a:off x="-421296" y="20723"/>
            <a:ext cx="444753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Конкуренты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Моего 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  <a:p>
            <a:pPr algn="ctr"/>
            <a:r>
              <a:rPr lang="ru-RU" sz="3200" dirty="0">
                <a:solidFill>
                  <a:schemeClr val="bg1"/>
                </a:solidFill>
                <a:latin typeface="Arial Black" panose="020B0A04020102020204" pitchFamily="34" charset="0"/>
              </a:rPr>
              <a:t>проекта</a:t>
            </a:r>
            <a:endParaRPr lang="ru-RU" sz="3200" dirty="0">
              <a:solidFill>
                <a:schemeClr val="bg1"/>
              </a:solidFill>
              <a:latin typeface="Arial Black" panose="020B0A04020102020204" pitchFamily="34" charset="0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277639" y="689737"/>
            <a:ext cx="615063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solidFill>
                  <a:schemeClr val="bg1"/>
                </a:solidFill>
              </a:rPr>
              <a:t>Telegram-</a:t>
            </a:r>
            <a:r>
              <a:rPr lang="ru-RU" sz="3200" b="1" dirty="0">
                <a:solidFill>
                  <a:schemeClr val="bg1"/>
                </a:solidFill>
              </a:rPr>
              <a:t>бот </a:t>
            </a:r>
            <a:r>
              <a:rPr lang="en-US" sz="3200" b="1" dirty="0">
                <a:solidFill>
                  <a:schemeClr val="bg1"/>
                </a:solidFill>
              </a:rPr>
              <a:t>OFD.ru</a:t>
            </a:r>
            <a:endParaRPr lang="en-US" sz="3200" b="1" dirty="0">
              <a:solidFill>
                <a:schemeClr val="bg1"/>
              </a:solidFill>
            </a:endParaRPr>
          </a:p>
        </p:txBody>
      </p:sp>
      <p:pic>
        <p:nvPicPr>
          <p:cNvPr id="14" name="Рисунок 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1581" y="113334"/>
            <a:ext cx="1472419" cy="1477049"/>
          </a:xfrm>
          <a:prstGeom prst="rect">
            <a:avLst/>
          </a:prstGeom>
        </p:spPr>
      </p:pic>
      <p:graphicFrame>
        <p:nvGraphicFramePr>
          <p:cNvPr id="16" name="Объект 20"/>
          <p:cNvGraphicFramePr/>
          <p:nvPr/>
        </p:nvGraphicFramePr>
        <p:xfrm>
          <a:off x="838200" y="1793118"/>
          <a:ext cx="10515600" cy="360102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2400" b="1" i="0" kern="1200" dirty="0">
                        <a:solidFill>
                          <a:schemeClr val="tx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Фактчек-бот</a:t>
                      </a:r>
                      <a:r>
                        <a:rPr lang="en-US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ru-RU" sz="2400" b="1" i="0" kern="1200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«Проверка»</a:t>
                      </a:r>
                      <a:endParaRPr lang="ru-RU" sz="2400" b="1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endParaRPr lang="ru-RU" sz="2400" dirty="0"/>
                    </a:p>
                  </a:txBody>
                  <a:tcPr>
                    <a:solidFill>
                      <a:srgbClr val="B5B7B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endParaRPr lang="ru-RU" sz="2400" dirty="0">
                        <a:solidFill>
                          <a:srgbClr val="B1B2B2"/>
                        </a:solidFill>
                        <a:latin typeface="Arial Black" panose="020B0A04020102020204" pitchFamily="34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  <a:latin typeface="Arial Black" panose="020B0A04020102020204" pitchFamily="34" charset="0"/>
                        </a:rPr>
                        <a:t>News Checker</a:t>
                      </a:r>
                      <a:endParaRPr lang="ru-RU" sz="2400" dirty="0">
                        <a:solidFill>
                          <a:schemeClr val="tx1"/>
                        </a:solidFill>
                        <a:latin typeface="Arial Black" panose="020B0A04020102020204" pitchFamily="34" charset="0"/>
                      </a:endParaRPr>
                    </a:p>
                    <a:p>
                      <a:endParaRPr lang="ru-RU" dirty="0"/>
                    </a:p>
                  </a:txBody>
                  <a:tcPr>
                    <a:solidFill>
                      <a:srgbClr val="B5B7B7"/>
                    </a:solidFill>
                  </a:tcPr>
                </a:tc>
              </a:tr>
              <a:tr h="2412307">
                <a:tc>
                  <a:txBody>
                    <a:bodyPr/>
                    <a:lstStyle/>
                    <a:p>
                      <a:r>
                        <a:rPr lang="ru-RU" dirty="0"/>
                        <a:t>Проверяет также фото и видео</a:t>
                      </a:r>
                      <a:endParaRPr lang="ru-RU" dirty="0"/>
                    </a:p>
                    <a:p>
                      <a:r>
                        <a:rPr lang="ru-RU" dirty="0"/>
                        <a:t>Контент проверяется вручную при помощи нейросетей</a:t>
                      </a:r>
                      <a:endParaRPr lang="ru-RU" dirty="0"/>
                    </a:p>
                    <a:p>
                      <a:r>
                        <a:rPr lang="ru-RU" dirty="0"/>
                        <a:t>Ответ может приходить от 2 до 3 минут</a:t>
                      </a:r>
                      <a:endParaRPr lang="ru-RU" dirty="0"/>
                    </a:p>
                    <a:p>
                      <a:r>
                        <a:rPr lang="ru-RU" dirty="0"/>
                        <a:t>Проверяет также фото и видео</a:t>
                      </a:r>
                      <a:endParaRPr lang="ru-RU" dirty="0"/>
                    </a:p>
                    <a:p>
                      <a:r>
                        <a:rPr lang="ru-RU" dirty="0"/>
                        <a:t>Контент проверяется вручную при помощи нейросетей</a:t>
                      </a:r>
                      <a:endParaRPr lang="ru-RU" dirty="0"/>
                    </a:p>
                    <a:p>
                      <a:r>
                        <a:rPr lang="ru-RU" dirty="0"/>
                        <a:t>Ответ может приходить от 2 до 3 минут</a:t>
                      </a:r>
                      <a:endParaRPr lang="ru-RU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2800" dirty="0"/>
                        <a:t>Проверяет только текст</a:t>
                      </a:r>
                      <a:endParaRPr lang="ru-RU" sz="2800" dirty="0"/>
                    </a:p>
                    <a:p>
                      <a:r>
                        <a:rPr lang="ru-RU" sz="2800" dirty="0"/>
                        <a:t>Всё проверяется автоматически</a:t>
                      </a:r>
                      <a:endParaRPr lang="ru-RU" sz="2800" dirty="0"/>
                    </a:p>
                    <a:p>
                      <a:r>
                        <a:rPr lang="ru-RU" sz="2800" dirty="0"/>
                        <a:t>Ответ приходит за несколько секунд</a:t>
                      </a:r>
                      <a:endParaRPr lang="ru-RU" sz="2800" dirty="0"/>
                    </a:p>
                  </a:txBody>
                  <a:tcPr>
                    <a:solidFill>
                      <a:srgbClr val="ABC7F3"/>
                    </a:solidFill>
                  </a:tcPr>
                </a:tc>
              </a:tr>
            </a:tbl>
          </a:graphicData>
        </a:graphic>
      </p:graphicFrame>
      <p:pic>
        <p:nvPicPr>
          <p:cNvPr id="21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8471" y="2943404"/>
            <a:ext cx="1355558" cy="990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Объект 17" descr="Хлопать в ладоши со сплошной заливкой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9282408">
            <a:off x="5694352" y="3179675"/>
            <a:ext cx="1162163" cy="116216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 C -0.03803 -0.03797 -0.0767 -0.07824 -0.11719 -0.10579 C -0.21016 -0.16829 -0.11094 -0.1 -0.22344 -0.18334 C -0.2629 -0.21273 -0.30378 -0.23635 -0.34219 -0.26968 C -0.35834 -0.28357 -0.37474 -0.29653 -0.39063 -0.31111 C -0.41902 -0.33727 -0.44623 -0.36713 -0.475 -0.39167 L -0.51407 -0.42523 C -0.51784 -0.42848 -0.525 -0.42871 -0.525 -0.43611 C -0.525 -0.44329 -0.51758 -0.43125 -0.51407 -0.42778 C -0.49987 -0.41366 -0.48529 -0.40023 -0.47188 -0.38334 C -0.41602 -0.3125 -0.4862 -0.40023 -0.425 -0.32778 C -0.41602 -0.31713 -0.40717 -0.30602 -0.39844 -0.29445 C -0.38425 -0.27547 -0.3711 -0.25371 -0.35625 -0.23635 C -0.33008 -0.2051 -0.29219 -0.15857 -0.2625 -0.12778 C -0.18165 -0.04422 -0.19584 -0.06297 -0.09688 0.02477 C 0.01028 0.12014 -0.14402 -0.00903 0.03906 0.13889 C 0.05364 0.15069 0.06783 0.16435 0.08281 0.17477 C 0.09843 0.18588 0.11406 0.19652 0.12968 0.2081 C 0.20052 0.26134 0.20377 0.27361 0.29531 0.325 C 0.32695 0.34259 0.31484 0.33703 0.33125 0.34421 C 0.32968 0.33611 0.32864 0.32708 0.32656 0.31944 C 0.322 0.30347 0.30989 0.27407 0.30312 0.26111 C 0.2858 0.22847 0.25585 0.175 0.23437 0.14699 C 0.1944 0.0956 0.18216 0.09305 0.15 0.04166 C 0.14361 0.03148 0.13893 0.01852 0.13281 0.00833 C 0.09192 -0.06135 0.05143 -0.11482 0.01718 -0.19723 C -0.01446 -0.27338 -0.01537 -0.2801 -0.05938 -0.35834 C -0.09167 -0.41574 -0.08894 -0.42292 -0.11719 -0.45 C -0.11875 -0.45139 -0.12032 -0.45255 -0.12188 -0.45301 C -0.13907 -0.45718 -0.15639 -0.45996 -0.17344 -0.46412 C -0.18034 -0.46551 -0.18698 -0.46783 -0.19375 -0.46968 C -0.18386 -0.45186 -0.17422 -0.43403 -0.16407 -0.41667 C -0.14935 -0.39144 -0.14597 -0.39121 -0.13282 -0.36111 C -0.12878 -0.35162 -0.12644 -0.33959 -0.12188 -0.33079 C -0.11719 -0.32153 -0.03425 -0.16875 -0.01719 -0.14445 C -0.00105 -0.1213 0.01432 -0.09653 0.03125 -0.07523 C 0.06536 -0.03172 0.10091 0.00833 0.13593 0.04977 C 0.19947 0.12523 0.16718 0.08333 0.20468 0.13333 C 0.2052 0.13611 0.20546 0.13889 0.20625 0.14143 C 0.21028 0.15602 0.21341 0.14768 0.19843 0.15532 C 0.16562 0.12199 0.13177 0.09143 0.1 0.05532 C 0.08281 0.03611 0.06614 0.01504 0.04843 -0.00278 C 0.01445 -0.03704 -0.02058 -0.06713 -0.05469 -0.10023 C -0.06954 -0.11436 -0.08373 -0.1301 -0.09844 -0.14445 C -0.11602 -0.16158 -0.1349 -0.17477 -0.15157 -0.19468 C -0.25469 -0.31667 -0.17123 -0.22107 -0.32813 -0.38334 C -0.34558 -0.40139 -0.3612 -0.42523 -0.37969 -0.43912 C -0.43125 -0.47732 -0.41159 -0.46528 -0.4375 -0.48056 C -0.46003 -0.50926 -0.43816 -0.47894 -0.45625 -0.51135 C -0.45977 -0.51736 -0.46381 -0.52199 -0.46719 -0.52778 C -0.48998 -0.56574 -0.48764 -0.57246 -0.52344 -0.61389 C -0.5323 -0.62408 -0.54154 -0.63311 -0.54987 -0.64445 C -0.55665 -0.65324 -0.55612 -0.64815 -0.55612 -0.65556 L -0.55612 -0.65556 L -0.55612 -0.65556 " pathEditMode="relative" ptsTypes="AAAAAAAAAAAAAAAAAAAAAAAAAAAAAAAAAAAAAAAAAAAAAAAAAAAAAAAA">
                                      <p:cBhvr>
                                        <p:cTn id="6" dur="22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  <p:par>
                                <p:cTn id="7" presetID="0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 0 C -0.03803 -0.03797 -0.0767 -0.07824 -0.11719 -0.10579 C -0.21016 -0.16829 -0.11094 -0.1 -0.22344 -0.18334 C -0.2629 -0.21273 -0.30378 -0.23635 -0.34219 -0.26968 C -0.35834 -0.28357 -0.37474 -0.29653 -0.39063 -0.31111 C -0.41902 -0.33727 -0.44623 -0.36713 -0.475 -0.39167 L -0.51407 -0.42523 C -0.51784 -0.42848 -0.525 -0.42871 -0.525 -0.43611 C -0.525 -0.44329 -0.51758 -0.43125 -0.51407 -0.42778 C -0.49987 -0.41366 -0.48529 -0.40023 -0.47188 -0.38334 C -0.41602 -0.3125 -0.4862 -0.40023 -0.425 -0.32778 C -0.41602 -0.31713 -0.40717 -0.30602 -0.39844 -0.29445 C -0.38425 -0.27547 -0.3711 -0.25371 -0.35625 -0.23635 C -0.33008 -0.2051 -0.29219 -0.15857 -0.2625 -0.12778 C -0.18165 -0.04422 -0.19584 -0.06297 -0.09688 0.02477 C 0.01028 0.12014 -0.14402 -0.00903 0.03906 0.13889 C 0.05364 0.15069 0.06783 0.16435 0.08281 0.17477 C 0.09843 0.18588 0.11406 0.19652 0.12968 0.2081 C 0.20052 0.26134 0.20377 0.27361 0.29531 0.325 C 0.32695 0.34259 0.31484 0.33703 0.33125 0.34421 C 0.32968 0.33611 0.32864 0.32708 0.32656 0.31944 C 0.322 0.30347 0.30989 0.27407 0.30312 0.26111 C 0.2858 0.22847 0.25585 0.175 0.23437 0.14699 C 0.1944 0.0956 0.18216 0.09305 0.15 0.04166 C 0.14361 0.03148 0.13893 0.01852 0.13281 0.00833 C 0.09192 -0.06135 0.05143 -0.11482 0.01718 -0.19723 C -0.01446 -0.27338 -0.01537 -0.2801 -0.05938 -0.35834 C -0.09167 -0.41574 -0.08894 -0.42292 -0.11719 -0.45 C -0.11875 -0.45139 -0.12032 -0.45255 -0.12188 -0.45301 C -0.13907 -0.45718 -0.15639 -0.45996 -0.17344 -0.46412 C -0.18034 -0.46551 -0.18698 -0.46783 -0.19375 -0.46968 C -0.18386 -0.45186 -0.17422 -0.43403 -0.16407 -0.41667 C -0.14935 -0.39144 -0.14597 -0.39121 -0.13282 -0.36111 C -0.12878 -0.35162 -0.12644 -0.33959 -0.12188 -0.33079 C -0.11719 -0.32153 -0.03425 -0.16875 -0.01719 -0.14445 C -0.00105 -0.1213 0.01432 -0.09653 0.03125 -0.07523 C 0.06536 -0.03172 0.10091 0.00833 0.13593 0.04977 C 0.19947 0.12523 0.16718 0.08333 0.20468 0.13333 C 0.2052 0.13611 0.20546 0.13889 0.20625 0.14143 C 0.21028 0.15602 0.21341 0.14768 0.19843 0.15532 C 0.16562 0.12199 0.13177 0.09143 0.1 0.05532 C 0.08281 0.03611 0.06614 0.01504 0.04843 -0.00278 C 0.01445 -0.03704 -0.02058 -0.06713 -0.05469 -0.10023 C -0.06954 -0.11436 -0.08373 -0.1301 -0.09844 -0.14445 C -0.11602 -0.16158 -0.1349 -0.17477 -0.15157 -0.19468 C -0.25469 -0.31667 -0.17123 -0.22107 -0.32813 -0.38334 C -0.34558 -0.40139 -0.3612 -0.42523 -0.37969 -0.43912 C -0.43125 -0.47732 -0.41159 -0.46528 -0.4375 -0.48056 C -0.46003 -0.50926 -0.43816 -0.47894 -0.45625 -0.51135 C -0.45977 -0.51736 -0.46381 -0.52199 -0.46719 -0.52778 C -0.48998 -0.56574 -0.48764 -0.57246 -0.52344 -0.61389 C -0.5323 -0.62408 -0.54154 -0.63311 -0.54987 -0.64445 C -0.55665 -0.65324 -0.55612 -0.64815 -0.55612 -0.65556 L -0.55612 -0.65556 L -0.55612 -0.65556 " pathEditMode="relative" ptsTypes="AAAAAAAAAAAAAAAAAAAAAAAAAAAAAAAAAAAAAAAAAAAAAAAAAAAAAAAA">
                                      <p:cBhvr>
                                        <p:cTn id="8" dur="225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Прямоугольник 3"/>
          <p:cNvSpPr/>
          <p:nvPr/>
        </p:nvSpPr>
        <p:spPr>
          <a:xfrm>
            <a:off x="-687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5" name="Группа 4"/>
          <p:cNvGrpSpPr/>
          <p:nvPr/>
        </p:nvGrpSpPr>
        <p:grpSpPr>
          <a:xfrm>
            <a:off x="-101960" y="5420481"/>
            <a:ext cx="12192000" cy="6858000"/>
            <a:chOff x="-1" y="0"/>
            <a:chExt cx="12192000" cy="6858000"/>
          </a:xfrm>
          <a:noFill/>
        </p:grpSpPr>
        <p:sp>
          <p:nvSpPr>
            <p:cNvPr id="6" name="Прямоугольник 5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7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8" name="TextBox 7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9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10" name="TextBox 9"/>
          <p:cNvSpPr txBox="1"/>
          <p:nvPr/>
        </p:nvSpPr>
        <p:spPr>
          <a:xfrm>
            <a:off x="5206406" y="791034"/>
            <a:ext cx="608162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мационная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сность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моего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заключается в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 от 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dos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атак,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овании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также в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дации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данных.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-3002108" y="786837"/>
            <a:ext cx="319177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 err="1">
                <a:solidFill>
                  <a:srgbClr val="B1B2B2"/>
                </a:solidFill>
                <a:latin typeface="Arial Black" panose="020B0A04020102020204" pitchFamily="34" charset="0"/>
              </a:rPr>
              <a:t>Инфор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B1B2B2"/>
                </a:solidFill>
                <a:latin typeface="Arial Black" panose="020B0A04020102020204" pitchFamily="34" charset="0"/>
              </a:rPr>
              <a:t>Безопа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Проект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 Защит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 err="1">
                <a:solidFill>
                  <a:srgbClr val="B1B2B2"/>
                </a:solidFill>
                <a:latin typeface="Arial Black" panose="020B0A04020102020204" pitchFamily="34" charset="0"/>
              </a:rPr>
              <a:t>Кешир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        а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 вали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-687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6" name="Группа 5"/>
          <p:cNvGrpSpPr/>
          <p:nvPr/>
        </p:nvGrpSpPr>
        <p:grpSpPr>
          <a:xfrm>
            <a:off x="-101960" y="5420481"/>
            <a:ext cx="12192000" cy="6858000"/>
            <a:chOff x="-1" y="0"/>
            <a:chExt cx="12192000" cy="6858000"/>
          </a:xfrm>
          <a:noFill/>
        </p:grpSpPr>
        <p:sp>
          <p:nvSpPr>
            <p:cNvPr id="7" name="Прямоугольник 6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8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9" name="TextBox 8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0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11" name="TextBox 10"/>
          <p:cNvSpPr txBox="1"/>
          <p:nvPr/>
        </p:nvSpPr>
        <p:spPr>
          <a:xfrm>
            <a:off x="5206406" y="791034"/>
            <a:ext cx="608162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мационная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сность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моего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заключается в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 от 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dos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атак,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овании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также в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дации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данных.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032361" y="786837"/>
            <a:ext cx="3191773" cy="4399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 err="1">
                <a:solidFill>
                  <a:srgbClr val="B1B2B2"/>
                </a:solidFill>
                <a:latin typeface="Arial Black" panose="020B0A04020102020204" pitchFamily="34" charset="0"/>
              </a:rPr>
              <a:t>Инфор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B1B2B2"/>
                </a:solidFill>
                <a:latin typeface="Arial Black" panose="020B0A04020102020204" pitchFamily="34" charset="0"/>
              </a:rPr>
              <a:t>Безопа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Проект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 Защит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 err="1">
                <a:solidFill>
                  <a:srgbClr val="B1B2B2"/>
                </a:solidFill>
                <a:latin typeface="Arial Black" panose="020B0A04020102020204" pitchFamily="34" charset="0"/>
              </a:rPr>
              <a:t>Кешир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        а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  вали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233647" y="-999505"/>
            <a:ext cx="4634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rgbClr val="B1B2B2"/>
                </a:solidFill>
                <a:latin typeface="Arial Black" panose="020B0A04020102020204" pitchFamily="34" charset="0"/>
              </a:rPr>
              <a:t>Спасибо</a:t>
            </a:r>
            <a:endParaRPr lang="ru-RU" sz="4800" dirty="0">
              <a:solidFill>
                <a:srgbClr val="B1B2B2"/>
              </a:solidFill>
              <a:latin typeface="Arial Black" panose="020B0A040201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087669" y="8396908"/>
            <a:ext cx="3812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ABC7F3"/>
                </a:solidFill>
                <a:latin typeface="Arial Black" panose="020B0A04020102020204" pitchFamily="34" charset="0"/>
              </a:rPr>
              <a:t>За внимание</a:t>
            </a:r>
            <a:endParaRPr lang="ru-RU" sz="36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-2486698" y="786837"/>
            <a:ext cx="3191773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 err="1">
                <a:solidFill>
                  <a:srgbClr val="B1B2B2"/>
                </a:solidFill>
                <a:latin typeface="Arial Black" panose="020B0A04020102020204" pitchFamily="34" charset="0"/>
              </a:rPr>
              <a:t>Инфор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B1B2B2"/>
                </a:solidFill>
                <a:latin typeface="Arial Black" panose="020B0A04020102020204" pitchFamily="34" charset="0"/>
              </a:rPr>
              <a:t>Безопа</a:t>
            </a:r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Проект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 Защит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</a:t>
            </a:r>
            <a:r>
              <a:rPr lang="ru-RU" sz="4000" dirty="0" err="1">
                <a:solidFill>
                  <a:srgbClr val="B1B2B2"/>
                </a:solidFill>
                <a:latin typeface="Arial Black" panose="020B0A04020102020204" pitchFamily="34" charset="0"/>
              </a:rPr>
              <a:t>Кешир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         а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B1B2B2"/>
                </a:solidFill>
                <a:latin typeface="Arial Black" panose="020B0A04020102020204" pitchFamily="34" charset="0"/>
              </a:rPr>
              <a:t>В вали</a:t>
            </a:r>
            <a:endParaRPr lang="ru-RU" sz="4000" dirty="0">
              <a:solidFill>
                <a:srgbClr val="B1B2B2"/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2273051" y="791034"/>
            <a:ext cx="6081622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мационная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сность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моего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а заключается в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е от </a:t>
            </a:r>
            <a:r>
              <a:rPr lang="en-US" sz="4000" dirty="0">
                <a:solidFill>
                  <a:srgbClr val="ABC7F3"/>
                </a:solidFill>
                <a:latin typeface="Arial Black" panose="020B0A04020102020204" pitchFamily="34" charset="0"/>
              </a:rPr>
              <a:t>dos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атак,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овании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также в 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  <a:p>
            <a:r>
              <a:rPr lang="ru-RU" sz="4000" dirty="0" err="1">
                <a:solidFill>
                  <a:srgbClr val="ABC7F3"/>
                </a:solidFill>
                <a:latin typeface="Arial Black" panose="020B0A04020102020204" pitchFamily="34" charset="0"/>
              </a:rPr>
              <a:t>дации</a:t>
            </a:r>
            <a:r>
              <a:rPr lang="ru-RU" sz="4000" dirty="0">
                <a:solidFill>
                  <a:srgbClr val="ABC7F3"/>
                </a:solidFill>
                <a:latin typeface="Arial Black" panose="020B0A04020102020204" pitchFamily="34" charset="0"/>
              </a:rPr>
              <a:t> данных.</a:t>
            </a:r>
            <a:endParaRPr lang="ru-RU" sz="40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Прямоугольник 5"/>
          <p:cNvSpPr/>
          <p:nvPr/>
        </p:nvSpPr>
        <p:spPr>
          <a:xfrm>
            <a:off x="0" y="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7" name="Группа 6"/>
          <p:cNvGrpSpPr/>
          <p:nvPr/>
        </p:nvGrpSpPr>
        <p:grpSpPr>
          <a:xfrm>
            <a:off x="-101960" y="2659520"/>
            <a:ext cx="12192000" cy="6858000"/>
            <a:chOff x="-1" y="0"/>
            <a:chExt cx="12192000" cy="6858000"/>
          </a:xfrm>
          <a:noFill/>
        </p:grpSpPr>
        <p:sp>
          <p:nvSpPr>
            <p:cNvPr id="8" name="Прямоугольник 7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9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036194" y="4439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sp>
          <p:nvSpPr>
            <p:cNvPr id="10" name="TextBox 9"/>
            <p:cNvSpPr txBox="1"/>
            <p:nvPr/>
          </p:nvSpPr>
          <p:spPr>
            <a:xfrm>
              <a:off x="3965788" y="456484"/>
              <a:ext cx="4383388" cy="707886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sz="4000" dirty="0">
                  <a:solidFill>
                    <a:srgbClr val="B1B2B2"/>
                  </a:solidFill>
                  <a:latin typeface="Arial Black" panose="020B0A04020102020204" pitchFamily="34" charset="0"/>
                </a:rPr>
                <a:t>News </a:t>
              </a:r>
              <a:r>
                <a:rPr lang="en-US" sz="4000" dirty="0">
                  <a:solidFill>
                    <a:srgbClr val="ABC7F3"/>
                  </a:solidFill>
                  <a:latin typeface="Arial Black" panose="020B0A04020102020204" pitchFamily="34" charset="0"/>
                </a:rPr>
                <a:t>Checker</a:t>
              </a:r>
              <a:endParaRPr lang="ru-RU" sz="4000" dirty="0">
                <a:solidFill>
                  <a:srgbClr val="ABC7F3"/>
                </a:solidFill>
                <a:latin typeface="Arial Black" panose="020B0A04020102020204" pitchFamily="34" charset="0"/>
              </a:endParaRPr>
            </a:p>
          </p:txBody>
        </p:sp>
        <p:pic>
          <p:nvPicPr>
            <p:cNvPr id="11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8230730" y="370715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12" name="TextBox 11"/>
          <p:cNvSpPr txBox="1"/>
          <p:nvPr/>
        </p:nvSpPr>
        <p:spPr>
          <a:xfrm>
            <a:off x="4233647" y="2244021"/>
            <a:ext cx="4634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rgbClr val="B1B2B2"/>
                </a:solidFill>
                <a:latin typeface="Arial Black" panose="020B0A04020102020204" pitchFamily="34" charset="0"/>
              </a:rPr>
              <a:t>Спасибо</a:t>
            </a:r>
            <a:endParaRPr lang="ru-RU" sz="4800" dirty="0">
              <a:solidFill>
                <a:srgbClr val="B1B2B2"/>
              </a:solidFill>
              <a:latin typeface="Arial Black" panose="020B0A04020102020204" pitchFamily="34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4087669" y="3859422"/>
            <a:ext cx="3812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ABC7F3"/>
                </a:solidFill>
                <a:latin typeface="Arial Black" panose="020B0A04020102020204" pitchFamily="34" charset="0"/>
              </a:rPr>
              <a:t>За внимание</a:t>
            </a:r>
            <a:endParaRPr lang="ru-RU" sz="36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Прямоугольник 6"/>
          <p:cNvSpPr/>
          <p:nvPr/>
        </p:nvSpPr>
        <p:spPr>
          <a:xfrm>
            <a:off x="0" y="11430"/>
            <a:ext cx="12192687" cy="6849199"/>
          </a:xfrm>
          <a:prstGeom prst="rect">
            <a:avLst/>
          </a:prstGeom>
          <a:solidFill>
            <a:srgbClr val="29262B"/>
          </a:solidFill>
          <a:ln>
            <a:solidFill>
              <a:srgbClr val="29262B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grpSp>
        <p:nvGrpSpPr>
          <p:cNvPr id="9" name="Группа 8"/>
          <p:cNvGrpSpPr/>
          <p:nvPr/>
        </p:nvGrpSpPr>
        <p:grpSpPr>
          <a:xfrm>
            <a:off x="-101960" y="2659520"/>
            <a:ext cx="12192000" cy="6858000"/>
            <a:chOff x="-1" y="0"/>
            <a:chExt cx="12192000" cy="6858000"/>
          </a:xfrm>
          <a:noFill/>
        </p:grpSpPr>
        <p:sp>
          <p:nvSpPr>
            <p:cNvPr id="12" name="Прямоугольник 11"/>
            <p:cNvSpPr/>
            <p:nvPr/>
          </p:nvSpPr>
          <p:spPr>
            <a:xfrm>
              <a:off x="-1" y="0"/>
              <a:ext cx="12192000" cy="6858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3" name="Picture 2" descr="https://dead-god.ru/wp-content/uploads/2021/11/183.png"/>
            <p:cNvPicPr>
              <a:picLocks noChangeAspect="1" noChangeArrowheads="1"/>
            </p:cNvPicPr>
            <p:nvPr/>
          </p:nvPicPr>
          <p:blipFill>
            <a:blip r:embed="rId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20329685">
              <a:off x="3768349" y="342317"/>
              <a:ext cx="859286" cy="859286"/>
            </a:xfrm>
            <a:prstGeom prst="rect">
              <a:avLst/>
            </a:prstGeom>
            <a:grpFill/>
            <a:ln>
              <a:noFill/>
            </a:ln>
          </p:spPr>
        </p:pic>
        <p:pic>
          <p:nvPicPr>
            <p:cNvPr id="15" name="Picture 2" descr="https://dead-god.ru/wp-content/uploads/2021/11/23-5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 rot="773143">
              <a:off x="7158215" y="370080"/>
              <a:ext cx="656637" cy="812980"/>
            </a:xfrm>
            <a:prstGeom prst="rect">
              <a:avLst/>
            </a:prstGeom>
            <a:grpFill/>
            <a:ln>
              <a:noFill/>
            </a:ln>
          </p:spPr>
        </p:pic>
      </p:grpSp>
      <p:sp>
        <p:nvSpPr>
          <p:cNvPr id="16" name="TextBox 11"/>
          <p:cNvSpPr txBox="1"/>
          <p:nvPr/>
        </p:nvSpPr>
        <p:spPr>
          <a:xfrm>
            <a:off x="4233647" y="2244021"/>
            <a:ext cx="46341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4800" dirty="0">
                <a:solidFill>
                  <a:srgbClr val="B1B2B2"/>
                </a:solidFill>
                <a:latin typeface="Arial Black" panose="020B0A04020102020204" pitchFamily="34" charset="0"/>
              </a:rPr>
              <a:t>Спасибо</a:t>
            </a:r>
            <a:endParaRPr lang="ru-RU" sz="4800" dirty="0">
              <a:solidFill>
                <a:srgbClr val="B1B2B2"/>
              </a:solidFill>
              <a:latin typeface="Arial Black" panose="020B0A04020102020204" pitchFamily="34" charset="0"/>
            </a:endParaRPr>
          </a:p>
        </p:txBody>
      </p:sp>
      <p:sp>
        <p:nvSpPr>
          <p:cNvPr id="17" name="TextBox 12"/>
          <p:cNvSpPr txBox="1"/>
          <p:nvPr/>
        </p:nvSpPr>
        <p:spPr>
          <a:xfrm>
            <a:off x="4087669" y="3859422"/>
            <a:ext cx="38127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600" dirty="0">
                <a:solidFill>
                  <a:srgbClr val="ABC7F3"/>
                </a:solidFill>
                <a:latin typeface="Arial Black" panose="020B0A04020102020204" pitchFamily="34" charset="0"/>
              </a:rPr>
              <a:t>За внимание</a:t>
            </a:r>
            <a:endParaRPr lang="ru-RU" sz="3600" dirty="0">
              <a:solidFill>
                <a:srgbClr val="ABC7F3"/>
              </a:solidFill>
              <a:latin typeface="Arial Black" panose="020B0A04020102020204" pitchFamily="34" charset="0"/>
            </a:endParaRPr>
          </a:p>
        </p:txBody>
      </p:sp>
      <p:grpSp>
        <p:nvGrpSpPr>
          <p:cNvPr id="10" name="Группа 9"/>
          <p:cNvGrpSpPr/>
          <p:nvPr/>
        </p:nvGrpSpPr>
        <p:grpSpPr>
          <a:xfrm rot="0">
            <a:off x="5069205" y="2825750"/>
            <a:ext cx="6096000" cy="1225550"/>
            <a:chOff x="5962" y="3404"/>
            <a:chExt cx="9600" cy="1930"/>
          </a:xfrm>
        </p:grpSpPr>
        <p:sp>
          <p:nvSpPr>
            <p:cNvPr id="8" name="Текстовое поле 7"/>
            <p:cNvSpPr txBox="1"/>
            <p:nvPr/>
          </p:nvSpPr>
          <p:spPr>
            <a:xfrm>
              <a:off x="6137" y="3591"/>
              <a:ext cx="4300" cy="17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ru-RU" altLang="en-US" sz="6600">
                  <a:solidFill>
                    <a:srgbClr val="ABC7F3"/>
                  </a:solidFill>
                </a:rPr>
                <a:t>📰</a:t>
              </a:r>
              <a:endParaRPr lang="ru-RU" altLang="en-US" sz="6600">
                <a:solidFill>
                  <a:srgbClr val="ABC7F3"/>
                </a:solidFill>
              </a:endParaRPr>
            </a:p>
          </p:txBody>
        </p:sp>
        <p:sp>
          <p:nvSpPr>
            <p:cNvPr id="4" name="Текстовое поле 3"/>
            <p:cNvSpPr txBox="1"/>
            <p:nvPr/>
          </p:nvSpPr>
          <p:spPr>
            <a:xfrm>
              <a:off x="5962" y="3404"/>
              <a:ext cx="9600" cy="1743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r>
                <a:rPr lang="ru-RU" altLang="en-US" sz="6600">
                  <a:solidFill>
                    <a:srgbClr val="B1B2B2"/>
                  </a:solidFill>
                  <a:sym typeface="+mn-ea"/>
                </a:rPr>
                <a:t>📰</a:t>
              </a:r>
              <a:endParaRPr lang="ru-RU" altLang="en-US" sz="6600">
                <a:solidFill>
                  <a:srgbClr val="B1B2B2"/>
                </a:solidFill>
                <a:sym typeface="+mn-ea"/>
              </a:endParaRPr>
            </a:p>
          </p:txBody>
        </p:sp>
      </p:grpSp>
      <p:sp>
        <p:nvSpPr>
          <p:cNvPr id="5" name="Текстовое поле 4"/>
          <p:cNvSpPr txBox="1"/>
          <p:nvPr/>
        </p:nvSpPr>
        <p:spPr>
          <a:xfrm>
            <a:off x="4570730" y="2900045"/>
            <a:ext cx="1130300" cy="11068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6600" dirty="0">
                <a:solidFill>
                  <a:srgbClr val="B1B2B2"/>
                </a:solidFill>
                <a:latin typeface="Arial Black" panose="020B0A04020102020204" pitchFamily="34" charset="0"/>
                <a:cs typeface="Arial Black" panose="020B0A04020102020204" pitchFamily="34" charset="0"/>
                <a:sym typeface="+mn-ea"/>
              </a:rPr>
              <a:t>N</a:t>
            </a:r>
            <a:r>
              <a:rPr lang="ru-RU" altLang="en-US" sz="6600" dirty="0">
                <a:solidFill>
                  <a:srgbClr val="B1B2B2"/>
                </a:solidFill>
                <a:latin typeface="Arial Black" panose="020B0A04020102020204" pitchFamily="34" charset="0"/>
                <a:sym typeface="+mn-ea"/>
              </a:rPr>
              <a:t> </a:t>
            </a:r>
            <a:r>
              <a:rPr lang="en-US" sz="6600" dirty="0">
                <a:solidFill>
                  <a:srgbClr val="B1B2B2"/>
                </a:solidFill>
                <a:latin typeface="Arial Black" panose="020B0A04020102020204" pitchFamily="34" charset="0"/>
                <a:sym typeface="+mn-ea"/>
              </a:rPr>
              <a:t> </a:t>
            </a:r>
            <a:r>
              <a:rPr lang="ru-RU" altLang="en-US" sz="6600" dirty="0">
                <a:solidFill>
                  <a:srgbClr val="B1B2B2"/>
                </a:solidFill>
                <a:latin typeface="Arial Black" panose="020B0A04020102020204" pitchFamily="34" charset="0"/>
                <a:sym typeface="+mn-ea"/>
              </a:rPr>
              <a:t> </a:t>
            </a:r>
            <a:endParaRPr lang="en-US" altLang="en-US" sz="6600" dirty="0">
              <a:solidFill>
                <a:srgbClr val="ABC7F3"/>
              </a:solidFill>
              <a:latin typeface="Arial Black" panose="020B0A04020102020204" pitchFamily="34" charset="0"/>
              <a:sym typeface="+mn-ea"/>
            </a:endParaRPr>
          </a:p>
        </p:txBody>
      </p:sp>
      <p:sp>
        <p:nvSpPr>
          <p:cNvPr id="11" name="Текстовое поле 10"/>
          <p:cNvSpPr txBox="1"/>
          <p:nvPr/>
        </p:nvSpPr>
        <p:spPr>
          <a:xfrm>
            <a:off x="6142355" y="2896870"/>
            <a:ext cx="831215" cy="110680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r>
              <a:rPr lang="en-US" sz="6600" dirty="0">
                <a:solidFill>
                  <a:srgbClr val="ABC7F3"/>
                </a:solidFill>
                <a:latin typeface="Arial Black" panose="020B0A04020102020204" pitchFamily="34" charset="0"/>
                <a:sym typeface="+mn-ea"/>
              </a:rPr>
              <a:t>C</a:t>
            </a:r>
            <a:endParaRPr lang="en-US" altLang="en-US" sz="6600" dirty="0">
              <a:solidFill>
                <a:srgbClr val="ABC7F3"/>
              </a:solidFill>
              <a:latin typeface="Arial Black" panose="020B0A04020102020204" pitchFamily="34" charset="0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7179</Words>
  <Application>WPS Presentation</Application>
  <PresentationFormat>Широкоэкранный</PresentationFormat>
  <Paragraphs>782</Paragraphs>
  <Slides>21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21</vt:i4>
      </vt:variant>
    </vt:vector>
  </HeadingPairs>
  <TitlesOfParts>
    <vt:vector size="33" baseType="lpstr">
      <vt:lpstr>Arial</vt:lpstr>
      <vt:lpstr>SimSun</vt:lpstr>
      <vt:lpstr>Wingdings</vt:lpstr>
      <vt:lpstr>Arial Black</vt:lpstr>
      <vt:lpstr>Bahnschrift SemiBold</vt:lpstr>
      <vt:lpstr>Calibri</vt:lpstr>
      <vt:lpstr>Calibri Light</vt:lpstr>
      <vt:lpstr>Microsoft YaHei</vt:lpstr>
      <vt:lpstr>Arial Unicode MS</vt:lpstr>
      <vt:lpstr>Palatino</vt:lpstr>
      <vt:lpstr>Palatino Linotype</vt:lpstr>
      <vt:lpstr>Тема Office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SPecialiST RePack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Student</dc:creator>
  <cp:lastModifiedBy>Unicum_Student</cp:lastModifiedBy>
  <cp:revision>22</cp:revision>
  <dcterms:created xsi:type="dcterms:W3CDTF">2026-03-21T05:58:00Z</dcterms:created>
  <dcterms:modified xsi:type="dcterms:W3CDTF">2026-04-17T02:43:12Z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DA805FF1696B4EFCBDE2C435A5E25F0F_12</vt:lpwstr>
  </property>
  <property fmtid="{D5CDD505-2E9C-101B-9397-08002B2CF9AE}" pid="3" name="KSOProductBuildVer">
    <vt:lpwstr>1049-12.2.0.23196</vt:lpwstr>
  </property>
</Properties>
</file>