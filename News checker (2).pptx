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C7F3"/>
    <a:srgbClr val="B1B2B2"/>
    <a:srgbClr val="B5B7B7"/>
    <a:srgbClr val="5E5E5E"/>
    <a:srgbClr val="080000"/>
    <a:srgbClr val="696A6A"/>
    <a:srgbClr val="29262B"/>
    <a:srgbClr val="DBDBDB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743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82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6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2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32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08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65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76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77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590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FDCDC-D517-4D9C-97EE-253DDD2A2229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44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7826375" y="6967537"/>
            <a:ext cx="569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solidFill>
                  <a:srgbClr val="080000"/>
                </a:solidFill>
              </a:rPr>
              <a:t>Кошелев Михаил ИИ-71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36FE472-8D69-E933-818A-5C238BC8685C}"/>
              </a:ext>
            </a:extLst>
          </p:cNvPr>
          <p:cNvGrpSpPr/>
          <p:nvPr/>
        </p:nvGrpSpPr>
        <p:grpSpPr>
          <a:xfrm>
            <a:off x="-939115" y="-4819135"/>
            <a:ext cx="14461439" cy="11677135"/>
            <a:chOff x="-1" y="0"/>
            <a:chExt cx="12192000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BF9D518-BB1B-56BE-4B97-FDDD20A1A7EB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2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219FC87B-E11E-B4DA-D294-45DBF99EE1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DD856F1-ED60-7893-88B5-08C4433E27EA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5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EA226543-80F2-8C41-B5BB-49C6562C9E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3847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0" y="0"/>
            <a:ext cx="12192000" cy="6858000"/>
            <a:chOff x="-1" y="0"/>
            <a:chExt cx="12192000" cy="6858000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26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6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/>
          <p:cNvSpPr txBox="1"/>
          <p:nvPr/>
        </p:nvSpPr>
        <p:spPr>
          <a:xfrm>
            <a:off x="7826375" y="6383337"/>
            <a:ext cx="569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solidFill>
                  <a:srgbClr val="DBDBDB"/>
                </a:solidFill>
              </a:rPr>
              <a:t>Кошелев Михаил ИИ-71</a:t>
            </a:r>
          </a:p>
        </p:txBody>
      </p:sp>
      <p:pic>
        <p:nvPicPr>
          <p:cNvPr id="20" name="Picture 2" descr="https://dead-god.ru/wp-content/uploads/2021/11/29-3.png">
            <a:extLst>
              <a:ext uri="{FF2B5EF4-FFF2-40B4-BE49-F238E27FC236}">
                <a16:creationId xmlns:a16="http://schemas.microsoft.com/office/drawing/2014/main" id="{81279451-6798-1A17-900F-8373EF07F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21" y="7453824"/>
            <a:ext cx="798098" cy="91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https://dead-god.ru/wp-content/uploads/2021/11/50-2.png">
            <a:extLst>
              <a:ext uri="{FF2B5EF4-FFF2-40B4-BE49-F238E27FC236}">
                <a16:creationId xmlns:a16="http://schemas.microsoft.com/office/drawing/2014/main" id="{8278B88A-BDF6-7D36-A92A-D0D13C873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394">
            <a:off x="10447581" y="9621709"/>
            <a:ext cx="746455" cy="78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B98DCE9-5EC3-3315-0911-78D675D659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780547" y="4844404"/>
            <a:ext cx="1352739" cy="134321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DCD7DB8-395C-7015-AA25-2E27B5F2F4E4}"/>
              </a:ext>
            </a:extLst>
          </p:cNvPr>
          <p:cNvSpPr txBox="1"/>
          <p:nvPr/>
        </p:nvSpPr>
        <p:spPr>
          <a:xfrm>
            <a:off x="-1856514" y="6225519"/>
            <a:ext cx="1776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solidFill>
                  <a:srgbClr val="DBDBDB"/>
                </a:solidFill>
              </a:rPr>
              <a:t>Спрайты для презентации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458F524-D642-785D-FC2A-04B49B8FC5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493041" y="4806304"/>
            <a:ext cx="1390844" cy="1400370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BEC077D-B1AF-BC04-60C7-B11409FD5C31}"/>
              </a:ext>
            </a:extLst>
          </p:cNvPr>
          <p:cNvSpPr/>
          <p:nvPr/>
        </p:nvSpPr>
        <p:spPr>
          <a:xfrm>
            <a:off x="-3493041" y="6311900"/>
            <a:ext cx="146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>
                <a:solidFill>
                  <a:srgbClr val="ABC7F3"/>
                </a:solidFill>
              </a:rPr>
              <a:t>Репозиторий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045DFD-5A51-42CC-8DF0-4CDC50AA3DE7}"/>
              </a:ext>
            </a:extLst>
          </p:cNvPr>
          <p:cNvSpPr txBox="1"/>
          <p:nvPr/>
        </p:nvSpPr>
        <p:spPr>
          <a:xfrm>
            <a:off x="1217560" y="8390538"/>
            <a:ext cx="10334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Сервис для 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верки новостей и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поиска ссылок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на достоверную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информацию.</a:t>
            </a:r>
          </a:p>
        </p:txBody>
      </p:sp>
    </p:spTree>
    <p:extLst>
      <p:ext uri="{BB962C8B-B14F-4D97-AF65-F5344CB8AC3E}">
        <p14:creationId xmlns:p14="http://schemas.microsoft.com/office/powerpoint/2010/main" val="272329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7FC25BD7-6ADA-E017-3340-2D04629E8D30}"/>
              </a:ext>
            </a:extLst>
          </p:cNvPr>
          <p:cNvGrpSpPr/>
          <p:nvPr/>
        </p:nvGrpSpPr>
        <p:grpSpPr>
          <a:xfrm>
            <a:off x="0" y="-20135"/>
            <a:ext cx="12192000" cy="6962504"/>
            <a:chOff x="-1" y="0"/>
            <a:chExt cx="12192000" cy="6858000"/>
          </a:xfrm>
        </p:grpSpPr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79D94C29-8380-E61D-F117-6AB1F540D9B1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803B7C43-C028-1AE4-777B-300303B9E1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A8E9019-533B-AA76-B8C3-5CE01AE485E6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05B8FB14-1C85-D590-FA9D-E3F73B70DB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/>
          <p:cNvSpPr txBox="1"/>
          <p:nvPr/>
        </p:nvSpPr>
        <p:spPr>
          <a:xfrm>
            <a:off x="7826375" y="6383337"/>
            <a:ext cx="569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ABC7F3"/>
                </a:solidFill>
              </a:rPr>
              <a:t>Кошелев Михаил ИИ-71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0" y="-682354"/>
            <a:ext cx="11344643" cy="6962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5904411" y="1324872"/>
            <a:ext cx="0" cy="608430"/>
          </a:xfrm>
          <a:prstGeom prst="line">
            <a:avLst/>
          </a:prstGeom>
          <a:ln w="76200">
            <a:solidFill>
              <a:srgbClr val="B1B2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https://dead-god.ru/wp-content/uploads/2021/11/29-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21" y="1324873"/>
            <a:ext cx="798098" cy="91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dead-god.ru/wp-content/uploads/2021/11/50-2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394">
            <a:off x="10447581" y="3492758"/>
            <a:ext cx="746455" cy="78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112" y="4844404"/>
            <a:ext cx="1352739" cy="13432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45" y="6225519"/>
            <a:ext cx="1776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solidFill>
                  <a:srgbClr val="DBDBDB"/>
                </a:solidFill>
              </a:rPr>
              <a:t>Спрайты для презентации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9227" y="4806304"/>
            <a:ext cx="1390844" cy="1400370"/>
          </a:xfrm>
          <a:prstGeom prst="rect">
            <a:avLst/>
          </a:prstGeom>
        </p:spPr>
      </p:pic>
      <p:sp>
        <p:nvSpPr>
          <p:cNvPr id="21" name="Прямоугольник 20"/>
          <p:cNvSpPr/>
          <p:nvPr/>
        </p:nvSpPr>
        <p:spPr>
          <a:xfrm>
            <a:off x="1919227" y="6311900"/>
            <a:ext cx="146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>
                <a:solidFill>
                  <a:srgbClr val="ABC7F3"/>
                </a:solidFill>
              </a:rPr>
              <a:t>Репозиторий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2D3E76B-BD85-8108-0AE7-2D8743C0C377}"/>
              </a:ext>
            </a:extLst>
          </p:cNvPr>
          <p:cNvSpPr/>
          <p:nvPr/>
        </p:nvSpPr>
        <p:spPr>
          <a:xfrm>
            <a:off x="12170002" y="-20135"/>
            <a:ext cx="14461439" cy="6926692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2F5C1409-4F0D-E5C1-E348-50DC193BAD65}"/>
              </a:ext>
            </a:extLst>
          </p:cNvPr>
          <p:cNvGrpSpPr/>
          <p:nvPr/>
        </p:nvGrpSpPr>
        <p:grpSpPr>
          <a:xfrm>
            <a:off x="12195599" y="288372"/>
            <a:ext cx="3315406" cy="30171114"/>
            <a:chOff x="9531908" y="-188712"/>
            <a:chExt cx="3315406" cy="30171114"/>
          </a:xfrm>
        </p:grpSpPr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94687A1B-FA9A-2DAD-FD4E-13D881C327B9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37" name="Группа 36">
                <a:extLst>
                  <a:ext uri="{FF2B5EF4-FFF2-40B4-BE49-F238E27FC236}">
                    <a16:creationId xmlns:a16="http://schemas.microsoft.com/office/drawing/2014/main" id="{C766E55A-0C47-A8C7-C5A9-72BBBCDB5F22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33DBB938-5D12-8BDD-349D-167F3574D9A8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41" name="Прямоугольник 40">
                    <a:extLst>
                      <a:ext uri="{FF2B5EF4-FFF2-40B4-BE49-F238E27FC236}">
                        <a16:creationId xmlns:a16="http://schemas.microsoft.com/office/drawing/2014/main" id="{AACA0E51-65C4-C4C5-1D7B-84C07A93E276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3F18CBE-A2B5-7C9F-ECCB-5D8832ED5E73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E9C87A2-7289-191B-1EF1-7FA4366B163E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1A8780B-683E-0AF4-6C79-F15EE26A1DF6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C797C43-5F2E-D148-091E-DD07FED99103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9A12409-673C-F522-F76D-2F70D462F0EC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7F02898E-D146-1078-AFEF-7D10086AD276}"/>
              </a:ext>
            </a:extLst>
          </p:cNvPr>
          <p:cNvSpPr/>
          <p:nvPr/>
        </p:nvSpPr>
        <p:spPr>
          <a:xfrm>
            <a:off x="12194870" y="-2146852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58E22E-BE05-4F4D-D4E0-6E268FC83D45}"/>
              </a:ext>
            </a:extLst>
          </p:cNvPr>
          <p:cNvSpPr txBox="1"/>
          <p:nvPr/>
        </p:nvSpPr>
        <p:spPr>
          <a:xfrm>
            <a:off x="1217560" y="2112831"/>
            <a:ext cx="10334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Сервис для 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верки новостей и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поиска ссылок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на достоверную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информацию.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06A4C-705D-2F38-196F-6FA623A7AD45}"/>
              </a:ext>
            </a:extLst>
          </p:cNvPr>
          <p:cNvSpPr txBox="1"/>
          <p:nvPr/>
        </p:nvSpPr>
        <p:spPr>
          <a:xfrm>
            <a:off x="189595" y="7150776"/>
            <a:ext cx="92117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Автоматич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еская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система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верифик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ации 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сравнения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новостн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ой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статьи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пользова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теля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достоверными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источник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ами.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B2740-1C1C-9C39-477A-EE8CCD52F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53213">
            <a:off x="8309023" y="7135498"/>
            <a:ext cx="582226" cy="74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83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F87CF65-A8CD-C9D1-8020-E25BDAE0787F}"/>
              </a:ext>
            </a:extLst>
          </p:cNvPr>
          <p:cNvGrpSpPr/>
          <p:nvPr/>
        </p:nvGrpSpPr>
        <p:grpSpPr>
          <a:xfrm>
            <a:off x="-2635378" y="0"/>
            <a:ext cx="12192000" cy="6858000"/>
            <a:chOff x="-1" y="0"/>
            <a:chExt cx="12192000" cy="6858000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FFBF0328-9653-B1CD-3CA1-671F431B9481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AC18C9BC-73F2-5E83-71A1-BBE3ADF1F0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B2F48B-947C-E876-F845-9805F4ED523B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1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7B3C33C1-FAF4-E25A-8253-620E260F74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433E0A8-B513-74DB-9CF9-9E8967516803}"/>
              </a:ext>
            </a:extLst>
          </p:cNvPr>
          <p:cNvSpPr/>
          <p:nvPr/>
        </p:nvSpPr>
        <p:spPr>
          <a:xfrm>
            <a:off x="9506464" y="0"/>
            <a:ext cx="14461439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9163804-27D1-14C2-9917-9632ED58E6B9}"/>
              </a:ext>
            </a:extLst>
          </p:cNvPr>
          <p:cNvSpPr/>
          <p:nvPr/>
        </p:nvSpPr>
        <p:spPr>
          <a:xfrm>
            <a:off x="-11664783" y="-682354"/>
            <a:ext cx="11344643" cy="6962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0A8BD8D-5C4D-D5CB-A002-ACFA83B7F57A}"/>
              </a:ext>
            </a:extLst>
          </p:cNvPr>
          <p:cNvCxnSpPr/>
          <p:nvPr/>
        </p:nvCxnSpPr>
        <p:spPr>
          <a:xfrm>
            <a:off x="-6481341" y="1324873"/>
            <a:ext cx="0" cy="608430"/>
          </a:xfrm>
          <a:prstGeom prst="line">
            <a:avLst/>
          </a:prstGeom>
          <a:ln w="76200">
            <a:solidFill>
              <a:srgbClr val="B1B2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F0A84D3-075F-2D0C-A6B6-93E4BBF03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17671" y="4844404"/>
            <a:ext cx="1352739" cy="134321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B0E163C-9F9D-5CAE-2745-B952FD2C6531}"/>
              </a:ext>
            </a:extLst>
          </p:cNvPr>
          <p:cNvSpPr txBox="1"/>
          <p:nvPr/>
        </p:nvSpPr>
        <p:spPr>
          <a:xfrm>
            <a:off x="-11593638" y="6225519"/>
            <a:ext cx="1776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solidFill>
                  <a:srgbClr val="DBDBDB"/>
                </a:solidFill>
              </a:rPr>
              <a:t>Спрайты для презентации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C08B743-C9D8-ADD4-57B0-A1DAF9451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745556" y="4806304"/>
            <a:ext cx="1390844" cy="1400370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CF76B75-3A8D-E3CC-4DDA-6666F7447982}"/>
              </a:ext>
            </a:extLst>
          </p:cNvPr>
          <p:cNvSpPr/>
          <p:nvPr/>
        </p:nvSpPr>
        <p:spPr>
          <a:xfrm>
            <a:off x="-9745556" y="6311900"/>
            <a:ext cx="146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>
                <a:solidFill>
                  <a:srgbClr val="ABC7F3"/>
                </a:solidFill>
              </a:rPr>
              <a:t>Репозиторий</a:t>
            </a: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BCF4A842-882F-5CA5-4265-3F6462F2F30D}"/>
              </a:ext>
            </a:extLst>
          </p:cNvPr>
          <p:cNvGrpSpPr/>
          <p:nvPr/>
        </p:nvGrpSpPr>
        <p:grpSpPr>
          <a:xfrm>
            <a:off x="9531908" y="288372"/>
            <a:ext cx="3315406" cy="30171114"/>
            <a:chOff x="9531908" y="-188712"/>
            <a:chExt cx="3315406" cy="30171114"/>
          </a:xfrm>
        </p:grpSpPr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7219B1B3-6B1A-7CE9-8D1D-531589D002DD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38" name="Группа 37">
                <a:extLst>
                  <a:ext uri="{FF2B5EF4-FFF2-40B4-BE49-F238E27FC236}">
                    <a16:creationId xmlns:a16="http://schemas.microsoft.com/office/drawing/2014/main" id="{BFED8382-7F41-5292-7C8B-09A07B746FBE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34" name="Группа 33">
                  <a:extLst>
                    <a:ext uri="{FF2B5EF4-FFF2-40B4-BE49-F238E27FC236}">
                      <a16:creationId xmlns:a16="http://schemas.microsoft.com/office/drawing/2014/main" id="{EA0CEBE4-58FC-9AE5-3BAA-C222D8F4E4EA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29" name="Прямоугольник 28">
                    <a:extLst>
                      <a:ext uri="{FF2B5EF4-FFF2-40B4-BE49-F238E27FC236}">
                        <a16:creationId xmlns:a16="http://schemas.microsoft.com/office/drawing/2014/main" id="{B5FDA513-D5B0-024C-1F02-6EC3D25F46C0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29FCB31-72FA-DAA2-E018-FA8A36FF064D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E4D6C8F-F2BF-D6EA-7240-53E556FF1EBF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3AD2227-CE8D-E102-4C03-45C777FD7B25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4DFE221-89D8-0C8D-D2A9-9C05B39CC36E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DA42CB-2F7E-1F1A-24CC-61BDCCE83770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2C5E7561-6D72-F770-FA5C-FAB7C17C5572}"/>
              </a:ext>
            </a:extLst>
          </p:cNvPr>
          <p:cNvSpPr/>
          <p:nvPr/>
        </p:nvSpPr>
        <p:spPr>
          <a:xfrm>
            <a:off x="9531179" y="-2146852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09B33-0403-A1F6-73EA-7209409CA4BD}"/>
              </a:ext>
            </a:extLst>
          </p:cNvPr>
          <p:cNvSpPr txBox="1"/>
          <p:nvPr/>
        </p:nvSpPr>
        <p:spPr>
          <a:xfrm>
            <a:off x="207180" y="1945731"/>
            <a:ext cx="92117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Автоматич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еская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система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верифик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ации 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сравнения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новостн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ой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статьи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пользова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теля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достоверными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источник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ами.</a:t>
            </a:r>
          </a:p>
        </p:txBody>
      </p:sp>
      <p:pic>
        <p:nvPicPr>
          <p:cNvPr id="5" name="Picture 2" descr="https://dead-god.ru/wp-content/uploads/2021/11/29-3.png">
            <a:extLst>
              <a:ext uri="{FF2B5EF4-FFF2-40B4-BE49-F238E27FC236}">
                <a16:creationId xmlns:a16="http://schemas.microsoft.com/office/drawing/2014/main" id="{AFA5ADFA-FBD5-5CDF-B5EB-8D02D555D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783710" y="1324873"/>
            <a:ext cx="798098" cy="91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dead-god.ru/wp-content/uploads/2021/11/50-2.png">
            <a:extLst>
              <a:ext uri="{FF2B5EF4-FFF2-40B4-BE49-F238E27FC236}">
                <a16:creationId xmlns:a16="http://schemas.microsoft.com/office/drawing/2014/main" id="{D88E232A-9A98-6DF4-5233-28E15F909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394">
            <a:off x="-1967150" y="3492758"/>
            <a:ext cx="746455" cy="78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CF8D25-412B-EC7F-1937-CE62B43B2476}"/>
              </a:ext>
            </a:extLst>
          </p:cNvPr>
          <p:cNvSpPr txBox="1"/>
          <p:nvPr/>
        </p:nvSpPr>
        <p:spPr>
          <a:xfrm>
            <a:off x="-11197171" y="2112831"/>
            <a:ext cx="10334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Сервис для 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верки новостей и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поиска ссылок</a:t>
            </a:r>
            <a:r>
              <a:rPr lang="ru-RU" sz="4000" dirty="0"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на достоверную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информацию.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9E8FABB-A6F4-AF9F-DA5F-A0DE87308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5602">
            <a:off x="7288638" y="9418074"/>
            <a:ext cx="941546" cy="107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22CB463-3D84-64AB-4D00-98D7C8DC2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53213">
            <a:off x="8309023" y="2120723"/>
            <a:ext cx="582226" cy="74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6B1299-1147-92D6-307B-9FCF31792E31}"/>
              </a:ext>
            </a:extLst>
          </p:cNvPr>
          <p:cNvSpPr txBox="1"/>
          <p:nvPr/>
        </p:nvSpPr>
        <p:spPr>
          <a:xfrm>
            <a:off x="217454" y="6881815"/>
            <a:ext cx="92117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Проект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здан для помощи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быстрого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пределения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фейковой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информации.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также для э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кономии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времени</a:t>
            </a:r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.</a:t>
            </a:r>
            <a:endParaRPr lang="ru-RU" sz="4000" dirty="0">
              <a:solidFill>
                <a:srgbClr val="ABC7F3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3D5E6445-5A64-DB21-6817-3D2DEE5DD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797AF98-3F05-F9B6-D14E-5F9CBF0B3F57}"/>
              </a:ext>
            </a:extLst>
          </p:cNvPr>
          <p:cNvSpPr/>
          <p:nvPr/>
        </p:nvSpPr>
        <p:spPr>
          <a:xfrm>
            <a:off x="9506464" y="0"/>
            <a:ext cx="14461439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ABEBFC1-652F-80A9-1312-E797F89F45EF}"/>
              </a:ext>
            </a:extLst>
          </p:cNvPr>
          <p:cNvGrpSpPr/>
          <p:nvPr/>
        </p:nvGrpSpPr>
        <p:grpSpPr>
          <a:xfrm>
            <a:off x="-2635378" y="0"/>
            <a:ext cx="12192000" cy="6858000"/>
            <a:chOff x="-1" y="0"/>
            <a:chExt cx="12192000" cy="6858000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D31CDD9-2A94-DD1A-BDAA-CDA6610A5B1D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FF9EF359-CEF5-F341-A13D-5BC3CE5F5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CC33BE-1584-654A-4208-D40F81F6526B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6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2E814155-7B4F-5552-3AC2-9B71099C12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7E7E0624-14E9-A809-4774-A207738CC1A5}"/>
              </a:ext>
            </a:extLst>
          </p:cNvPr>
          <p:cNvGrpSpPr/>
          <p:nvPr/>
        </p:nvGrpSpPr>
        <p:grpSpPr>
          <a:xfrm>
            <a:off x="9531908" y="-5516083"/>
            <a:ext cx="3315406" cy="30171114"/>
            <a:chOff x="9531908" y="-188712"/>
            <a:chExt cx="3315406" cy="30171114"/>
          </a:xfrm>
        </p:grpSpPr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0F9BFC2C-5E43-9E18-6C08-0E054D348460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46" name="Группа 45">
                <a:extLst>
                  <a:ext uri="{FF2B5EF4-FFF2-40B4-BE49-F238E27FC236}">
                    <a16:creationId xmlns:a16="http://schemas.microsoft.com/office/drawing/2014/main" id="{69D3FA84-8986-45CB-C894-737B4C159CCE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48" name="Группа 47">
                  <a:extLst>
                    <a:ext uri="{FF2B5EF4-FFF2-40B4-BE49-F238E27FC236}">
                      <a16:creationId xmlns:a16="http://schemas.microsoft.com/office/drawing/2014/main" id="{2FCF9741-7EA0-1DD1-4E5D-73C72302B802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50" name="Прямоугольник 49">
                    <a:extLst>
                      <a:ext uri="{FF2B5EF4-FFF2-40B4-BE49-F238E27FC236}">
                        <a16:creationId xmlns:a16="http://schemas.microsoft.com/office/drawing/2014/main" id="{98BCF8A7-515B-A9DA-D955-3BE70EBFBC54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D9680363-5C3D-B2D0-3F72-6BBCD0243FC1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A6E052C-DDE8-B48C-2B0C-DF77480239F2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BA66992-0607-4064-C131-CCDB87F56BE3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A6F3CFB-AD1A-0D0F-F20F-3F0E6BFA967E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4FC71D6-5795-3424-EFD9-C58F10FF475D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C297F421-E59C-78A1-37EA-0339348A2A2C}"/>
              </a:ext>
            </a:extLst>
          </p:cNvPr>
          <p:cNvSpPr/>
          <p:nvPr/>
        </p:nvSpPr>
        <p:spPr>
          <a:xfrm>
            <a:off x="9531179" y="-7951313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D2A5A6-4021-B979-300C-F49A18519008}"/>
              </a:ext>
            </a:extLst>
          </p:cNvPr>
          <p:cNvSpPr txBox="1"/>
          <p:nvPr/>
        </p:nvSpPr>
        <p:spPr>
          <a:xfrm>
            <a:off x="207180" y="-3276902"/>
            <a:ext cx="92117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Автоматич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еская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система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верифик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ации 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сравнения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новостн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ой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статьи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пользова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теля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с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достоверными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источник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ами.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BA7F2-1C3F-A981-5AF2-FD6ACEBD25D5}"/>
              </a:ext>
            </a:extLst>
          </p:cNvPr>
          <p:cNvSpPr txBox="1"/>
          <p:nvPr/>
        </p:nvSpPr>
        <p:spPr>
          <a:xfrm>
            <a:off x="207180" y="1775547"/>
            <a:ext cx="92117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Проект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здан для помощи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быстрого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пределения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фейковой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информации.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также для э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кономии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времени</a:t>
            </a:r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.</a:t>
            </a:r>
            <a:endParaRPr lang="ru-RU" sz="4000" dirty="0">
              <a:solidFill>
                <a:srgbClr val="ABC7F3"/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43BFFB-F32D-D9BE-7C64-AFC8205DA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5602">
            <a:off x="7449645" y="4320937"/>
            <a:ext cx="941546" cy="107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0957DA8-2295-17B5-4462-BE1CD8D01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53213">
            <a:off x="8309023" y="-3760326"/>
            <a:ext cx="582226" cy="74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12581AD-67BA-F05A-9908-6D9CB54E7CC0}"/>
              </a:ext>
            </a:extLst>
          </p:cNvPr>
          <p:cNvSpPr txBox="1"/>
          <p:nvPr/>
        </p:nvSpPr>
        <p:spPr>
          <a:xfrm>
            <a:off x="207180" y="7011700"/>
            <a:ext cx="92117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B1B2B2"/>
                </a:solidFill>
                <a:latin typeface="Arial Black" panose="020B0A04020102020204" pitchFamily="34" charset="0"/>
              </a:rPr>
              <a:t>API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для п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окупателей(</a:t>
            </a:r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B2C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):</a:t>
            </a:r>
          </a:p>
          <a:p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Пользов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атели могут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пользоват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ься ботом бесплатно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2-3 раза з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 день, а безлимит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будет за п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латную подписку.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862028EF-3FF4-D0A4-67BF-1884D4CC3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7289" y="10237863"/>
            <a:ext cx="812602" cy="100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898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770A5-6FC4-913E-A51B-34FA53C2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F1AD66-8DAD-8999-70AF-8A183A448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8C65BDF8-0E14-6960-EF89-46D47DA4F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CEE0F5-246B-9A94-9ABF-B29CC12FF25A}"/>
              </a:ext>
            </a:extLst>
          </p:cNvPr>
          <p:cNvSpPr/>
          <p:nvPr/>
        </p:nvSpPr>
        <p:spPr>
          <a:xfrm>
            <a:off x="9506464" y="0"/>
            <a:ext cx="14461439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0A41A46-566B-93F4-C2C1-33D237DDCF58}"/>
              </a:ext>
            </a:extLst>
          </p:cNvPr>
          <p:cNvGrpSpPr/>
          <p:nvPr/>
        </p:nvGrpSpPr>
        <p:grpSpPr>
          <a:xfrm>
            <a:off x="-2635378" y="0"/>
            <a:ext cx="12192000" cy="6858000"/>
            <a:chOff x="-1" y="0"/>
            <a:chExt cx="12192000" cy="68580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90778817-9BE8-75FF-58D6-DC7FCDE818D2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52947A3E-1144-9401-0762-6B8EB21908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AE10A61-9F21-4A89-0DBE-3337995D25C3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1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C914A57D-DD97-369F-0BDE-452DD1819D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53AD3B76-8F97-5A10-845D-4686B02664FE}"/>
              </a:ext>
            </a:extLst>
          </p:cNvPr>
          <p:cNvGrpSpPr/>
          <p:nvPr/>
        </p:nvGrpSpPr>
        <p:grpSpPr>
          <a:xfrm>
            <a:off x="9531908" y="-11320547"/>
            <a:ext cx="3315406" cy="30171114"/>
            <a:chOff x="9531908" y="-188712"/>
            <a:chExt cx="3315406" cy="30171114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865975-8E7F-2323-81FB-998BCCE106CD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6890E403-967B-8535-3AAD-C788FDFBBE37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20" name="Группа 19">
                  <a:extLst>
                    <a:ext uri="{FF2B5EF4-FFF2-40B4-BE49-F238E27FC236}">
                      <a16:creationId xmlns:a16="http://schemas.microsoft.com/office/drawing/2014/main" id="{9C02647C-9BB2-CCEC-0F1B-6EA9C6DABB6A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22" name="Прямоугольник 21">
                    <a:extLst>
                      <a:ext uri="{FF2B5EF4-FFF2-40B4-BE49-F238E27FC236}">
                        <a16:creationId xmlns:a16="http://schemas.microsoft.com/office/drawing/2014/main" id="{198CF263-5B81-B0D1-2C05-A81F3A9D5C30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C7C20443-C932-AF37-C0B1-5C87CD17065D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9E1CC9E-DF46-B173-2E1B-35E04259F5AE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8F1CF9-74CD-6B78-803D-5D83E14415E3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D87C79-3090-6B57-E1B1-7FF024ED923A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2B8263-6ECD-B801-E521-C477D4110A15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00B8362-E92A-B3E2-3534-08AD85E8CC93}"/>
              </a:ext>
            </a:extLst>
          </p:cNvPr>
          <p:cNvSpPr/>
          <p:nvPr/>
        </p:nvSpPr>
        <p:spPr>
          <a:xfrm>
            <a:off x="9531179" y="-13716020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3DDCD899-5D8F-46FF-4072-E023F77D3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5602">
            <a:off x="7288638" y="-1549996"/>
            <a:ext cx="941546" cy="107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92C7A91-1A1A-A656-E00D-D806FD586806}"/>
              </a:ext>
            </a:extLst>
          </p:cNvPr>
          <p:cNvSpPr txBox="1"/>
          <p:nvPr/>
        </p:nvSpPr>
        <p:spPr>
          <a:xfrm>
            <a:off x="207180" y="1775547"/>
            <a:ext cx="92117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B1B2B2"/>
                </a:solidFill>
                <a:latin typeface="Arial Black" panose="020B0A04020102020204" pitchFamily="34" charset="0"/>
              </a:rPr>
              <a:t>API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для п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окупателей(</a:t>
            </a:r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B2C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):</a:t>
            </a:r>
          </a:p>
          <a:p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Пользов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атели могут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пользоват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ься ботом бесплатно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2-3 раза з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 день, а безлимит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будет за п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латную подписку.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0A9EFD3-C989-9712-A53D-3D08B3C4E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7289" y="5001710"/>
            <a:ext cx="812602" cy="100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8569B9-E84C-CCE6-7E13-5EFFADD3FADB}"/>
              </a:ext>
            </a:extLst>
          </p:cNvPr>
          <p:cNvSpPr txBox="1"/>
          <p:nvPr/>
        </p:nvSpPr>
        <p:spPr>
          <a:xfrm>
            <a:off x="207180" y="8048166"/>
            <a:ext cx="92117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 моим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расчётам сезонность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моего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екта будет где то 3-4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раза за г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од, из-за войн,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выборов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или просто громких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событий.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Именно в это время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будет сам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ый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большой спрос.</a:t>
            </a: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84D52016-1E98-7934-8304-6C6CDF695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83629">
            <a:off x="211570" y="11863363"/>
            <a:ext cx="745757" cy="74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3E18E84D-F524-9145-5721-B7347840C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32997">
            <a:off x="7334114" y="7253241"/>
            <a:ext cx="614934" cy="8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78F40E-3F83-2DA0-599B-67E66E72A32D}"/>
              </a:ext>
            </a:extLst>
          </p:cNvPr>
          <p:cNvSpPr txBox="1"/>
          <p:nvPr/>
        </p:nvSpPr>
        <p:spPr>
          <a:xfrm>
            <a:off x="207180" y="-3936899"/>
            <a:ext cx="92117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Проект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здан для помощи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быстрого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пределения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фейковой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информации.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также для э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кономии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времени</a:t>
            </a:r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.</a:t>
            </a:r>
            <a:endParaRPr lang="ru-RU" sz="4000" dirty="0">
              <a:solidFill>
                <a:srgbClr val="ABC7F3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889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8C26D-D90C-2741-58E7-45C45086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58EDBA-8D61-771C-7536-B3F81CAC9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9E76ACA1-C9A0-F7C4-730C-B657710B4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2D42E95-F95F-C855-1F7C-3887D0BABAE2}"/>
              </a:ext>
            </a:extLst>
          </p:cNvPr>
          <p:cNvSpPr/>
          <p:nvPr/>
        </p:nvSpPr>
        <p:spPr>
          <a:xfrm>
            <a:off x="9506464" y="0"/>
            <a:ext cx="14461439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7AFAA19-1D2E-2805-2154-161FD0D97DE4}"/>
              </a:ext>
            </a:extLst>
          </p:cNvPr>
          <p:cNvGrpSpPr/>
          <p:nvPr/>
        </p:nvGrpSpPr>
        <p:grpSpPr>
          <a:xfrm>
            <a:off x="-2635378" y="0"/>
            <a:ext cx="12192000" cy="6858000"/>
            <a:chOff x="-1" y="0"/>
            <a:chExt cx="12192000" cy="6858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9BB6E6BF-315F-B0C3-7E25-1C7AB908542B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DA04FE1B-9E62-6D15-5B5F-8E1947E2C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869C18-EA2B-2C0D-1392-910E1CA28B1B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2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CE95DA8F-9063-82DF-9B29-9B37965BB3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5EFF991-142F-6727-D69D-A640C94A3569}"/>
              </a:ext>
            </a:extLst>
          </p:cNvPr>
          <p:cNvGrpSpPr/>
          <p:nvPr/>
        </p:nvGrpSpPr>
        <p:grpSpPr>
          <a:xfrm>
            <a:off x="9531908" y="-17164761"/>
            <a:ext cx="3315406" cy="30171114"/>
            <a:chOff x="9531908" y="-188712"/>
            <a:chExt cx="3315406" cy="30171114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258332B6-115D-2210-42A5-44BF09DA3384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FDD611A0-D4F3-5DFB-9C5B-973C50FB60BE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21" name="Группа 20">
                  <a:extLst>
                    <a:ext uri="{FF2B5EF4-FFF2-40B4-BE49-F238E27FC236}">
                      <a16:creationId xmlns:a16="http://schemas.microsoft.com/office/drawing/2014/main" id="{AA4ABA70-52C5-DE0E-D713-AAFEE4D85E65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23" name="Прямоугольник 22">
                    <a:extLst>
                      <a:ext uri="{FF2B5EF4-FFF2-40B4-BE49-F238E27FC236}">
                        <a16:creationId xmlns:a16="http://schemas.microsoft.com/office/drawing/2014/main" id="{622A8747-A438-07A8-D770-56892B7CA383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9F1BA967-B2F3-E6DB-B26B-6495FEC803DF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18058C6-854A-358F-0F5F-28BC36ADF628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E4DB485-2883-1D9F-A0AC-FB47ABDBEA69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4A67C4-0D55-196B-B01F-8C16E939C78E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716BEF9-C775-B75E-C1CD-BDA688A1075B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F1F6907-53B5-5B32-6AE7-B3230B152A0E}"/>
              </a:ext>
            </a:extLst>
          </p:cNvPr>
          <p:cNvSpPr/>
          <p:nvPr/>
        </p:nvSpPr>
        <p:spPr>
          <a:xfrm>
            <a:off x="9531179" y="-19560234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6FB36B-F8A7-1F86-ACDB-6E36646E4639}"/>
              </a:ext>
            </a:extLst>
          </p:cNvPr>
          <p:cNvSpPr txBox="1"/>
          <p:nvPr/>
        </p:nvSpPr>
        <p:spPr>
          <a:xfrm>
            <a:off x="207180" y="-4403891"/>
            <a:ext cx="92117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B1B2B2"/>
                </a:solidFill>
                <a:latin typeface="Arial Black" panose="020B0A04020102020204" pitchFamily="34" charset="0"/>
              </a:rPr>
              <a:t>API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для п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окупателей(</a:t>
            </a:r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B2C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):</a:t>
            </a:r>
          </a:p>
          <a:p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Пользов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атели могут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пользоват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ься ботом бесплатно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2-3 раза з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 день, а безлимит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будет за п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латную подписку.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C9F5CAA-4E58-4E2F-1DEA-3B4B1F398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7289" y="-1177728"/>
            <a:ext cx="812602" cy="100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6EFBB7-B1DC-4BB2-8A82-97DC3E616675}"/>
              </a:ext>
            </a:extLst>
          </p:cNvPr>
          <p:cNvSpPr txBox="1"/>
          <p:nvPr/>
        </p:nvSpPr>
        <p:spPr>
          <a:xfrm>
            <a:off x="207180" y="2118986"/>
            <a:ext cx="92117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 моим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расчётам сезонность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моего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екта будет где то 3-4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раза за г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од, из-за войн,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выборов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или просто громких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событий.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Именно в это время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будет сам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ый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большой спрос.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1BFAAF0-99A6-0DF9-EF84-6421A69CA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83629">
            <a:off x="211570" y="5934183"/>
            <a:ext cx="745757" cy="74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F68C3AB8-001C-02E8-4D02-3450AE06A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32997">
            <a:off x="7334114" y="1324061"/>
            <a:ext cx="614934" cy="8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036AFB-EA3B-E05A-301B-25965680A34F}"/>
              </a:ext>
            </a:extLst>
          </p:cNvPr>
          <p:cNvSpPr txBox="1"/>
          <p:nvPr/>
        </p:nvSpPr>
        <p:spPr>
          <a:xfrm>
            <a:off x="380430" y="7531471"/>
            <a:ext cx="92117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Моим 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ектом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будут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пользоватьс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люди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всех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возрастов,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но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имеющие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одну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проблему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плохое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различие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правды от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лжи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 интернете.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80864075-119B-80F1-F923-B24E1DBD8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14306">
            <a:off x="7998028" y="7221423"/>
            <a:ext cx="688129" cy="72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BCEB7D3D-65F6-A79D-AB9B-8DBBC997B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69849">
            <a:off x="118127" y="6991250"/>
            <a:ext cx="5715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820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3DD76-561E-ED8E-4B25-DBA753D4E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7A04ED-92ED-6028-229D-11370F54C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8C8AE092-5DEA-327B-D5EA-7FADED280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3654533-673A-7E94-C21F-D451C91154A8}"/>
              </a:ext>
            </a:extLst>
          </p:cNvPr>
          <p:cNvSpPr/>
          <p:nvPr/>
        </p:nvSpPr>
        <p:spPr>
          <a:xfrm>
            <a:off x="9506464" y="0"/>
            <a:ext cx="14461439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954354A-9443-BCB6-880A-C51492CD2CA4}"/>
              </a:ext>
            </a:extLst>
          </p:cNvPr>
          <p:cNvGrpSpPr/>
          <p:nvPr/>
        </p:nvGrpSpPr>
        <p:grpSpPr>
          <a:xfrm>
            <a:off x="-2635378" y="0"/>
            <a:ext cx="12192000" cy="6858000"/>
            <a:chOff x="-1" y="0"/>
            <a:chExt cx="12192000" cy="68580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9C87D0C6-CA02-E530-53AC-5111A8FFAC53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52954CCC-B10A-A4C8-0CB2-CB571B05D3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57BFE7-ACF9-EBF8-C7FE-5A8FB43F8A08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1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7E323435-8B9A-AD24-289D-32F875CC84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633DAA7E-7BC6-AB60-15CD-283EE05544D7}"/>
              </a:ext>
            </a:extLst>
          </p:cNvPr>
          <p:cNvGrpSpPr/>
          <p:nvPr/>
        </p:nvGrpSpPr>
        <p:grpSpPr>
          <a:xfrm>
            <a:off x="9531908" y="-22929462"/>
            <a:ext cx="3315406" cy="30171114"/>
            <a:chOff x="9531908" y="-188712"/>
            <a:chExt cx="3315406" cy="30171114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2B824B15-5D14-EE1E-F3AD-442BD7D6F02A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9861E8D2-E58E-BA87-D0CD-3286B2CA1A2D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20" name="Группа 19">
                  <a:extLst>
                    <a:ext uri="{FF2B5EF4-FFF2-40B4-BE49-F238E27FC236}">
                      <a16:creationId xmlns:a16="http://schemas.microsoft.com/office/drawing/2014/main" id="{0E2C02FC-836A-CE2C-1AA0-62E0EE6B8532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22" name="Прямоугольник 21">
                    <a:extLst>
                      <a:ext uri="{FF2B5EF4-FFF2-40B4-BE49-F238E27FC236}">
                        <a16:creationId xmlns:a16="http://schemas.microsoft.com/office/drawing/2014/main" id="{E3C7DDFE-7937-7897-D215-0B43FCBCE9FD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63C6550A-622D-AA90-B0DB-E3D7A56D64F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B824648-2430-B7CB-704B-137F0032F170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34D286-217C-67E9-D40A-43940A1D7402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09098CB-D5B6-508D-DC9A-27F50E9DD631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11EF023-B76F-74D6-DFDA-A5A99AD656F2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A2DE505-A96B-4CF0-5CCD-7B1320726C5F}"/>
              </a:ext>
            </a:extLst>
          </p:cNvPr>
          <p:cNvSpPr/>
          <p:nvPr/>
        </p:nvSpPr>
        <p:spPr>
          <a:xfrm>
            <a:off x="9531179" y="-25324935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528DD-A654-3FF7-C1DB-F4C6C5507817}"/>
              </a:ext>
            </a:extLst>
          </p:cNvPr>
          <p:cNvSpPr txBox="1"/>
          <p:nvPr/>
        </p:nvSpPr>
        <p:spPr>
          <a:xfrm>
            <a:off x="207180" y="-4868977"/>
            <a:ext cx="92117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По моим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расчётам сезонность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моего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екта будет где то 3-4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раза за г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од, из-за войн,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выборов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или просто громких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событий.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Именно в это время 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будет сам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ый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большой спрос.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AC64E7A-F128-88D0-3367-5AA244248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83629">
            <a:off x="211570" y="-1053780"/>
            <a:ext cx="745757" cy="74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A8EEDC4F-D74F-66D9-BBF8-045E9A0AE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32997">
            <a:off x="7334114" y="-5663902"/>
            <a:ext cx="614934" cy="8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4515263-DC4F-7A81-4401-99AC06864C33}"/>
              </a:ext>
            </a:extLst>
          </p:cNvPr>
          <p:cNvSpPr txBox="1"/>
          <p:nvPr/>
        </p:nvSpPr>
        <p:spPr>
          <a:xfrm>
            <a:off x="380430" y="1987303"/>
            <a:ext cx="92117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Моим 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ектом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будут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пользоватьс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люди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всех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возрастов,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но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имеющие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одну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проблему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плохое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различие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правды от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лжи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 интернете.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1906D45-0ECC-82E3-3DC9-2B3A8020F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14306">
            <a:off x="7998028" y="1677255"/>
            <a:ext cx="688129" cy="72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C5C9F0E6-6845-3ACC-F708-CE867978F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69849">
            <a:off x="118127" y="1447082"/>
            <a:ext cx="5715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EA0A6C7-F8E8-80B9-3FF7-851BB3910B98}"/>
              </a:ext>
            </a:extLst>
          </p:cNvPr>
          <p:cNvSpPr/>
          <p:nvPr/>
        </p:nvSpPr>
        <p:spPr>
          <a:xfrm>
            <a:off x="9539372" y="6934200"/>
            <a:ext cx="2660822" cy="6931400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06E3B-28E5-3263-96D2-23C00B94A007}"/>
              </a:ext>
            </a:extLst>
          </p:cNvPr>
          <p:cNvSpPr txBox="1"/>
          <p:nvPr/>
        </p:nvSpPr>
        <p:spPr>
          <a:xfrm>
            <a:off x="9742698" y="7870355"/>
            <a:ext cx="223778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Д       К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       Р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Т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Ж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Н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Я</a:t>
            </a:r>
          </a:p>
        </p:txBody>
      </p:sp>
    </p:spTree>
    <p:extLst>
      <p:ext uri="{BB962C8B-B14F-4D97-AF65-F5344CB8AC3E}">
        <p14:creationId xmlns:p14="http://schemas.microsoft.com/office/powerpoint/2010/main" val="2668358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A27EBE3E-D73E-FAF6-C72C-82D88F981E1E}"/>
              </a:ext>
            </a:extLst>
          </p:cNvPr>
          <p:cNvSpPr/>
          <p:nvPr/>
        </p:nvSpPr>
        <p:spPr>
          <a:xfrm>
            <a:off x="9506464" y="0"/>
            <a:ext cx="14461439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FAD4F59-A054-B227-324C-C3C6C206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556B8E7-7EF2-7513-A678-CBFB52447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ru-RU"/>
          </a:p>
        </p:txBody>
      </p:sp>
      <p:pic>
        <p:nvPicPr>
          <p:cNvPr id="10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97DABC45-B446-E2EA-65B1-E5CEA26AF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C481D05-ABCB-7FAF-0C2B-B67631942AAF}"/>
              </a:ext>
            </a:extLst>
          </p:cNvPr>
          <p:cNvSpPr/>
          <p:nvPr/>
        </p:nvSpPr>
        <p:spPr>
          <a:xfrm>
            <a:off x="9531179" y="-24715335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B80FA313-EF89-D2D3-9AA6-1D1075BDBA53}"/>
              </a:ext>
            </a:extLst>
          </p:cNvPr>
          <p:cNvGrpSpPr/>
          <p:nvPr/>
        </p:nvGrpSpPr>
        <p:grpSpPr>
          <a:xfrm>
            <a:off x="9531908" y="-29812862"/>
            <a:ext cx="3315406" cy="30171114"/>
            <a:chOff x="9531908" y="-188712"/>
            <a:chExt cx="3315406" cy="30171114"/>
          </a:xfrm>
        </p:grpSpPr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01C2016A-A594-C6F5-8C00-8D1E8BC959EE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39" name="Группа 38">
                <a:extLst>
                  <a:ext uri="{FF2B5EF4-FFF2-40B4-BE49-F238E27FC236}">
                    <a16:creationId xmlns:a16="http://schemas.microsoft.com/office/drawing/2014/main" id="{1D180AF8-166B-20B3-D13E-F57FFFA9041C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41" name="Группа 40">
                  <a:extLst>
                    <a:ext uri="{FF2B5EF4-FFF2-40B4-BE49-F238E27FC236}">
                      <a16:creationId xmlns:a16="http://schemas.microsoft.com/office/drawing/2014/main" id="{15145B07-B62C-B54F-512A-CF6691323E02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43" name="Прямоугольник 42">
                    <a:extLst>
                      <a:ext uri="{FF2B5EF4-FFF2-40B4-BE49-F238E27FC236}">
                        <a16:creationId xmlns:a16="http://schemas.microsoft.com/office/drawing/2014/main" id="{BA5765B4-0204-34E4-0723-DFF3CEA0AA1C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AD921876-88D2-0AFD-BD53-771C5D771123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8731F85-A917-1C51-6237-99629CA99197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B11EF72-8DD6-85ED-0733-10BFEC983AB0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2EFE84C-A53A-5320-EF6C-40ADA51BF8E7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377028-AEA0-5B64-E02F-3D3A4C0C485F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A334484A-3CAA-F791-03DE-7A4EA9E87B7D}"/>
              </a:ext>
            </a:extLst>
          </p:cNvPr>
          <p:cNvSpPr/>
          <p:nvPr/>
        </p:nvSpPr>
        <p:spPr>
          <a:xfrm>
            <a:off x="9531864" y="-82200"/>
            <a:ext cx="2660822" cy="6931400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6BDB8D-9E06-F86B-49BE-0C91264F5CF7}"/>
              </a:ext>
            </a:extLst>
          </p:cNvPr>
          <p:cNvSpPr txBox="1"/>
          <p:nvPr/>
        </p:nvSpPr>
        <p:spPr>
          <a:xfrm>
            <a:off x="9742698" y="433952"/>
            <a:ext cx="223778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Д       К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       Р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Т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Ж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Н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Я</a:t>
            </a:r>
          </a:p>
        </p:txBody>
      </p: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C6FDBABF-DA18-4DF4-5E99-EABB671144F6}"/>
              </a:ext>
            </a:extLst>
          </p:cNvPr>
          <p:cNvGrpSpPr/>
          <p:nvPr/>
        </p:nvGrpSpPr>
        <p:grpSpPr>
          <a:xfrm>
            <a:off x="-2635378" y="0"/>
            <a:ext cx="12192000" cy="6858000"/>
            <a:chOff x="-1" y="0"/>
            <a:chExt cx="12192000" cy="6858000"/>
          </a:xfrm>
        </p:grpSpPr>
        <p:sp>
          <p:nvSpPr>
            <p:cNvPr id="55" name="Прямоугольник 54">
              <a:extLst>
                <a:ext uri="{FF2B5EF4-FFF2-40B4-BE49-F238E27FC236}">
                  <a16:creationId xmlns:a16="http://schemas.microsoft.com/office/drawing/2014/main" id="{6D7614FD-9348-DEE9-5C86-C80DEFBDD512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6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6BE39A15-2512-D768-AA0F-34510120F6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D9559EE-79FA-63D2-862B-79F4CD76E0F6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58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15000E10-C318-1F7C-7E63-B4195D90C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7FF2B71-57B9-C45C-92D6-D299AF102036}"/>
              </a:ext>
            </a:extLst>
          </p:cNvPr>
          <p:cNvSpPr txBox="1"/>
          <p:nvPr/>
        </p:nvSpPr>
        <p:spPr>
          <a:xfrm>
            <a:off x="403877" y="-5019911"/>
            <a:ext cx="92117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Моим про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ектом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будут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пользоватьс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я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люди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всех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возрастов,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но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имеющие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одну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проблему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плохое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различие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правды от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лжи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в интернете.</a:t>
            </a:r>
          </a:p>
        </p:txBody>
      </p:sp>
      <p:pic>
        <p:nvPicPr>
          <p:cNvPr id="60" name="Picture 2">
            <a:extLst>
              <a:ext uri="{FF2B5EF4-FFF2-40B4-BE49-F238E27FC236}">
                <a16:creationId xmlns:a16="http://schemas.microsoft.com/office/drawing/2014/main" id="{BCE56746-1519-E60B-112D-1AC677482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14306">
            <a:off x="7998028" y="-5462844"/>
            <a:ext cx="688129" cy="72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4">
            <a:extLst>
              <a:ext uri="{FF2B5EF4-FFF2-40B4-BE49-F238E27FC236}">
                <a16:creationId xmlns:a16="http://schemas.microsoft.com/office/drawing/2014/main" id="{C3B5478B-4B2B-2E32-3857-B897FFD7B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69849">
            <a:off x="118127" y="-5693017"/>
            <a:ext cx="5715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1A4DE83A-2F63-E19F-9AA4-240EC597A1DD}"/>
              </a:ext>
            </a:extLst>
          </p:cNvPr>
          <p:cNvSpPr txBox="1"/>
          <p:nvPr/>
        </p:nvSpPr>
        <p:spPr>
          <a:xfrm>
            <a:off x="12379545" y="1479674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1. неделя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0A3D93-1B5C-DFF8-6259-7189A10A9615}"/>
              </a:ext>
            </a:extLst>
          </p:cNvPr>
          <p:cNvSpPr txBox="1"/>
          <p:nvPr/>
        </p:nvSpPr>
        <p:spPr>
          <a:xfrm>
            <a:off x="14712437" y="1456229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2. неделя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186B62-11D7-4057-447B-9254C20CCEA7}"/>
              </a:ext>
            </a:extLst>
          </p:cNvPr>
          <p:cNvSpPr txBox="1"/>
          <p:nvPr/>
        </p:nvSpPr>
        <p:spPr>
          <a:xfrm>
            <a:off x="16957406" y="1456229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3. неделя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0E67B5C-867C-0D80-4F74-4F47DECAE4EA}"/>
              </a:ext>
            </a:extLst>
          </p:cNvPr>
          <p:cNvSpPr txBox="1"/>
          <p:nvPr/>
        </p:nvSpPr>
        <p:spPr>
          <a:xfrm>
            <a:off x="19325467" y="1455013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4. неделя</a:t>
            </a:r>
          </a:p>
        </p:txBody>
      </p:sp>
    </p:spTree>
    <p:extLst>
      <p:ext uri="{BB962C8B-B14F-4D97-AF65-F5344CB8AC3E}">
        <p14:creationId xmlns:p14="http://schemas.microsoft.com/office/powerpoint/2010/main" val="1326883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EBACB-56A2-A5BB-835A-160B3991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F9A1136B-219D-D18A-9A73-7417FB9AA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FD646C0-E9BD-3BD1-73C3-78267A27CC72}"/>
              </a:ext>
            </a:extLst>
          </p:cNvPr>
          <p:cNvSpPr/>
          <p:nvPr/>
        </p:nvSpPr>
        <p:spPr>
          <a:xfrm>
            <a:off x="-2660456" y="-880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812E22-E92A-3CE6-823A-B2C4D29BC096}"/>
              </a:ext>
            </a:extLst>
          </p:cNvPr>
          <p:cNvSpPr/>
          <p:nvPr/>
        </p:nvSpPr>
        <p:spPr>
          <a:xfrm>
            <a:off x="9531179" y="-24715335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3C47716-99E0-5233-78D8-DD8951AAE292}"/>
              </a:ext>
            </a:extLst>
          </p:cNvPr>
          <p:cNvGrpSpPr/>
          <p:nvPr/>
        </p:nvGrpSpPr>
        <p:grpSpPr>
          <a:xfrm>
            <a:off x="9531908" y="-29812862"/>
            <a:ext cx="3315406" cy="30171114"/>
            <a:chOff x="9531908" y="-188712"/>
            <a:chExt cx="3315406" cy="30171114"/>
          </a:xfrm>
        </p:grpSpPr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BA6B7CDE-6E79-23CB-94C6-C90FA02CBC86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14" name="Группа 13">
                <a:extLst>
                  <a:ext uri="{FF2B5EF4-FFF2-40B4-BE49-F238E27FC236}">
                    <a16:creationId xmlns:a16="http://schemas.microsoft.com/office/drawing/2014/main" id="{A5A0857B-68E8-93FB-36BA-A218F42D189D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16" name="Группа 15">
                  <a:extLst>
                    <a:ext uri="{FF2B5EF4-FFF2-40B4-BE49-F238E27FC236}">
                      <a16:creationId xmlns:a16="http://schemas.microsoft.com/office/drawing/2014/main" id="{E41F8246-F508-DA57-B537-FA542ECC437A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18" name="Прямоугольник 17">
                    <a:extLst>
                      <a:ext uri="{FF2B5EF4-FFF2-40B4-BE49-F238E27FC236}">
                        <a16:creationId xmlns:a16="http://schemas.microsoft.com/office/drawing/2014/main" id="{86BD5393-3520-FAB8-A75A-06EA2473B88B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8E1F7FBD-432F-590B-BD8E-146B9B35AB8D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E1E6543-649C-876C-5D01-D1FD7E0E0E79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1D354E-54BE-2B78-3703-276F9C81B4F6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0FA4F7D-644B-6DA7-04FB-115D71C8A7BF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FCF62C-DC5A-25BC-F956-A748B5562B11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188382D-7EB5-DFB8-5EED-7C8B58494994}"/>
              </a:ext>
            </a:extLst>
          </p:cNvPr>
          <p:cNvSpPr/>
          <p:nvPr/>
        </p:nvSpPr>
        <p:spPr>
          <a:xfrm>
            <a:off x="0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AD9435-5322-79E6-D0A7-55205D151E95}"/>
              </a:ext>
            </a:extLst>
          </p:cNvPr>
          <p:cNvSpPr txBox="1"/>
          <p:nvPr/>
        </p:nvSpPr>
        <p:spPr>
          <a:xfrm>
            <a:off x="274644" y="1479674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1. неделя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4056CD-D56F-8444-0D8B-CBE12D6D254C}"/>
              </a:ext>
            </a:extLst>
          </p:cNvPr>
          <p:cNvSpPr txBox="1"/>
          <p:nvPr/>
        </p:nvSpPr>
        <p:spPr>
          <a:xfrm>
            <a:off x="9679573" y="476520"/>
            <a:ext cx="223778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Д       К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       Р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Т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Ж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Н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Я</a:t>
            </a: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577EB3AB-5AF0-7EE4-F45E-4CC1534D1522}"/>
              </a:ext>
            </a:extLst>
          </p:cNvPr>
          <p:cNvGrpSpPr/>
          <p:nvPr/>
        </p:nvGrpSpPr>
        <p:grpSpPr>
          <a:xfrm>
            <a:off x="-2635378" y="-35173"/>
            <a:ext cx="12192000" cy="6858000"/>
            <a:chOff x="-1" y="0"/>
            <a:chExt cx="12192000" cy="6858000"/>
          </a:xfrm>
          <a:noFill/>
        </p:grpSpPr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542A2D3B-5AED-D130-B5ED-5CADF447713E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2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6CE7B7AF-F449-F4AA-8041-EDCA173016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24C65C8-DBE3-FC88-ED62-4AB7BA57A8F8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44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9F412DF6-4352-BF9F-83ED-4295B4C153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6C1DECD-6789-34DC-2233-A7194C0FE0D8}"/>
              </a:ext>
            </a:extLst>
          </p:cNvPr>
          <p:cNvSpPr txBox="1"/>
          <p:nvPr/>
        </p:nvSpPr>
        <p:spPr>
          <a:xfrm>
            <a:off x="2607536" y="1456229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2. неделя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12DFD5-A11E-7494-4D51-FB9864D27783}"/>
              </a:ext>
            </a:extLst>
          </p:cNvPr>
          <p:cNvSpPr txBox="1"/>
          <p:nvPr/>
        </p:nvSpPr>
        <p:spPr>
          <a:xfrm>
            <a:off x="4852505" y="1456229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3. неделя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988B75-0780-9DCE-B3F0-56C3C0C0363C}"/>
              </a:ext>
            </a:extLst>
          </p:cNvPr>
          <p:cNvSpPr txBox="1"/>
          <p:nvPr/>
        </p:nvSpPr>
        <p:spPr>
          <a:xfrm>
            <a:off x="7220566" y="1455013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4. неделя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CCA0B6-611D-DF11-A7DA-772A5FF70B3A}"/>
              </a:ext>
            </a:extLst>
          </p:cNvPr>
          <p:cNvSpPr txBox="1"/>
          <p:nvPr/>
        </p:nvSpPr>
        <p:spPr>
          <a:xfrm>
            <a:off x="336120" y="7289627"/>
            <a:ext cx="202964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Поиск достоверных сайтов, и библиотек для парсинга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DADC12-9A0C-9451-F9DC-618553F822B6}"/>
              </a:ext>
            </a:extLst>
          </p:cNvPr>
          <p:cNvSpPr txBox="1"/>
          <p:nvPr/>
        </p:nvSpPr>
        <p:spPr>
          <a:xfrm>
            <a:off x="4950073" y="7289627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базовых случаев для ввода пользователя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E048A3-8130-BEBC-D0BE-375391A88F18}"/>
              </a:ext>
            </a:extLst>
          </p:cNvPr>
          <p:cNvSpPr txBox="1"/>
          <p:nvPr/>
        </p:nvSpPr>
        <p:spPr>
          <a:xfrm>
            <a:off x="2711020" y="7289627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функции по запросу статьи от пользователя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E609F5-844D-9863-AD3F-42C3B233B5F5}"/>
              </a:ext>
            </a:extLst>
          </p:cNvPr>
          <p:cNvSpPr txBox="1"/>
          <p:nvPr/>
        </p:nvSpPr>
        <p:spPr>
          <a:xfrm>
            <a:off x="7274173" y="7289627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Создание структуры для парсинга и скачивания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74393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77052B-65BD-6CBF-3819-47D8FF33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AEB73-92E5-A01F-3895-7F367803D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D50F89F8-7024-1A79-0A87-B25B39A93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400D5D-EA87-89A2-4CB0-296CFABCFA04}"/>
              </a:ext>
            </a:extLst>
          </p:cNvPr>
          <p:cNvSpPr/>
          <p:nvPr/>
        </p:nvSpPr>
        <p:spPr>
          <a:xfrm>
            <a:off x="-2660456" y="-880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2E2E2C0-72EC-51D2-B923-2499A6E91A1B}"/>
              </a:ext>
            </a:extLst>
          </p:cNvPr>
          <p:cNvSpPr/>
          <p:nvPr/>
        </p:nvSpPr>
        <p:spPr>
          <a:xfrm>
            <a:off x="9531179" y="-24715335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B7D77A6-8AC6-6E22-6914-E069234EF431}"/>
              </a:ext>
            </a:extLst>
          </p:cNvPr>
          <p:cNvGrpSpPr/>
          <p:nvPr/>
        </p:nvGrpSpPr>
        <p:grpSpPr>
          <a:xfrm>
            <a:off x="9531908" y="-29812862"/>
            <a:ext cx="3315406" cy="30171114"/>
            <a:chOff x="9531908" y="-188712"/>
            <a:chExt cx="3315406" cy="30171114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0DCD9097-7991-3FBD-EBEF-990157F24FC0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11" name="Группа 10">
                <a:extLst>
                  <a:ext uri="{FF2B5EF4-FFF2-40B4-BE49-F238E27FC236}">
                    <a16:creationId xmlns:a16="http://schemas.microsoft.com/office/drawing/2014/main" id="{780DE8E5-DED0-96EC-C2C3-45014FF9D27A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13" name="Группа 12">
                  <a:extLst>
                    <a:ext uri="{FF2B5EF4-FFF2-40B4-BE49-F238E27FC236}">
                      <a16:creationId xmlns:a16="http://schemas.microsoft.com/office/drawing/2014/main" id="{A8354E81-0185-1339-EE12-06B091925577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15" name="Прямоугольник 14">
                    <a:extLst>
                      <a:ext uri="{FF2B5EF4-FFF2-40B4-BE49-F238E27FC236}">
                        <a16:creationId xmlns:a16="http://schemas.microsoft.com/office/drawing/2014/main" id="{33B2A701-CEEB-3531-8496-2E5990F915E4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DC89DED-7BA7-C49B-E433-A65CBAAA8CCE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EF81BAF-2F98-9F9A-6A66-AD2F1B296FED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78453B-7238-A1DC-CB02-FBB879FECE6D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DC4BBA-186D-642B-FB47-06849C912408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B4A86E-6F2D-EF8E-5D87-B7D0AA093186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9C43B19-06DE-5B83-13EA-DD898B542D7E}"/>
              </a:ext>
            </a:extLst>
          </p:cNvPr>
          <p:cNvSpPr/>
          <p:nvPr/>
        </p:nvSpPr>
        <p:spPr>
          <a:xfrm>
            <a:off x="0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2CEA01-5543-CBC6-AC5E-76C2663AFACF}"/>
              </a:ext>
            </a:extLst>
          </p:cNvPr>
          <p:cNvSpPr txBox="1"/>
          <p:nvPr/>
        </p:nvSpPr>
        <p:spPr>
          <a:xfrm>
            <a:off x="274644" y="1479674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1. неделя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31517D-DCA2-39A4-E629-B677AE512D1C}"/>
              </a:ext>
            </a:extLst>
          </p:cNvPr>
          <p:cNvSpPr txBox="1"/>
          <p:nvPr/>
        </p:nvSpPr>
        <p:spPr>
          <a:xfrm>
            <a:off x="9679573" y="476520"/>
            <a:ext cx="223778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Д       К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       Р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Т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Ж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Н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Я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933DD0D-DACE-8144-FB3E-35D745B26D6F}"/>
              </a:ext>
            </a:extLst>
          </p:cNvPr>
          <p:cNvGrpSpPr/>
          <p:nvPr/>
        </p:nvGrpSpPr>
        <p:grpSpPr>
          <a:xfrm>
            <a:off x="-2635378" y="-35173"/>
            <a:ext cx="12192000" cy="6858000"/>
            <a:chOff x="-1" y="0"/>
            <a:chExt cx="12192000" cy="6858000"/>
          </a:xfrm>
          <a:noFill/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C20219FC-140B-B266-DA1A-E263F71659F2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3EE52729-362E-460D-9D01-876CAFB552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43993E-D6AE-8061-37AA-B812727EC52E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4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D2DE012C-97DF-6CB0-F4A2-60196E38D5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4D2B0C7-A76D-E16A-C648-1F1F6DEA030E}"/>
              </a:ext>
            </a:extLst>
          </p:cNvPr>
          <p:cNvSpPr txBox="1"/>
          <p:nvPr/>
        </p:nvSpPr>
        <p:spPr>
          <a:xfrm>
            <a:off x="2607536" y="1456229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2. неделя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9EA3D3-E284-93A4-D859-37C5DD5EA1E1}"/>
              </a:ext>
            </a:extLst>
          </p:cNvPr>
          <p:cNvSpPr txBox="1"/>
          <p:nvPr/>
        </p:nvSpPr>
        <p:spPr>
          <a:xfrm>
            <a:off x="4852505" y="1456229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3. неделя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7A8DF1-4F72-49A8-A847-03707A7E4823}"/>
              </a:ext>
            </a:extLst>
          </p:cNvPr>
          <p:cNvSpPr txBox="1"/>
          <p:nvPr/>
        </p:nvSpPr>
        <p:spPr>
          <a:xfrm>
            <a:off x="7220566" y="1455013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4. неделя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A7963A-96FF-A351-B8FC-CAE0919424EE}"/>
              </a:ext>
            </a:extLst>
          </p:cNvPr>
          <p:cNvSpPr txBox="1"/>
          <p:nvPr/>
        </p:nvSpPr>
        <p:spPr>
          <a:xfrm>
            <a:off x="336120" y="2347525"/>
            <a:ext cx="202964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Поиск достоверных сайтов, и библиотек для парсинга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FFF10A-508B-FAFF-A371-131B72B9A80B}"/>
              </a:ext>
            </a:extLst>
          </p:cNvPr>
          <p:cNvSpPr txBox="1"/>
          <p:nvPr/>
        </p:nvSpPr>
        <p:spPr>
          <a:xfrm>
            <a:off x="4950073" y="2347525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базовых случаев для ввода пользователя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B6323F-9CEE-9007-D960-E7D1C435A58D}"/>
              </a:ext>
            </a:extLst>
          </p:cNvPr>
          <p:cNvSpPr txBox="1"/>
          <p:nvPr/>
        </p:nvSpPr>
        <p:spPr>
          <a:xfrm>
            <a:off x="2711020" y="2347525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функции по запросу статьи от пользователя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169690-0D11-1947-6F46-E6F2D7AA7526}"/>
              </a:ext>
            </a:extLst>
          </p:cNvPr>
          <p:cNvSpPr txBox="1"/>
          <p:nvPr/>
        </p:nvSpPr>
        <p:spPr>
          <a:xfrm>
            <a:off x="7274173" y="2347525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Создание структуры для парсинга и скачивания текста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B2CDF5-9A77-F563-DEB1-1225FE650271}"/>
              </a:ext>
            </a:extLst>
          </p:cNvPr>
          <p:cNvSpPr txBox="1"/>
          <p:nvPr/>
        </p:nvSpPr>
        <p:spPr>
          <a:xfrm>
            <a:off x="4866074" y="7026175"/>
            <a:ext cx="20296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Тесты готового на тот момент кода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DC591D-9750-76BD-F738-A1518ADC5EB7}"/>
              </a:ext>
            </a:extLst>
          </p:cNvPr>
          <p:cNvSpPr txBox="1"/>
          <p:nvPr/>
        </p:nvSpPr>
        <p:spPr>
          <a:xfrm>
            <a:off x="7227413" y="7024465"/>
            <a:ext cx="18138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Создание сайта для проекта с помощью библиотеки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7468F2-DCE3-C283-D15E-81D42811111F}"/>
              </a:ext>
            </a:extLst>
          </p:cNvPr>
          <p:cNvSpPr txBox="1"/>
          <p:nvPr/>
        </p:nvSpPr>
        <p:spPr>
          <a:xfrm>
            <a:off x="2702477" y="7029720"/>
            <a:ext cx="20381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функции по выводу информации пользователю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AB9EB0-9A4F-E3CA-C67B-80270DF1061B}"/>
              </a:ext>
            </a:extLst>
          </p:cNvPr>
          <p:cNvSpPr txBox="1"/>
          <p:nvPr/>
        </p:nvSpPr>
        <p:spPr>
          <a:xfrm>
            <a:off x="330865" y="7009487"/>
            <a:ext cx="20296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Создание векторного</a:t>
            </a:r>
          </a:p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сравнения текстов</a:t>
            </a:r>
          </a:p>
        </p:txBody>
      </p:sp>
    </p:spTree>
    <p:extLst>
      <p:ext uri="{BB962C8B-B14F-4D97-AF65-F5344CB8AC3E}">
        <p14:creationId xmlns:p14="http://schemas.microsoft.com/office/powerpoint/2010/main" val="3067956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36892-0A54-F4A0-0CF7-AFE175C6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69B6C2-19E1-3680-BD2E-DDA322709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D4FCFD39-410A-8CF3-2E89-5E49DDB14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6AD7A3E-6BEC-15C5-23A5-A3B156629DC8}"/>
              </a:ext>
            </a:extLst>
          </p:cNvPr>
          <p:cNvSpPr/>
          <p:nvPr/>
        </p:nvSpPr>
        <p:spPr>
          <a:xfrm>
            <a:off x="-2660456" y="-880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E78548B-3ADC-EF0F-A25A-A4F20A1B335C}"/>
              </a:ext>
            </a:extLst>
          </p:cNvPr>
          <p:cNvSpPr/>
          <p:nvPr/>
        </p:nvSpPr>
        <p:spPr>
          <a:xfrm>
            <a:off x="9531179" y="-24715335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2CC6894-C211-C8FC-E7C2-C5B4E7D7DA8A}"/>
              </a:ext>
            </a:extLst>
          </p:cNvPr>
          <p:cNvGrpSpPr/>
          <p:nvPr/>
        </p:nvGrpSpPr>
        <p:grpSpPr>
          <a:xfrm>
            <a:off x="9531908" y="-29812862"/>
            <a:ext cx="3315406" cy="30171114"/>
            <a:chOff x="9531908" y="-188712"/>
            <a:chExt cx="3315406" cy="30171114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007585DB-851A-E3C2-D40D-3E368492DBD5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11" name="Группа 10">
                <a:extLst>
                  <a:ext uri="{FF2B5EF4-FFF2-40B4-BE49-F238E27FC236}">
                    <a16:creationId xmlns:a16="http://schemas.microsoft.com/office/drawing/2014/main" id="{A78F01BC-D45B-0FF2-C7B6-452ED48F6B51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13" name="Группа 12">
                  <a:extLst>
                    <a:ext uri="{FF2B5EF4-FFF2-40B4-BE49-F238E27FC236}">
                      <a16:creationId xmlns:a16="http://schemas.microsoft.com/office/drawing/2014/main" id="{4633D7FB-D119-8F15-1858-4A9334F3B0C9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15" name="Прямоугольник 14">
                    <a:extLst>
                      <a:ext uri="{FF2B5EF4-FFF2-40B4-BE49-F238E27FC236}">
                        <a16:creationId xmlns:a16="http://schemas.microsoft.com/office/drawing/2014/main" id="{50E43349-3F1A-FD92-157B-A2A776931A4D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9F4D69B-FBB2-A59B-878D-8F83EAD7C4F5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CE2FDEE-61A1-32DE-BD2C-AAE49D1083FB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E21E2C-1F37-C18B-63B3-FB3BB41F5696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A2B3539-EB29-6B7A-691D-6A5B1D1A870B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8E7E4B-D77B-24AF-678A-0532CD1F364F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CBF4D7E-950A-CEB8-9752-4A154A139A85}"/>
              </a:ext>
            </a:extLst>
          </p:cNvPr>
          <p:cNvSpPr/>
          <p:nvPr/>
        </p:nvSpPr>
        <p:spPr>
          <a:xfrm>
            <a:off x="0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76FFCC-5AE6-2732-8690-839BE3467610}"/>
              </a:ext>
            </a:extLst>
          </p:cNvPr>
          <p:cNvSpPr txBox="1"/>
          <p:nvPr/>
        </p:nvSpPr>
        <p:spPr>
          <a:xfrm>
            <a:off x="274644" y="1479674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5. неделя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35D73D-1FAF-A04E-10F0-4A7A0C24BCD6}"/>
              </a:ext>
            </a:extLst>
          </p:cNvPr>
          <p:cNvSpPr txBox="1"/>
          <p:nvPr/>
        </p:nvSpPr>
        <p:spPr>
          <a:xfrm>
            <a:off x="9679573" y="476520"/>
            <a:ext cx="223778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Д       К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       Р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Т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Ж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Н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Я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D35E5E31-709B-FB28-0B2C-FEDCE145D1D7}"/>
              </a:ext>
            </a:extLst>
          </p:cNvPr>
          <p:cNvGrpSpPr/>
          <p:nvPr/>
        </p:nvGrpSpPr>
        <p:grpSpPr>
          <a:xfrm>
            <a:off x="-2635378" y="-35173"/>
            <a:ext cx="12192000" cy="6858000"/>
            <a:chOff x="-1" y="0"/>
            <a:chExt cx="12192000" cy="6858000"/>
          </a:xfrm>
          <a:noFill/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837918C6-478C-B057-2E14-2FE5A4E60042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C1851989-1809-FF12-C95E-6FEC1FB7F3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B4D9EBB-40F9-48D7-093B-647901805F2C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4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963FD29D-CB03-FE2B-400E-B6BD71631E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455CD94-0E7D-2E19-AF9D-27BE191C1101}"/>
              </a:ext>
            </a:extLst>
          </p:cNvPr>
          <p:cNvSpPr txBox="1"/>
          <p:nvPr/>
        </p:nvSpPr>
        <p:spPr>
          <a:xfrm>
            <a:off x="2607536" y="1456229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6. неделя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6945F6-BFFE-A0C0-E310-4851E63347D8}"/>
              </a:ext>
            </a:extLst>
          </p:cNvPr>
          <p:cNvSpPr txBox="1"/>
          <p:nvPr/>
        </p:nvSpPr>
        <p:spPr>
          <a:xfrm>
            <a:off x="4852505" y="1456229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7. неделя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82AA28-5086-3190-73FA-0BE3856EC66C}"/>
              </a:ext>
            </a:extLst>
          </p:cNvPr>
          <p:cNvSpPr txBox="1"/>
          <p:nvPr/>
        </p:nvSpPr>
        <p:spPr>
          <a:xfrm>
            <a:off x="7220566" y="1455013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8. неделя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212552-8AEE-103E-958C-8DC89585B144}"/>
              </a:ext>
            </a:extLst>
          </p:cNvPr>
          <p:cNvSpPr txBox="1"/>
          <p:nvPr/>
        </p:nvSpPr>
        <p:spPr>
          <a:xfrm>
            <a:off x="336120" y="7289627"/>
            <a:ext cx="202964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Поиск достоверных сайтов, и библиотек для парсинга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897B26-E133-8DC7-B045-305A84D58112}"/>
              </a:ext>
            </a:extLst>
          </p:cNvPr>
          <p:cNvSpPr txBox="1"/>
          <p:nvPr/>
        </p:nvSpPr>
        <p:spPr>
          <a:xfrm>
            <a:off x="4950073" y="7289627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базовых случаев для ввода пользователя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62CA65-522A-09C6-AAF6-2F8F4A073B6B}"/>
              </a:ext>
            </a:extLst>
          </p:cNvPr>
          <p:cNvSpPr txBox="1"/>
          <p:nvPr/>
        </p:nvSpPr>
        <p:spPr>
          <a:xfrm>
            <a:off x="2711020" y="7289627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функции по запросу статьи от пользователя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7FBDFF-AA69-98B1-A4B0-F8DC2751E7BC}"/>
              </a:ext>
            </a:extLst>
          </p:cNvPr>
          <p:cNvSpPr txBox="1"/>
          <p:nvPr/>
        </p:nvSpPr>
        <p:spPr>
          <a:xfrm>
            <a:off x="7274173" y="7289627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Создание структуры для парсинга и скачивания текста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D6A63C-9816-22B7-22E1-F69013C899AB}"/>
              </a:ext>
            </a:extLst>
          </p:cNvPr>
          <p:cNvSpPr txBox="1"/>
          <p:nvPr/>
        </p:nvSpPr>
        <p:spPr>
          <a:xfrm>
            <a:off x="330865" y="2428598"/>
            <a:ext cx="20296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Создание векторного</a:t>
            </a:r>
          </a:p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сравнения текстов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95311C-4DFD-E80E-A58D-2C00C0784FC9}"/>
              </a:ext>
            </a:extLst>
          </p:cNvPr>
          <p:cNvSpPr txBox="1"/>
          <p:nvPr/>
        </p:nvSpPr>
        <p:spPr>
          <a:xfrm>
            <a:off x="4866074" y="2423343"/>
            <a:ext cx="20296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Тесты готового на тот момент кода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BD67EA-F8BF-BC57-08C2-BBD1463D4185}"/>
              </a:ext>
            </a:extLst>
          </p:cNvPr>
          <p:cNvSpPr txBox="1"/>
          <p:nvPr/>
        </p:nvSpPr>
        <p:spPr>
          <a:xfrm>
            <a:off x="7227413" y="2421633"/>
            <a:ext cx="18138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Создание сайта для проекта с помощью библиотеки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C73CA2-873D-2160-B413-697E6B57DA37}"/>
              </a:ext>
            </a:extLst>
          </p:cNvPr>
          <p:cNvSpPr txBox="1"/>
          <p:nvPr/>
        </p:nvSpPr>
        <p:spPr>
          <a:xfrm>
            <a:off x="2702477" y="2426888"/>
            <a:ext cx="20381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функции по выводу информации пользователю</a:t>
            </a:r>
          </a:p>
        </p:txBody>
      </p:sp>
    </p:spTree>
    <p:extLst>
      <p:ext uri="{BB962C8B-B14F-4D97-AF65-F5344CB8AC3E}">
        <p14:creationId xmlns:p14="http://schemas.microsoft.com/office/powerpoint/2010/main" val="1647325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8AC5A-650F-0489-ABBF-F89538CE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A83CE-6251-9339-20B4-A63CC68BC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8" descr="Обои газета (79 фото) - красивые картинки и HD фото">
            <a:extLst>
              <a:ext uri="{FF2B5EF4-FFF2-40B4-BE49-F238E27FC236}">
                <a16:creationId xmlns:a16="http://schemas.microsoft.com/office/drawing/2014/main" id="{C75ED3C5-0E3F-84AD-D025-C5D67B309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AAA35B5-2B76-4255-05CC-9F451E945E04}"/>
              </a:ext>
            </a:extLst>
          </p:cNvPr>
          <p:cNvSpPr/>
          <p:nvPr/>
        </p:nvSpPr>
        <p:spPr>
          <a:xfrm>
            <a:off x="-2660456" y="-880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7F51577-6BFC-8F12-09E9-6876D4C1D4E2}"/>
              </a:ext>
            </a:extLst>
          </p:cNvPr>
          <p:cNvSpPr/>
          <p:nvPr/>
        </p:nvSpPr>
        <p:spPr>
          <a:xfrm>
            <a:off x="9531179" y="-24715335"/>
            <a:ext cx="2660822" cy="2435224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A0783D9-DAA8-BB44-76C9-F4E8BFC53D31}"/>
              </a:ext>
            </a:extLst>
          </p:cNvPr>
          <p:cNvGrpSpPr/>
          <p:nvPr/>
        </p:nvGrpSpPr>
        <p:grpSpPr>
          <a:xfrm>
            <a:off x="9531908" y="-36559672"/>
            <a:ext cx="3315406" cy="30171114"/>
            <a:chOff x="9531908" y="-188712"/>
            <a:chExt cx="3315406" cy="30171114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9E54F8EE-68C4-9EDE-574F-E831DACE3B3D}"/>
                </a:ext>
              </a:extLst>
            </p:cNvPr>
            <p:cNvGrpSpPr/>
            <p:nvPr/>
          </p:nvGrpSpPr>
          <p:grpSpPr>
            <a:xfrm>
              <a:off x="9531908" y="-188712"/>
              <a:ext cx="3315406" cy="30171114"/>
              <a:chOff x="9531908" y="-188712"/>
              <a:chExt cx="3315406" cy="30171114"/>
            </a:xfrm>
          </p:grpSpPr>
          <p:grpSp>
            <p:nvGrpSpPr>
              <p:cNvPr id="11" name="Группа 10">
                <a:extLst>
                  <a:ext uri="{FF2B5EF4-FFF2-40B4-BE49-F238E27FC236}">
                    <a16:creationId xmlns:a16="http://schemas.microsoft.com/office/drawing/2014/main" id="{E7A3A28B-28CA-D3DC-5FA7-04C6FF6CF92B}"/>
                  </a:ext>
                </a:extLst>
              </p:cNvPr>
              <p:cNvGrpSpPr/>
              <p:nvPr/>
            </p:nvGrpSpPr>
            <p:grpSpPr>
              <a:xfrm>
                <a:off x="9531908" y="-188712"/>
                <a:ext cx="2870560" cy="30171114"/>
                <a:chOff x="9531908" y="-188712"/>
                <a:chExt cx="2870560" cy="30171114"/>
              </a:xfrm>
            </p:grpSpPr>
            <p:grpSp>
              <p:nvGrpSpPr>
                <p:cNvPr id="13" name="Группа 12">
                  <a:extLst>
                    <a:ext uri="{FF2B5EF4-FFF2-40B4-BE49-F238E27FC236}">
                      <a16:creationId xmlns:a16="http://schemas.microsoft.com/office/drawing/2014/main" id="{B0DCD66F-F3C6-1C2E-20C3-D13045049D5F}"/>
                    </a:ext>
                  </a:extLst>
                </p:cNvPr>
                <p:cNvGrpSpPr/>
                <p:nvPr/>
              </p:nvGrpSpPr>
              <p:grpSpPr>
                <a:xfrm>
                  <a:off x="9531908" y="-188712"/>
                  <a:ext cx="2660822" cy="30171114"/>
                  <a:chOff x="9531908" y="-188712"/>
                  <a:chExt cx="2660822" cy="30171114"/>
                </a:xfrm>
              </p:grpSpPr>
              <p:sp>
                <p:nvSpPr>
                  <p:cNvPr id="15" name="Прямоугольник 14">
                    <a:extLst>
                      <a:ext uri="{FF2B5EF4-FFF2-40B4-BE49-F238E27FC236}">
                        <a16:creationId xmlns:a16="http://schemas.microsoft.com/office/drawing/2014/main" id="{272A533F-F9E3-08DC-16C8-4580C7675FBC}"/>
                      </a:ext>
                    </a:extLst>
                  </p:cNvPr>
                  <p:cNvSpPr/>
                  <p:nvPr/>
                </p:nvSpPr>
                <p:spPr>
                  <a:xfrm>
                    <a:off x="9531908" y="-188712"/>
                    <a:ext cx="2660822" cy="30171114"/>
                  </a:xfrm>
                  <a:prstGeom prst="rect">
                    <a:avLst/>
                  </a:prstGeom>
                  <a:solidFill>
                    <a:srgbClr val="29262B"/>
                  </a:solidFill>
                  <a:ln>
                    <a:solidFill>
                      <a:srgbClr val="29262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endParaRPr lang="en-US" sz="9600" dirty="0">
                      <a:latin typeface="Bahnschrift SemiBold" panose="020B0502040204020203" pitchFamily="34" charset="0"/>
                    </a:endParaRP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en-US" sz="9600" dirty="0">
                        <a:latin typeface="Bahnschrift SemiBold" panose="020B0502040204020203" pitchFamily="34" charset="0"/>
                      </a:rPr>
                      <a:t>----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59A3D4B3-3D2D-44CB-54A6-F2C0804176BF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2508" y="307734"/>
                    <a:ext cx="1937027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6000" dirty="0">
                        <a:solidFill>
                          <a:schemeClr val="bg1"/>
                        </a:solidFill>
                      </a:rPr>
                      <a:t>Что?</a:t>
                    </a:r>
                  </a:p>
                </p:txBody>
              </p: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E496E64-368C-F6DB-A5B4-F5EAEBC41FA3}"/>
                    </a:ext>
                  </a:extLst>
                </p:cNvPr>
                <p:cNvSpPr txBox="1"/>
                <p:nvPr/>
              </p:nvSpPr>
              <p:spPr>
                <a:xfrm>
                  <a:off x="9679573" y="6150071"/>
                  <a:ext cx="272289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6000" dirty="0">
                      <a:solidFill>
                        <a:schemeClr val="bg1"/>
                      </a:solidFill>
                    </a:rPr>
                    <a:t>Зачем?</a:t>
                  </a: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BF3C4A-2A0A-DEA4-F739-CAEE5928EDDD}"/>
                  </a:ext>
                </a:extLst>
              </p:cNvPr>
              <p:cNvSpPr txBox="1"/>
              <p:nvPr/>
            </p:nvSpPr>
            <p:spPr>
              <a:xfrm>
                <a:off x="10124419" y="12203508"/>
                <a:ext cx="27228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6000" dirty="0">
                    <a:solidFill>
                      <a:schemeClr val="bg1"/>
                    </a:solidFill>
                  </a:rPr>
                  <a:t>Где?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F17354-30F5-7E1C-6B35-55A098ACB1ED}"/>
                </a:ext>
              </a:extLst>
            </p:cNvPr>
            <p:cNvSpPr txBox="1"/>
            <p:nvPr/>
          </p:nvSpPr>
          <p:spPr>
            <a:xfrm>
              <a:off x="9778428" y="17786134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Когда?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1F8B6F-6170-6FEB-DB10-C4266A500242}"/>
                </a:ext>
              </a:extLst>
            </p:cNvPr>
            <p:cNvSpPr txBox="1"/>
            <p:nvPr/>
          </p:nvSpPr>
          <p:spPr>
            <a:xfrm>
              <a:off x="10124419" y="23753105"/>
              <a:ext cx="2722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6000" dirty="0">
                  <a:solidFill>
                    <a:schemeClr val="bg1"/>
                  </a:solidFill>
                </a:rPr>
                <a:t>Кто?</a:t>
              </a:r>
            </a:p>
          </p:txBody>
        </p:sp>
      </p:grp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EEAFFA5-6228-D59B-4BF1-0272BA6C4FFE}"/>
              </a:ext>
            </a:extLst>
          </p:cNvPr>
          <p:cNvSpPr/>
          <p:nvPr/>
        </p:nvSpPr>
        <p:spPr>
          <a:xfrm>
            <a:off x="0" y="8801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065C64-7D99-9F90-8D6B-2AF82BAF9C1C}"/>
              </a:ext>
            </a:extLst>
          </p:cNvPr>
          <p:cNvSpPr txBox="1"/>
          <p:nvPr/>
        </p:nvSpPr>
        <p:spPr>
          <a:xfrm>
            <a:off x="-3891112" y="1566838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5. неделя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1966CD-FB8A-8F1C-EFA8-4C038C038EB4}"/>
              </a:ext>
            </a:extLst>
          </p:cNvPr>
          <p:cNvSpPr txBox="1"/>
          <p:nvPr/>
        </p:nvSpPr>
        <p:spPr>
          <a:xfrm>
            <a:off x="9679573" y="-6270290"/>
            <a:ext cx="223778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Д       К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       Р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       Т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Ж      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Н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А</a:t>
            </a:r>
          </a:p>
          <a:p>
            <a:r>
              <a:rPr lang="ru-RU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Я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31E6E583-7C14-9001-1089-F567914FCAF9}"/>
              </a:ext>
            </a:extLst>
          </p:cNvPr>
          <p:cNvGrpSpPr/>
          <p:nvPr/>
        </p:nvGrpSpPr>
        <p:grpSpPr>
          <a:xfrm>
            <a:off x="-101960" y="-126286"/>
            <a:ext cx="12192000" cy="6858000"/>
            <a:chOff x="-1" y="0"/>
            <a:chExt cx="12192000" cy="6858000"/>
          </a:xfrm>
          <a:noFill/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8910948B-BFB2-F144-6FEF-582807480F85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0627BF22-1FB5-ADE0-0082-5FAA087DB2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B168E24-D5FA-4C49-F95E-0042F38E80C7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4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036BA02E-BDC4-B3E4-CB48-07C9DF0B04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946CA77-D1FB-2D2C-D50A-80170C24213B}"/>
              </a:ext>
            </a:extLst>
          </p:cNvPr>
          <p:cNvSpPr txBox="1"/>
          <p:nvPr/>
        </p:nvSpPr>
        <p:spPr>
          <a:xfrm>
            <a:off x="-2772346" y="1456229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6. неделя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99962-B9CB-FF63-5333-7DC30185FEE7}"/>
              </a:ext>
            </a:extLst>
          </p:cNvPr>
          <p:cNvSpPr txBox="1"/>
          <p:nvPr/>
        </p:nvSpPr>
        <p:spPr>
          <a:xfrm>
            <a:off x="12501323" y="1172684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7. неделя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F8FE42-016B-0527-4013-F825DE0EACD4}"/>
              </a:ext>
            </a:extLst>
          </p:cNvPr>
          <p:cNvSpPr txBox="1"/>
          <p:nvPr/>
        </p:nvSpPr>
        <p:spPr>
          <a:xfrm>
            <a:off x="12627297" y="1327188"/>
            <a:ext cx="2773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8. неделя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BF6175-1B40-20F4-15D4-1008A7B5A0EF}"/>
              </a:ext>
            </a:extLst>
          </p:cNvPr>
          <p:cNvSpPr txBox="1"/>
          <p:nvPr/>
        </p:nvSpPr>
        <p:spPr>
          <a:xfrm>
            <a:off x="336120" y="7289627"/>
            <a:ext cx="202964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Поиск достоверных сайтов, и библиотек для парсинга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639470-F347-4BFE-0245-D2B489585E20}"/>
              </a:ext>
            </a:extLst>
          </p:cNvPr>
          <p:cNvSpPr txBox="1"/>
          <p:nvPr/>
        </p:nvSpPr>
        <p:spPr>
          <a:xfrm>
            <a:off x="4950073" y="7289627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базовых случаев для ввода пользователя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AD90DE-B131-C79C-EE4A-9BC7F929FD72}"/>
              </a:ext>
            </a:extLst>
          </p:cNvPr>
          <p:cNvSpPr txBox="1"/>
          <p:nvPr/>
        </p:nvSpPr>
        <p:spPr>
          <a:xfrm>
            <a:off x="2711020" y="7289627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функции по запросу статьи от пользователя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A92F5F-9758-B3CE-FFCD-DA505EB9B720}"/>
              </a:ext>
            </a:extLst>
          </p:cNvPr>
          <p:cNvSpPr txBox="1"/>
          <p:nvPr/>
        </p:nvSpPr>
        <p:spPr>
          <a:xfrm>
            <a:off x="7274173" y="7289627"/>
            <a:ext cx="2029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Создание структуры для парсинга и скачивания текста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683A96-3C13-60AA-E184-84797FB717F6}"/>
              </a:ext>
            </a:extLst>
          </p:cNvPr>
          <p:cNvSpPr txBox="1"/>
          <p:nvPr/>
        </p:nvSpPr>
        <p:spPr>
          <a:xfrm>
            <a:off x="-3834891" y="2515762"/>
            <a:ext cx="20296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Создание векторного</a:t>
            </a:r>
          </a:p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сравнения текстов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94A9DD-D175-A177-DF44-1DDD73D21D65}"/>
              </a:ext>
            </a:extLst>
          </p:cNvPr>
          <p:cNvSpPr txBox="1"/>
          <p:nvPr/>
        </p:nvSpPr>
        <p:spPr>
          <a:xfrm>
            <a:off x="12448179" y="1999686"/>
            <a:ext cx="20296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Тесты готового на тот момент кода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F2BE15-E83D-FE68-C3B5-4F6FB91A6A1F}"/>
              </a:ext>
            </a:extLst>
          </p:cNvPr>
          <p:cNvSpPr txBox="1"/>
          <p:nvPr/>
        </p:nvSpPr>
        <p:spPr>
          <a:xfrm>
            <a:off x="12818618" y="2084874"/>
            <a:ext cx="18138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Создание сайта для проекта с помощью библиотеки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2768C8-D101-430A-2287-D6CAD5E48807}"/>
              </a:ext>
            </a:extLst>
          </p:cNvPr>
          <p:cNvSpPr txBox="1"/>
          <p:nvPr/>
        </p:nvSpPr>
        <p:spPr>
          <a:xfrm>
            <a:off x="-2677405" y="2426888"/>
            <a:ext cx="20381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Реализация функции по выводу информации пользователю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952925-2C02-D317-5665-27D604FD237C}"/>
              </a:ext>
            </a:extLst>
          </p:cNvPr>
          <p:cNvSpPr txBox="1"/>
          <p:nvPr/>
        </p:nvSpPr>
        <p:spPr>
          <a:xfrm>
            <a:off x="3741129" y="-3133102"/>
            <a:ext cx="44475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Конкуренты</a:t>
            </a:r>
          </a:p>
          <a:p>
            <a:pPr algn="ctr"/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Моего </a:t>
            </a:r>
          </a:p>
          <a:p>
            <a:pPr algn="ctr"/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проекта</a:t>
            </a:r>
          </a:p>
        </p:txBody>
      </p:sp>
    </p:spTree>
    <p:extLst>
      <p:ext uri="{BB962C8B-B14F-4D97-AF65-F5344CB8AC3E}">
        <p14:creationId xmlns:p14="http://schemas.microsoft.com/office/powerpoint/2010/main" val="609178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5E4A5-091F-B5EF-9190-758A1C31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6BDE1E-A9BA-1049-4690-406D446B4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8CC43AF-AF17-AB32-43A8-CF9BA786CB77}"/>
              </a:ext>
            </a:extLst>
          </p:cNvPr>
          <p:cNvSpPr/>
          <p:nvPr/>
        </p:nvSpPr>
        <p:spPr>
          <a:xfrm>
            <a:off x="-687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BFF2526-C2CA-3B09-7D5F-D5FA26AD1069}"/>
              </a:ext>
            </a:extLst>
          </p:cNvPr>
          <p:cNvGrpSpPr/>
          <p:nvPr/>
        </p:nvGrpSpPr>
        <p:grpSpPr>
          <a:xfrm>
            <a:off x="-101960" y="5420481"/>
            <a:ext cx="12192000" cy="6858000"/>
            <a:chOff x="-1" y="0"/>
            <a:chExt cx="12192000" cy="6858000"/>
          </a:xfrm>
          <a:noFill/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F1F3C17-1263-2F6E-0A0C-C72782B02215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E7E69229-37F2-B13D-65AD-1874C8133B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BD7AFC-4784-6EDC-7615-B0FA895C6EC7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7E14B783-9252-177F-AC42-008C9C046F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7A241D9-FA46-38E4-2EEC-5BD2541342C9}"/>
              </a:ext>
            </a:extLst>
          </p:cNvPr>
          <p:cNvSpPr txBox="1"/>
          <p:nvPr/>
        </p:nvSpPr>
        <p:spPr>
          <a:xfrm>
            <a:off x="3741129" y="20723"/>
            <a:ext cx="4447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Конкуренты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Моего 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проекта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AE26E8-8D73-6736-47F3-7061B7931E44}"/>
              </a:ext>
            </a:extLst>
          </p:cNvPr>
          <p:cNvSpPr txBox="1"/>
          <p:nvPr/>
        </p:nvSpPr>
        <p:spPr>
          <a:xfrm>
            <a:off x="12157403" y="697831"/>
            <a:ext cx="6150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i="0" cap="all" dirty="0">
                <a:solidFill>
                  <a:srgbClr val="FFFFFF"/>
                </a:solidFill>
                <a:effectLst/>
                <a:latin typeface="Palatino"/>
              </a:rPr>
              <a:t>Fake Fighter GPT</a:t>
            </a: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14FD4590-1B19-B059-0C55-3E000A2DC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637085"/>
              </p:ext>
            </p:extLst>
          </p:nvPr>
        </p:nvGraphicFramePr>
        <p:xfrm>
          <a:off x="12883790" y="1738647"/>
          <a:ext cx="8128000" cy="294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8412468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99382624"/>
                    </a:ext>
                  </a:extLst>
                </a:gridCol>
              </a:tblGrid>
              <a:tr h="83310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cap="all" dirty="0">
                          <a:solidFill>
                            <a:schemeClr val="tx1"/>
                          </a:solidFill>
                          <a:effectLst/>
                          <a:latin typeface="Palatino"/>
                        </a:rPr>
                        <a:t>Fake Fighter GPT</a:t>
                      </a:r>
                    </a:p>
                    <a:p>
                      <a:pPr algn="ctr"/>
                      <a:endParaRPr lang="ru-RU" dirty="0"/>
                    </a:p>
                  </a:txBody>
                  <a:tcPr>
                    <a:solidFill>
                      <a:srgbClr val="B1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highlight>
                            <a:srgbClr val="B1B2B2"/>
                          </a:highlight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B1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598192"/>
                  </a:ext>
                </a:extLst>
              </a:tr>
              <a:tr h="2028424">
                <a:tc>
                  <a:txBody>
                    <a:bodyPr/>
                    <a:lstStyle/>
                    <a:p>
                      <a:r>
                        <a:rPr lang="ru-RU" sz="2400" dirty="0"/>
                        <a:t>Требует подключение к </a:t>
                      </a:r>
                      <a:r>
                        <a:rPr lang="en-US" sz="2400" dirty="0"/>
                        <a:t>VPN</a:t>
                      </a:r>
                    </a:p>
                    <a:p>
                      <a:r>
                        <a:rPr lang="ru-RU" sz="2400" dirty="0"/>
                        <a:t>Нужна авторизация  в </a:t>
                      </a:r>
                      <a:r>
                        <a:rPr lang="en-US" sz="2400" dirty="0"/>
                        <a:t>ChatGPT</a:t>
                      </a:r>
                    </a:p>
                    <a:p>
                      <a:r>
                        <a:rPr lang="ru-RU" sz="2400" dirty="0"/>
                        <a:t>Более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Не требует </a:t>
                      </a:r>
                      <a:r>
                        <a:rPr lang="en-US" sz="2400" dirty="0"/>
                        <a:t>VPN</a:t>
                      </a:r>
                      <a:endParaRPr lang="ru-RU" sz="2400" dirty="0"/>
                    </a:p>
                    <a:p>
                      <a:r>
                        <a:rPr lang="ru-RU" sz="2400" dirty="0"/>
                        <a:t>Не нужна авторизация</a:t>
                      </a:r>
                    </a:p>
                    <a:p>
                      <a:r>
                        <a:rPr lang="ru-RU" sz="2400" dirty="0"/>
                        <a:t>Но менее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66625"/>
                  </a:ext>
                </a:extLst>
              </a:tr>
            </a:tbl>
          </a:graphicData>
        </a:graphic>
      </p:graphicFrame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1FD4572-6802-8BE0-E4EC-D2D1386A1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5715" y="188391"/>
            <a:ext cx="1317914" cy="132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68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360A9-D09D-55F6-7C93-6FDADCA6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844069-5EAC-C3D7-BFDB-BB133F12C7E1}"/>
              </a:ext>
            </a:extLst>
          </p:cNvPr>
          <p:cNvSpPr/>
          <p:nvPr/>
        </p:nvSpPr>
        <p:spPr>
          <a:xfrm>
            <a:off x="-687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4DCE4FA-C233-A206-8628-502FBD7D2B6D}"/>
              </a:ext>
            </a:extLst>
          </p:cNvPr>
          <p:cNvGrpSpPr/>
          <p:nvPr/>
        </p:nvGrpSpPr>
        <p:grpSpPr>
          <a:xfrm>
            <a:off x="-101960" y="5420481"/>
            <a:ext cx="12192000" cy="6858000"/>
            <a:chOff x="-1" y="0"/>
            <a:chExt cx="12192000" cy="6858000"/>
          </a:xfrm>
          <a:noFill/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6EAC81C-0D62-0DE2-2CA6-1FE398C55C30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EC86A8FA-1639-B710-429B-688D9EF289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ECEA09-5039-5C8C-C030-A8333FEE526D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6245F166-A597-E76F-81F2-094187F6FE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B59161C-6008-5BF5-1214-9BD6E075D2B9}"/>
              </a:ext>
            </a:extLst>
          </p:cNvPr>
          <p:cNvSpPr txBox="1"/>
          <p:nvPr/>
        </p:nvSpPr>
        <p:spPr>
          <a:xfrm>
            <a:off x="-421296" y="20723"/>
            <a:ext cx="4447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Конкуренты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Моего 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проекта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1DD030-9CF8-B220-0C32-D14FFE5286FC}"/>
              </a:ext>
            </a:extLst>
          </p:cNvPr>
          <p:cNvSpPr txBox="1"/>
          <p:nvPr/>
        </p:nvSpPr>
        <p:spPr>
          <a:xfrm>
            <a:off x="3020339" y="713550"/>
            <a:ext cx="6150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i="0" cap="all" dirty="0">
                <a:solidFill>
                  <a:srgbClr val="FFFFFF"/>
                </a:solidFill>
                <a:effectLst/>
                <a:latin typeface="Palatino"/>
              </a:rPr>
              <a:t>Fake Fighter GPT</a:t>
            </a:r>
          </a:p>
        </p:txBody>
      </p: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82DF3447-F5B1-4D42-128E-3609A5ED6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023504"/>
              </p:ext>
            </p:extLst>
          </p:nvPr>
        </p:nvGraphicFramePr>
        <p:xfrm>
          <a:off x="1930040" y="1729122"/>
          <a:ext cx="8128000" cy="294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8412468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99382624"/>
                    </a:ext>
                  </a:extLst>
                </a:gridCol>
              </a:tblGrid>
              <a:tr h="83310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cap="all" dirty="0">
                          <a:solidFill>
                            <a:schemeClr val="tx1"/>
                          </a:solidFill>
                          <a:effectLst/>
                          <a:latin typeface="Palatino"/>
                        </a:rPr>
                        <a:t>Fake Fighter GPT</a:t>
                      </a:r>
                    </a:p>
                    <a:p>
                      <a:pPr algn="ctr"/>
                      <a:endParaRPr lang="ru-RU" dirty="0"/>
                    </a:p>
                  </a:txBody>
                  <a:tcPr>
                    <a:solidFill>
                      <a:srgbClr val="B1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highlight>
                            <a:srgbClr val="B1B2B2"/>
                          </a:highlight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B1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598192"/>
                  </a:ext>
                </a:extLst>
              </a:tr>
              <a:tr h="2028424">
                <a:tc>
                  <a:txBody>
                    <a:bodyPr/>
                    <a:lstStyle/>
                    <a:p>
                      <a:r>
                        <a:rPr lang="ru-RU" sz="2400" dirty="0"/>
                        <a:t>Требует подключение к </a:t>
                      </a:r>
                      <a:r>
                        <a:rPr lang="en-US" sz="2400" dirty="0"/>
                        <a:t>VPN</a:t>
                      </a:r>
                    </a:p>
                    <a:p>
                      <a:r>
                        <a:rPr lang="ru-RU" sz="2400" dirty="0"/>
                        <a:t>Нужна авторизация  в </a:t>
                      </a:r>
                      <a:r>
                        <a:rPr lang="en-US" sz="2400" dirty="0"/>
                        <a:t>ChatGPT</a:t>
                      </a:r>
                    </a:p>
                    <a:p>
                      <a:r>
                        <a:rPr lang="ru-RU" sz="2400" dirty="0"/>
                        <a:t>Более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Не требует </a:t>
                      </a:r>
                      <a:r>
                        <a:rPr lang="en-US" sz="2400" dirty="0"/>
                        <a:t>VPN</a:t>
                      </a:r>
                      <a:endParaRPr lang="ru-RU" sz="2400" dirty="0"/>
                    </a:p>
                    <a:p>
                      <a:r>
                        <a:rPr lang="ru-RU" sz="2400" dirty="0"/>
                        <a:t>Не нужна авторизация</a:t>
                      </a:r>
                    </a:p>
                    <a:p>
                      <a:r>
                        <a:rPr lang="ru-RU" sz="2400" dirty="0"/>
                        <a:t>Но менее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66625"/>
                  </a:ext>
                </a:extLst>
              </a:tr>
            </a:tbl>
          </a:graphicData>
        </a:graphic>
      </p:graphicFrame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2FAD910-4AE4-4B0B-320A-AB5371135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089" y="269968"/>
            <a:ext cx="1317914" cy="13222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D0E4633-38B4-C595-B9AC-875E2CD500D3}"/>
              </a:ext>
            </a:extLst>
          </p:cNvPr>
          <p:cNvSpPr txBox="1"/>
          <p:nvPr/>
        </p:nvSpPr>
        <p:spPr>
          <a:xfrm>
            <a:off x="12373889" y="689737"/>
            <a:ext cx="6150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Telegram-</a:t>
            </a:r>
            <a:r>
              <a:rPr lang="ru-RU" sz="3200" b="1" dirty="0">
                <a:solidFill>
                  <a:schemeClr val="bg1"/>
                </a:solidFill>
              </a:rPr>
              <a:t>бот </a:t>
            </a:r>
            <a:r>
              <a:rPr lang="en-US" sz="3200" b="1" dirty="0">
                <a:solidFill>
                  <a:schemeClr val="bg1"/>
                </a:solidFill>
              </a:rPr>
              <a:t>OFD.ru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33B1842-4A32-F819-2FA2-9D75E2450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7831" y="113334"/>
            <a:ext cx="1472419" cy="1477049"/>
          </a:xfrm>
          <a:prstGeom prst="rect">
            <a:avLst/>
          </a:prstGeom>
        </p:spPr>
      </p:pic>
      <p:graphicFrame>
        <p:nvGraphicFramePr>
          <p:cNvPr id="22" name="Объект 20">
            <a:extLst>
              <a:ext uri="{FF2B5EF4-FFF2-40B4-BE49-F238E27FC236}">
                <a16:creationId xmlns:a16="http://schemas.microsoft.com/office/drawing/2014/main" id="{1A1E3686-7679-0606-3330-BFD089ADC3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8662982"/>
              </p:ext>
            </p:extLst>
          </p:nvPr>
        </p:nvGraphicFramePr>
        <p:xfrm>
          <a:off x="-11620500" y="1716918"/>
          <a:ext cx="10515600" cy="3601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614937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71697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Фактчек-бот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«Проверка»</a:t>
                      </a:r>
                      <a:endParaRPr lang="ru-RU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2400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B1B2B2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2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endParaRPr lang="ru-RU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584499"/>
                  </a:ext>
                </a:extLst>
              </a:tr>
              <a:tr h="2412307">
                <a:tc>
                  <a:txBody>
                    <a:bodyPr/>
                    <a:lstStyle/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Проверяет только текст</a:t>
                      </a:r>
                    </a:p>
                    <a:p>
                      <a:r>
                        <a:rPr lang="ru-RU" sz="2800" dirty="0"/>
                        <a:t>Всё проверяется автоматически</a:t>
                      </a:r>
                    </a:p>
                    <a:p>
                      <a:r>
                        <a:rPr lang="ru-RU" sz="2800" dirty="0"/>
                        <a:t>Ответ приходит за несколько секунд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4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264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5128C-066C-0AFC-3E25-285107B8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F89A9E-D3F6-DB56-B88D-C9D7F19655F6}"/>
              </a:ext>
            </a:extLst>
          </p:cNvPr>
          <p:cNvSpPr/>
          <p:nvPr/>
        </p:nvSpPr>
        <p:spPr>
          <a:xfrm>
            <a:off x="-687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71B2F5B-3D37-127A-DB0D-F0A980139E94}"/>
              </a:ext>
            </a:extLst>
          </p:cNvPr>
          <p:cNvGrpSpPr/>
          <p:nvPr/>
        </p:nvGrpSpPr>
        <p:grpSpPr>
          <a:xfrm>
            <a:off x="-101960" y="5420481"/>
            <a:ext cx="12192000" cy="6858000"/>
            <a:chOff x="-1" y="0"/>
            <a:chExt cx="12192000" cy="6858000"/>
          </a:xfrm>
          <a:noFill/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C9209D4D-DEBC-6F6E-49F8-91C456F77EF0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9A4D0953-8695-EEAE-620B-1ABFA964CC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FEEC7FB-05EB-B328-84B6-AFCC0CE44108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E0A6B218-5AA5-4C0A-8A10-C71F664ACE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4C6E758-5FB3-745E-687E-DB49F4E2555F}"/>
              </a:ext>
            </a:extLst>
          </p:cNvPr>
          <p:cNvSpPr txBox="1"/>
          <p:nvPr/>
        </p:nvSpPr>
        <p:spPr>
          <a:xfrm>
            <a:off x="-421296" y="20723"/>
            <a:ext cx="4447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Конкуренты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Моего 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проекта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C8E3F-D7A9-CEBF-A80A-1F2D15F6B58C}"/>
              </a:ext>
            </a:extLst>
          </p:cNvPr>
          <p:cNvSpPr txBox="1"/>
          <p:nvPr/>
        </p:nvSpPr>
        <p:spPr>
          <a:xfrm>
            <a:off x="4277639" y="689737"/>
            <a:ext cx="6150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Telegram-</a:t>
            </a:r>
            <a:r>
              <a:rPr lang="ru-RU" sz="3200" b="1" dirty="0">
                <a:solidFill>
                  <a:schemeClr val="bg1"/>
                </a:solidFill>
              </a:rPr>
              <a:t>бот </a:t>
            </a:r>
            <a:r>
              <a:rPr lang="en-US" sz="3200" b="1" dirty="0">
                <a:solidFill>
                  <a:schemeClr val="bg1"/>
                </a:solidFill>
              </a:rPr>
              <a:t>OFD.ru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60F643E7-D867-637E-501A-35316F4C5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338073"/>
              </p:ext>
            </p:extLst>
          </p:nvPr>
        </p:nvGraphicFramePr>
        <p:xfrm>
          <a:off x="-9061450" y="1788249"/>
          <a:ext cx="8128000" cy="3631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8412468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99382624"/>
                    </a:ext>
                  </a:extLst>
                </a:gridCol>
              </a:tblGrid>
              <a:tr h="112840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cap="all" dirty="0">
                          <a:solidFill>
                            <a:schemeClr val="tx1"/>
                          </a:solidFill>
                          <a:effectLst/>
                          <a:latin typeface="Palatino"/>
                        </a:rPr>
                        <a:t>Fake Fighter GPT</a:t>
                      </a:r>
                    </a:p>
                    <a:p>
                      <a:pPr algn="ctr"/>
                      <a:endParaRPr lang="ru-RU" dirty="0"/>
                    </a:p>
                  </a:txBody>
                  <a:tcPr>
                    <a:solidFill>
                      <a:srgbClr val="B1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highlight>
                            <a:srgbClr val="B1B2B2"/>
                          </a:highlight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1800" dirty="0">
                        <a:solidFill>
                          <a:schemeClr val="tx1"/>
                        </a:solidFill>
                        <a:highlight>
                          <a:srgbClr val="B1B2B2"/>
                        </a:highlight>
                        <a:latin typeface="Arial Black" panose="020B0A04020102020204" pitchFamily="34" charset="0"/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B1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598192"/>
                  </a:ext>
                </a:extLst>
              </a:tr>
              <a:tr h="2503165">
                <a:tc>
                  <a:txBody>
                    <a:bodyPr/>
                    <a:lstStyle/>
                    <a:p>
                      <a:r>
                        <a:rPr lang="ru-RU" sz="2400" dirty="0"/>
                        <a:t>Требует подключение к </a:t>
                      </a:r>
                      <a:r>
                        <a:rPr lang="en-US" sz="2400" dirty="0"/>
                        <a:t>VPN</a:t>
                      </a:r>
                    </a:p>
                    <a:p>
                      <a:r>
                        <a:rPr lang="ru-RU" sz="2400" dirty="0"/>
                        <a:t>Нужна авторизация  в </a:t>
                      </a:r>
                      <a:r>
                        <a:rPr lang="en-US" sz="2400" dirty="0"/>
                        <a:t>ChatGPT</a:t>
                      </a:r>
                    </a:p>
                    <a:p>
                      <a:r>
                        <a:rPr lang="ru-RU" sz="2400" dirty="0"/>
                        <a:t>Более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Не требует </a:t>
                      </a:r>
                      <a:r>
                        <a:rPr lang="en-US" sz="2400" dirty="0"/>
                        <a:t>VPN</a:t>
                      </a:r>
                      <a:endParaRPr lang="ru-RU" sz="2400" dirty="0"/>
                    </a:p>
                    <a:p>
                      <a:r>
                        <a:rPr lang="ru-RU" sz="2400" dirty="0"/>
                        <a:t>Не нужна авторизация</a:t>
                      </a:r>
                    </a:p>
                    <a:p>
                      <a:r>
                        <a:rPr lang="ru-RU" sz="2400" dirty="0"/>
                        <a:t>Но менее точный поиск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6662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21D34DE-95B0-D2A8-C2FF-AF00F9A6B217}"/>
              </a:ext>
            </a:extLst>
          </p:cNvPr>
          <p:cNvSpPr txBox="1"/>
          <p:nvPr/>
        </p:nvSpPr>
        <p:spPr>
          <a:xfrm>
            <a:off x="12659639" y="713550"/>
            <a:ext cx="6150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i="0" cap="all" dirty="0">
                <a:solidFill>
                  <a:srgbClr val="FFFFFF"/>
                </a:solidFill>
                <a:effectLst/>
                <a:latin typeface="Palatino"/>
              </a:rPr>
              <a:t>Fake Fighter GPT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74FB709-5E98-DD0E-B857-00EC16184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581" y="113334"/>
            <a:ext cx="1472419" cy="147704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F159444-FFB0-FD6E-495E-F856A82D5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1316" y="190740"/>
            <a:ext cx="1317914" cy="1322235"/>
          </a:xfrm>
          <a:prstGeom prst="rect">
            <a:avLst/>
          </a:prstGeom>
        </p:spPr>
      </p:pic>
      <p:graphicFrame>
        <p:nvGraphicFramePr>
          <p:cNvPr id="21" name="Объект 20">
            <a:extLst>
              <a:ext uri="{FF2B5EF4-FFF2-40B4-BE49-F238E27FC236}">
                <a16:creationId xmlns:a16="http://schemas.microsoft.com/office/drawing/2014/main" id="{990548CA-D925-FB5A-65C0-5E9246C7A5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4221274"/>
              </p:ext>
            </p:extLst>
          </p:nvPr>
        </p:nvGraphicFramePr>
        <p:xfrm>
          <a:off x="838200" y="1793118"/>
          <a:ext cx="10515600" cy="3601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614937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71697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Фактчек-бот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«Проверка»</a:t>
                      </a:r>
                      <a:endParaRPr lang="ru-RU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2400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B1B2B2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2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endParaRPr lang="ru-RU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584499"/>
                  </a:ext>
                </a:extLst>
              </a:tr>
              <a:tr h="2412307">
                <a:tc>
                  <a:txBody>
                    <a:bodyPr/>
                    <a:lstStyle/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Проверяет только текст</a:t>
                      </a:r>
                    </a:p>
                    <a:p>
                      <a:r>
                        <a:rPr lang="ru-RU" sz="2800" dirty="0"/>
                        <a:t>Всё проверяется автоматически</a:t>
                      </a:r>
                    </a:p>
                    <a:p>
                      <a:r>
                        <a:rPr lang="ru-RU" sz="2800" dirty="0"/>
                        <a:t>Ответ приходит за несколько секунд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4219"/>
                  </a:ext>
                </a:extLst>
              </a:tr>
            </a:tbl>
          </a:graphicData>
        </a:graphic>
      </p:graphicFrame>
      <p:pic>
        <p:nvPicPr>
          <p:cNvPr id="23" name="Picture 2">
            <a:extLst>
              <a:ext uri="{FF2B5EF4-FFF2-40B4-BE49-F238E27FC236}">
                <a16:creationId xmlns:a16="http://schemas.microsoft.com/office/drawing/2014/main" id="{A394F404-3493-D55F-FCB3-5CD3ACB52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371" y="7305683"/>
            <a:ext cx="1355558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Объект 17" descr="Хлопать в ладоши со сплошной заливкой">
            <a:extLst>
              <a:ext uri="{FF2B5EF4-FFF2-40B4-BE49-F238E27FC236}">
                <a16:creationId xmlns:a16="http://schemas.microsoft.com/office/drawing/2014/main" id="{DDA148A5-B6C6-CCEC-8194-95B29D87D3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282408">
            <a:off x="4513252" y="7541954"/>
            <a:ext cx="1162163" cy="116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63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F473C-A43F-A945-0285-C32A61E1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2CDEAA-7DB9-A895-3507-8808ADE11ACC}"/>
              </a:ext>
            </a:extLst>
          </p:cNvPr>
          <p:cNvSpPr/>
          <p:nvPr/>
        </p:nvSpPr>
        <p:spPr>
          <a:xfrm>
            <a:off x="-687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BD395CB-DABE-5BC6-4382-46FB887C5CC4}"/>
              </a:ext>
            </a:extLst>
          </p:cNvPr>
          <p:cNvGrpSpPr/>
          <p:nvPr/>
        </p:nvGrpSpPr>
        <p:grpSpPr>
          <a:xfrm>
            <a:off x="-101960" y="5420481"/>
            <a:ext cx="12192000" cy="6858000"/>
            <a:chOff x="-1" y="0"/>
            <a:chExt cx="12192000" cy="6858000"/>
          </a:xfrm>
          <a:noFill/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4A0DC11-C06A-B8CE-D6B8-3750CF7B526B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5DAB4A40-226C-67C8-E0E8-603CD4024C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9AF64F-EE35-1F53-5361-07CF63B868D7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CDFEDCF0-4BD3-4C80-3232-A30DE82E3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91CFECC-9EAC-B9C6-7AC7-5325BF0B094F}"/>
              </a:ext>
            </a:extLst>
          </p:cNvPr>
          <p:cNvSpPr txBox="1"/>
          <p:nvPr/>
        </p:nvSpPr>
        <p:spPr>
          <a:xfrm>
            <a:off x="-421296" y="20723"/>
            <a:ext cx="4447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Конкуренты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Моего 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проекта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FF16F7-72A4-529A-2516-CFF702886CF1}"/>
              </a:ext>
            </a:extLst>
          </p:cNvPr>
          <p:cNvSpPr txBox="1"/>
          <p:nvPr/>
        </p:nvSpPr>
        <p:spPr>
          <a:xfrm>
            <a:off x="4277639" y="689737"/>
            <a:ext cx="6150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Telegram-</a:t>
            </a:r>
            <a:r>
              <a:rPr lang="ru-RU" sz="3200" b="1" dirty="0">
                <a:solidFill>
                  <a:schemeClr val="bg1"/>
                </a:solidFill>
              </a:rPr>
              <a:t>бот </a:t>
            </a:r>
            <a:r>
              <a:rPr lang="en-US" sz="3200" b="1" dirty="0">
                <a:solidFill>
                  <a:schemeClr val="bg1"/>
                </a:solidFill>
              </a:rPr>
              <a:t>OFD.ru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A7C65B9-1FA4-A0A4-184A-7D98A3CA8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581" y="113334"/>
            <a:ext cx="1472419" cy="1477049"/>
          </a:xfrm>
          <a:prstGeom prst="rect">
            <a:avLst/>
          </a:prstGeom>
        </p:spPr>
      </p:pic>
      <p:graphicFrame>
        <p:nvGraphicFramePr>
          <p:cNvPr id="16" name="Объект 20">
            <a:extLst>
              <a:ext uri="{FF2B5EF4-FFF2-40B4-BE49-F238E27FC236}">
                <a16:creationId xmlns:a16="http://schemas.microsoft.com/office/drawing/2014/main" id="{556402D2-11A5-B3D2-D6DE-206E59AF4E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2371511"/>
              </p:ext>
            </p:extLst>
          </p:nvPr>
        </p:nvGraphicFramePr>
        <p:xfrm>
          <a:off x="838200" y="1793118"/>
          <a:ext cx="10515600" cy="3601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614937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71697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Фактчек-бот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«Проверка»</a:t>
                      </a:r>
                      <a:endParaRPr lang="ru-RU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2400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B1B2B2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News Checker</a:t>
                      </a:r>
                      <a:endParaRPr lang="ru-RU" sz="2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endParaRPr lang="ru-RU" dirty="0"/>
                    </a:p>
                  </a:txBody>
                  <a:tcPr>
                    <a:solidFill>
                      <a:srgbClr val="B5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584499"/>
                  </a:ext>
                </a:extLst>
              </a:tr>
              <a:tr h="2412307">
                <a:tc>
                  <a:txBody>
                    <a:bodyPr/>
                    <a:lstStyle/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  <a:p>
                      <a:r>
                        <a:rPr lang="ru-RU" dirty="0"/>
                        <a:t>Проверяет также фото и видео</a:t>
                      </a:r>
                    </a:p>
                    <a:p>
                      <a:r>
                        <a:rPr lang="ru-RU" dirty="0"/>
                        <a:t>Контент проверяется вручную при помощи нейросетей</a:t>
                      </a:r>
                    </a:p>
                    <a:p>
                      <a:r>
                        <a:rPr lang="ru-RU" dirty="0"/>
                        <a:t>Ответ может приходить от 2 до 3 минут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Проверяет только текст</a:t>
                      </a:r>
                    </a:p>
                    <a:p>
                      <a:r>
                        <a:rPr lang="ru-RU" sz="2800" dirty="0"/>
                        <a:t>Всё проверяется автоматически</a:t>
                      </a:r>
                    </a:p>
                    <a:p>
                      <a:r>
                        <a:rPr lang="ru-RU" sz="2800" dirty="0"/>
                        <a:t>Ответ приходит за несколько секунд</a:t>
                      </a:r>
                    </a:p>
                  </a:txBody>
                  <a:tcPr>
                    <a:solidFill>
                      <a:srgbClr val="ABC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4219"/>
                  </a:ext>
                </a:extLst>
              </a:tr>
            </a:tbl>
          </a:graphicData>
        </a:graphic>
      </p:graphicFrame>
      <p:pic>
        <p:nvPicPr>
          <p:cNvPr id="21" name="Picture 2">
            <a:extLst>
              <a:ext uri="{FF2B5EF4-FFF2-40B4-BE49-F238E27FC236}">
                <a16:creationId xmlns:a16="http://schemas.microsoft.com/office/drawing/2014/main" id="{2E2AD78B-0265-24C4-FBDC-4B94F5E4E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471" y="2943404"/>
            <a:ext cx="1355558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Объект 17" descr="Хлопать в ладоши со сплошной заливкой">
            <a:extLst>
              <a:ext uri="{FF2B5EF4-FFF2-40B4-BE49-F238E27FC236}">
                <a16:creationId xmlns:a16="http://schemas.microsoft.com/office/drawing/2014/main" id="{FF6EBC02-3211-4516-5CB8-05AA415C02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282408">
            <a:off x="5694352" y="3179675"/>
            <a:ext cx="1162163" cy="116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41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3803 -0.03797 -0.0767 -0.07824 -0.11719 -0.10579 C -0.21016 -0.16829 -0.11094 -0.1 -0.22344 -0.18334 C -0.2629 -0.21273 -0.30378 -0.23635 -0.34219 -0.26968 C -0.35834 -0.28357 -0.37474 -0.29653 -0.39063 -0.31111 C -0.41902 -0.33727 -0.44623 -0.36713 -0.475 -0.39167 L -0.51407 -0.42523 C -0.51784 -0.42848 -0.525 -0.42871 -0.525 -0.43611 C -0.525 -0.44329 -0.51758 -0.43125 -0.51407 -0.42778 C -0.49987 -0.41366 -0.48529 -0.40023 -0.47188 -0.38334 C -0.41602 -0.3125 -0.4862 -0.40023 -0.425 -0.32778 C -0.41602 -0.31713 -0.40717 -0.30602 -0.39844 -0.29445 C -0.38425 -0.27547 -0.3711 -0.25371 -0.35625 -0.23635 C -0.33008 -0.2051 -0.29219 -0.15857 -0.2625 -0.12778 C -0.18165 -0.04422 -0.19584 -0.06297 -0.09688 0.02477 C 0.01028 0.12014 -0.14402 -0.00903 0.03906 0.13889 C 0.05364 0.15069 0.06783 0.16435 0.08281 0.17477 C 0.09843 0.18588 0.11406 0.19652 0.12968 0.2081 C 0.20052 0.26134 0.20377 0.27361 0.29531 0.325 C 0.32695 0.34259 0.31484 0.33703 0.33125 0.34421 C 0.32968 0.33611 0.32864 0.32708 0.32656 0.31944 C 0.322 0.30347 0.30989 0.27407 0.30312 0.26111 C 0.2858 0.22847 0.25585 0.175 0.23437 0.14699 C 0.1944 0.0956 0.18216 0.09305 0.15 0.04166 C 0.14361 0.03148 0.13893 0.01852 0.13281 0.00833 C 0.09192 -0.06135 0.05143 -0.11482 0.01718 -0.19723 C -0.01446 -0.27338 -0.01537 -0.2801 -0.05938 -0.35834 C -0.09167 -0.41574 -0.08894 -0.42292 -0.11719 -0.45 C -0.11875 -0.45139 -0.12032 -0.45255 -0.12188 -0.45301 C -0.13907 -0.45718 -0.15639 -0.45996 -0.17344 -0.46412 C -0.18034 -0.46551 -0.18698 -0.46783 -0.19375 -0.46968 C -0.18386 -0.45186 -0.17422 -0.43403 -0.16407 -0.41667 C -0.14935 -0.39144 -0.14597 -0.39121 -0.13282 -0.36111 C -0.12878 -0.35162 -0.12644 -0.33959 -0.12188 -0.33079 C -0.11719 -0.32153 -0.03425 -0.16875 -0.01719 -0.14445 C -0.00105 -0.1213 0.01432 -0.09653 0.03125 -0.07523 C 0.06536 -0.03172 0.10091 0.00833 0.13593 0.04977 C 0.19947 0.12523 0.16718 0.08333 0.20468 0.13333 C 0.2052 0.13611 0.20546 0.13889 0.20625 0.14143 C 0.21028 0.15602 0.21341 0.14768 0.19843 0.15532 C 0.16562 0.12199 0.13177 0.09143 0.1 0.05532 C 0.08281 0.03611 0.06614 0.01504 0.04843 -0.00278 C 0.01445 -0.03704 -0.02058 -0.06713 -0.05469 -0.10023 C -0.06954 -0.11436 -0.08373 -0.1301 -0.09844 -0.14445 C -0.11602 -0.16158 -0.1349 -0.17477 -0.15157 -0.19468 C -0.25469 -0.31667 -0.17123 -0.22107 -0.32813 -0.38334 C -0.34558 -0.40139 -0.3612 -0.42523 -0.37969 -0.43912 C -0.43125 -0.47732 -0.41159 -0.46528 -0.4375 -0.48056 C -0.46003 -0.50926 -0.43816 -0.47894 -0.45625 -0.51135 C -0.45977 -0.51736 -0.46381 -0.52199 -0.46719 -0.52778 C -0.48998 -0.56574 -0.48764 -0.57246 -0.52344 -0.61389 C -0.5323 -0.62408 -0.54154 -0.63311 -0.54987 -0.64445 C -0.55665 -0.65324 -0.55612 -0.64815 -0.55612 -0.65556 L -0.55612 -0.65556 L -0.55612 -0.65556 " pathEditMode="relative" ptsTypes="AAAAAAAAAAAAAAAAAAAAAAAAAAAAAAAAAAAAAAAAAAAAAAAAAAAAAAAA">
                                      <p:cBhvr>
                                        <p:cTn id="6" dur="2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3803 -0.03797 -0.0767 -0.07824 -0.11719 -0.10579 C -0.21016 -0.16829 -0.11094 -0.1 -0.22344 -0.18334 C -0.2629 -0.21273 -0.30378 -0.23635 -0.34219 -0.26968 C -0.35834 -0.28357 -0.37474 -0.29653 -0.39063 -0.31111 C -0.41902 -0.33727 -0.44623 -0.36713 -0.475 -0.39167 L -0.51407 -0.42523 C -0.51784 -0.42848 -0.525 -0.42871 -0.525 -0.43611 C -0.525 -0.44329 -0.51758 -0.43125 -0.51407 -0.42778 C -0.49987 -0.41366 -0.48529 -0.40023 -0.47188 -0.38334 C -0.41602 -0.3125 -0.4862 -0.40023 -0.425 -0.32778 C -0.41602 -0.31713 -0.40717 -0.30602 -0.39844 -0.29445 C -0.38425 -0.27547 -0.3711 -0.25371 -0.35625 -0.23635 C -0.33008 -0.2051 -0.29219 -0.15857 -0.2625 -0.12778 C -0.18165 -0.04422 -0.19584 -0.06297 -0.09688 0.02477 C 0.01028 0.12014 -0.14402 -0.00903 0.03906 0.13889 C 0.05364 0.15069 0.06783 0.16435 0.08281 0.17477 C 0.09843 0.18588 0.11406 0.19652 0.12968 0.2081 C 0.20052 0.26134 0.20377 0.27361 0.29531 0.325 C 0.32695 0.34259 0.31484 0.33703 0.33125 0.34421 C 0.32968 0.33611 0.32864 0.32708 0.32656 0.31944 C 0.322 0.30347 0.30989 0.27407 0.30312 0.26111 C 0.2858 0.22847 0.25585 0.175 0.23437 0.14699 C 0.1944 0.0956 0.18216 0.09305 0.15 0.04166 C 0.14361 0.03148 0.13893 0.01852 0.13281 0.00833 C 0.09192 -0.06135 0.05143 -0.11482 0.01718 -0.19723 C -0.01446 -0.27338 -0.01537 -0.2801 -0.05938 -0.35834 C -0.09167 -0.41574 -0.08894 -0.42292 -0.11719 -0.45 C -0.11875 -0.45139 -0.12032 -0.45255 -0.12188 -0.45301 C -0.13907 -0.45718 -0.15639 -0.45996 -0.17344 -0.46412 C -0.18034 -0.46551 -0.18698 -0.46783 -0.19375 -0.46968 C -0.18386 -0.45186 -0.17422 -0.43403 -0.16407 -0.41667 C -0.14935 -0.39144 -0.14597 -0.39121 -0.13282 -0.36111 C -0.12878 -0.35162 -0.12644 -0.33959 -0.12188 -0.33079 C -0.11719 -0.32153 -0.03425 -0.16875 -0.01719 -0.14445 C -0.00105 -0.1213 0.01432 -0.09653 0.03125 -0.07523 C 0.06536 -0.03172 0.10091 0.00833 0.13593 0.04977 C 0.19947 0.12523 0.16718 0.08333 0.20468 0.13333 C 0.2052 0.13611 0.20546 0.13889 0.20625 0.14143 C 0.21028 0.15602 0.21341 0.14768 0.19843 0.15532 C 0.16562 0.12199 0.13177 0.09143 0.1 0.05532 C 0.08281 0.03611 0.06614 0.01504 0.04843 -0.00278 C 0.01445 -0.03704 -0.02058 -0.06713 -0.05469 -0.10023 C -0.06954 -0.11436 -0.08373 -0.1301 -0.09844 -0.14445 C -0.11602 -0.16158 -0.1349 -0.17477 -0.15157 -0.19468 C -0.25469 -0.31667 -0.17123 -0.22107 -0.32813 -0.38334 C -0.34558 -0.40139 -0.3612 -0.42523 -0.37969 -0.43912 C -0.43125 -0.47732 -0.41159 -0.46528 -0.4375 -0.48056 C -0.46003 -0.50926 -0.43816 -0.47894 -0.45625 -0.51135 C -0.45977 -0.51736 -0.46381 -0.52199 -0.46719 -0.52778 C -0.48998 -0.56574 -0.48764 -0.57246 -0.52344 -0.61389 C -0.5323 -0.62408 -0.54154 -0.63311 -0.54987 -0.64445 C -0.55665 -0.65324 -0.55612 -0.64815 -0.55612 -0.65556 L -0.55612 -0.65556 L -0.55612 -0.65556 " pathEditMode="relative" ptsTypes="AAAAAAAAAAAAAAAAAAAAAAAAAAAAAAAAAAAAAAAAAAAAAAAAAAAAAAAA">
                                      <p:cBhvr>
                                        <p:cTn id="8" dur="2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3E5E9-C9B0-2EE3-EDCB-89039F6E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9B5B59-FD17-D073-70CD-E564179F4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2EA73E-3E60-7CE7-A5B4-D178E79AA85F}"/>
              </a:ext>
            </a:extLst>
          </p:cNvPr>
          <p:cNvSpPr/>
          <p:nvPr/>
        </p:nvSpPr>
        <p:spPr>
          <a:xfrm>
            <a:off x="-687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82DEA63-565D-0532-A681-3197B0B2DFE7}"/>
              </a:ext>
            </a:extLst>
          </p:cNvPr>
          <p:cNvGrpSpPr/>
          <p:nvPr/>
        </p:nvGrpSpPr>
        <p:grpSpPr>
          <a:xfrm>
            <a:off x="-101960" y="5420481"/>
            <a:ext cx="12192000" cy="6858000"/>
            <a:chOff x="-1" y="0"/>
            <a:chExt cx="12192000" cy="6858000"/>
          </a:xfrm>
          <a:noFill/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D17DF48-9B9E-B48A-F8EF-98C8827DF782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CBB411FF-C41A-5753-7D31-F8BD8EEE1A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C919937-8272-97D2-E36B-DAA56F3BD046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9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37787B88-4232-DC55-3862-196CA0ABC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D1250B4-A997-27E7-469E-FD770F73EAB7}"/>
              </a:ext>
            </a:extLst>
          </p:cNvPr>
          <p:cNvSpPr txBox="1"/>
          <p:nvPr/>
        </p:nvSpPr>
        <p:spPr>
          <a:xfrm>
            <a:off x="5206406" y="791034"/>
            <a:ext cx="60816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мационная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сность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моего </a:t>
            </a:r>
          </a:p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 заключается в</a:t>
            </a:r>
          </a:p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 от </a:t>
            </a:r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dos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атак, </a:t>
            </a:r>
          </a:p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овании</a:t>
            </a:r>
            <a:endParaRPr lang="ru-RU" sz="4000" dirty="0">
              <a:solidFill>
                <a:srgbClr val="ABC7F3"/>
              </a:solidFill>
              <a:latin typeface="Arial Black" panose="020B0A04020102020204" pitchFamily="34" charset="0"/>
            </a:endParaRPr>
          </a:p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также в </a:t>
            </a:r>
          </a:p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дации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данных.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94541D-F1C7-E517-8512-2DA720116206}"/>
              </a:ext>
            </a:extLst>
          </p:cNvPr>
          <p:cNvSpPr txBox="1"/>
          <p:nvPr/>
        </p:nvSpPr>
        <p:spPr>
          <a:xfrm>
            <a:off x="-3002108" y="786837"/>
            <a:ext cx="31917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 err="1">
                <a:solidFill>
                  <a:srgbClr val="B1B2B2"/>
                </a:solidFill>
                <a:latin typeface="Arial Black" panose="020B0A04020102020204" pitchFamily="34" charset="0"/>
              </a:rPr>
              <a:t>Инфор</a:t>
            </a:r>
            <a:endParaRPr lang="ru-RU" sz="4000" dirty="0">
              <a:solidFill>
                <a:srgbClr val="B1B2B2"/>
              </a:solidFill>
              <a:latin typeface="Arial Black" panose="020B0A04020102020204" pitchFamily="34" charset="0"/>
            </a:endParaRPr>
          </a:p>
          <a:p>
            <a:r>
              <a:rPr lang="ru-RU" sz="4000" dirty="0" err="1">
                <a:solidFill>
                  <a:srgbClr val="B1B2B2"/>
                </a:solidFill>
                <a:latin typeface="Arial Black" panose="020B0A04020102020204" pitchFamily="34" charset="0"/>
              </a:rPr>
              <a:t>Безопа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Проект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 Защит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 err="1">
                <a:solidFill>
                  <a:srgbClr val="B1B2B2"/>
                </a:solidFill>
                <a:latin typeface="Arial Black" panose="020B0A04020102020204" pitchFamily="34" charset="0"/>
              </a:rPr>
              <a:t>Кешир</a:t>
            </a:r>
            <a:endParaRPr lang="ru-RU" sz="4000" dirty="0">
              <a:solidFill>
                <a:srgbClr val="B1B2B2"/>
              </a:solidFill>
              <a:latin typeface="Arial Black" panose="020B0A04020102020204" pitchFamily="34" charset="0"/>
            </a:endParaRP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        а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В вали</a:t>
            </a:r>
          </a:p>
        </p:txBody>
      </p:sp>
    </p:spTree>
    <p:extLst>
      <p:ext uri="{BB962C8B-B14F-4D97-AF65-F5344CB8AC3E}">
        <p14:creationId xmlns:p14="http://schemas.microsoft.com/office/powerpoint/2010/main" val="2213848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100FFE-54D2-6182-4BC0-2E61DC9A71A6}"/>
              </a:ext>
            </a:extLst>
          </p:cNvPr>
          <p:cNvSpPr/>
          <p:nvPr/>
        </p:nvSpPr>
        <p:spPr>
          <a:xfrm>
            <a:off x="-687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8A06C5D-59F1-461E-25A8-336F7CC8087A}"/>
              </a:ext>
            </a:extLst>
          </p:cNvPr>
          <p:cNvGrpSpPr/>
          <p:nvPr/>
        </p:nvGrpSpPr>
        <p:grpSpPr>
          <a:xfrm>
            <a:off x="-101960" y="5420481"/>
            <a:ext cx="12192000" cy="6858000"/>
            <a:chOff x="-1" y="0"/>
            <a:chExt cx="12192000" cy="6858000"/>
          </a:xfrm>
          <a:noFill/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D1C5CD1E-8287-456F-ADEA-ECA9BE7B3582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6DD1412B-C82B-A8F8-F019-7DA0E2A0EA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EA35774-1243-600F-299F-C1AD7DEF7F5F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0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ED95AEE1-61B2-5F66-10BB-C43720EEC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B892C5-0FB3-B0A3-DEBD-6FE6BD019F5F}"/>
              </a:ext>
            </a:extLst>
          </p:cNvPr>
          <p:cNvSpPr txBox="1"/>
          <p:nvPr/>
        </p:nvSpPr>
        <p:spPr>
          <a:xfrm>
            <a:off x="5206406" y="791034"/>
            <a:ext cx="60816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мационная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сность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моего </a:t>
            </a:r>
          </a:p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 заключается в</a:t>
            </a:r>
          </a:p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 от </a:t>
            </a:r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dos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атак, </a:t>
            </a:r>
          </a:p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овании</a:t>
            </a:r>
            <a:endParaRPr lang="ru-RU" sz="4000" dirty="0">
              <a:solidFill>
                <a:srgbClr val="ABC7F3"/>
              </a:solidFill>
              <a:latin typeface="Arial Black" panose="020B0A04020102020204" pitchFamily="34" charset="0"/>
            </a:endParaRPr>
          </a:p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также в </a:t>
            </a:r>
          </a:p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дации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данных.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007C5-BB82-6891-0560-FAA75A0B7745}"/>
              </a:ext>
            </a:extLst>
          </p:cNvPr>
          <p:cNvSpPr txBox="1"/>
          <p:nvPr/>
        </p:nvSpPr>
        <p:spPr>
          <a:xfrm>
            <a:off x="3032361" y="786837"/>
            <a:ext cx="31917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 err="1">
                <a:solidFill>
                  <a:srgbClr val="B1B2B2"/>
                </a:solidFill>
                <a:latin typeface="Arial Black" panose="020B0A04020102020204" pitchFamily="34" charset="0"/>
              </a:rPr>
              <a:t>Инфор</a:t>
            </a:r>
            <a:endParaRPr lang="ru-RU" sz="4000" dirty="0">
              <a:solidFill>
                <a:srgbClr val="B1B2B2"/>
              </a:solidFill>
              <a:latin typeface="Arial Black" panose="020B0A04020102020204" pitchFamily="34" charset="0"/>
            </a:endParaRPr>
          </a:p>
          <a:p>
            <a:r>
              <a:rPr lang="ru-RU" sz="4000" dirty="0" err="1">
                <a:solidFill>
                  <a:srgbClr val="B1B2B2"/>
                </a:solidFill>
                <a:latin typeface="Arial Black" panose="020B0A04020102020204" pitchFamily="34" charset="0"/>
              </a:rPr>
              <a:t>Безопа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Проект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 Защит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 err="1">
                <a:solidFill>
                  <a:srgbClr val="B1B2B2"/>
                </a:solidFill>
                <a:latin typeface="Arial Black" panose="020B0A04020102020204" pitchFamily="34" charset="0"/>
              </a:rPr>
              <a:t>Кешир</a:t>
            </a:r>
            <a:endParaRPr lang="ru-RU" sz="4000" dirty="0">
              <a:solidFill>
                <a:srgbClr val="B1B2B2"/>
              </a:solidFill>
              <a:latin typeface="Arial Black" panose="020B0A04020102020204" pitchFamily="34" charset="0"/>
            </a:endParaRP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        а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В вали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2B6EF-745D-78A2-843E-000709460B3E}"/>
              </a:ext>
            </a:extLst>
          </p:cNvPr>
          <p:cNvSpPr txBox="1"/>
          <p:nvPr/>
        </p:nvSpPr>
        <p:spPr>
          <a:xfrm>
            <a:off x="4233647" y="-999505"/>
            <a:ext cx="4634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B1B2B2"/>
                </a:solidFill>
                <a:latin typeface="Arial Black" panose="020B0A04020102020204" pitchFamily="34" charset="0"/>
              </a:rPr>
              <a:t>Спасибо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A0F5F7-A178-4B7A-5FF9-143948559A0D}"/>
              </a:ext>
            </a:extLst>
          </p:cNvPr>
          <p:cNvSpPr txBox="1"/>
          <p:nvPr/>
        </p:nvSpPr>
        <p:spPr>
          <a:xfrm>
            <a:off x="4087669" y="8396908"/>
            <a:ext cx="3812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ABC7F3"/>
                </a:solidFill>
                <a:latin typeface="Arial Black" panose="020B0A04020102020204" pitchFamily="34" charset="0"/>
              </a:rPr>
              <a:t>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554481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D4D64D-A40D-5697-3E19-DF55C1B94ED0}"/>
              </a:ext>
            </a:extLst>
          </p:cNvPr>
          <p:cNvSpPr txBox="1"/>
          <p:nvPr/>
        </p:nvSpPr>
        <p:spPr>
          <a:xfrm>
            <a:off x="-2486698" y="786837"/>
            <a:ext cx="31917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 err="1">
                <a:solidFill>
                  <a:srgbClr val="B1B2B2"/>
                </a:solidFill>
                <a:latin typeface="Arial Black" panose="020B0A04020102020204" pitchFamily="34" charset="0"/>
              </a:rPr>
              <a:t>Инфор</a:t>
            </a:r>
            <a:endParaRPr lang="ru-RU" sz="4000" dirty="0">
              <a:solidFill>
                <a:srgbClr val="B1B2B2"/>
              </a:solidFill>
              <a:latin typeface="Arial Black" panose="020B0A04020102020204" pitchFamily="34" charset="0"/>
            </a:endParaRPr>
          </a:p>
          <a:p>
            <a:r>
              <a:rPr lang="ru-RU" sz="4000" dirty="0" err="1">
                <a:solidFill>
                  <a:srgbClr val="B1B2B2"/>
                </a:solidFill>
                <a:latin typeface="Arial Black" panose="020B0A04020102020204" pitchFamily="34" charset="0"/>
              </a:rPr>
              <a:t>Безопа</a:t>
            </a:r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Проект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 Защит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</a:t>
            </a:r>
            <a:r>
              <a:rPr lang="ru-RU" sz="4000" dirty="0" err="1">
                <a:solidFill>
                  <a:srgbClr val="B1B2B2"/>
                </a:solidFill>
                <a:latin typeface="Arial Black" panose="020B0A04020102020204" pitchFamily="34" charset="0"/>
              </a:rPr>
              <a:t>Кешир</a:t>
            </a:r>
            <a:endParaRPr lang="ru-RU" sz="4000" dirty="0">
              <a:solidFill>
                <a:srgbClr val="B1B2B2"/>
              </a:solidFill>
              <a:latin typeface="Arial Black" panose="020B0A04020102020204" pitchFamily="34" charset="0"/>
            </a:endParaRP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         а</a:t>
            </a:r>
          </a:p>
          <a:p>
            <a:r>
              <a:rPr lang="ru-RU" sz="4000" dirty="0">
                <a:solidFill>
                  <a:srgbClr val="B1B2B2"/>
                </a:solidFill>
                <a:latin typeface="Arial Black" panose="020B0A04020102020204" pitchFamily="34" charset="0"/>
              </a:rPr>
              <a:t>В вали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3509A-AB56-598A-4209-28BB0EDE1765}"/>
              </a:ext>
            </a:extLst>
          </p:cNvPr>
          <p:cNvSpPr txBox="1"/>
          <p:nvPr/>
        </p:nvSpPr>
        <p:spPr>
          <a:xfrm>
            <a:off x="12273051" y="791034"/>
            <a:ext cx="60816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мационная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сность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моего </a:t>
            </a:r>
          </a:p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а заключается в</a:t>
            </a:r>
          </a:p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е от </a:t>
            </a:r>
            <a:r>
              <a:rPr lang="en-US" sz="4000" dirty="0">
                <a:solidFill>
                  <a:srgbClr val="ABC7F3"/>
                </a:solidFill>
                <a:latin typeface="Arial Black" panose="020B0A04020102020204" pitchFamily="34" charset="0"/>
              </a:rPr>
              <a:t>dos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атак, </a:t>
            </a:r>
          </a:p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овании</a:t>
            </a:r>
            <a:endParaRPr lang="ru-RU" sz="4000" dirty="0">
              <a:solidFill>
                <a:srgbClr val="ABC7F3"/>
              </a:solidFill>
              <a:latin typeface="Arial Black" panose="020B0A04020102020204" pitchFamily="34" charset="0"/>
            </a:endParaRPr>
          </a:p>
          <a:p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также в </a:t>
            </a:r>
          </a:p>
          <a:p>
            <a:r>
              <a:rPr lang="ru-RU" sz="4000" dirty="0" err="1">
                <a:solidFill>
                  <a:srgbClr val="ABC7F3"/>
                </a:solidFill>
                <a:latin typeface="Arial Black" panose="020B0A04020102020204" pitchFamily="34" charset="0"/>
              </a:rPr>
              <a:t>дации</a:t>
            </a:r>
            <a:r>
              <a:rPr lang="ru-RU" sz="4000" dirty="0">
                <a:solidFill>
                  <a:srgbClr val="ABC7F3"/>
                </a:solidFill>
                <a:latin typeface="Arial Black" panose="020B0A04020102020204" pitchFamily="34" charset="0"/>
              </a:rPr>
              <a:t> данных.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7E7EF9D-3225-F6CA-676E-0F5C758CA2CA}"/>
              </a:ext>
            </a:extLst>
          </p:cNvPr>
          <p:cNvSpPr/>
          <p:nvPr/>
        </p:nvSpPr>
        <p:spPr>
          <a:xfrm>
            <a:off x="0" y="0"/>
            <a:ext cx="12192687" cy="6849199"/>
          </a:xfrm>
          <a:prstGeom prst="rect">
            <a:avLst/>
          </a:prstGeom>
          <a:solidFill>
            <a:srgbClr val="29262B"/>
          </a:solidFill>
          <a:ln>
            <a:solidFill>
              <a:srgbClr val="292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18C8D4B-A0F6-2349-CEEB-F1B1740DE262}"/>
              </a:ext>
            </a:extLst>
          </p:cNvPr>
          <p:cNvGrpSpPr/>
          <p:nvPr/>
        </p:nvGrpSpPr>
        <p:grpSpPr>
          <a:xfrm>
            <a:off x="-101960" y="2659520"/>
            <a:ext cx="12192000" cy="6858000"/>
            <a:chOff x="-1" y="0"/>
            <a:chExt cx="12192000" cy="6858000"/>
          </a:xfrm>
          <a:noFill/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24771C8-490C-41FC-0CD5-7DCE4DFCB4C9}"/>
                </a:ext>
              </a:extLst>
            </p:cNvPr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" name="Picture 2" descr="https://dead-god.ru/wp-content/uploads/2021/11/183.png">
              <a:extLst>
                <a:ext uri="{FF2B5EF4-FFF2-40B4-BE49-F238E27FC236}">
                  <a16:creationId xmlns:a16="http://schemas.microsoft.com/office/drawing/2014/main" id="{AE585396-D485-C6EE-8215-A7635F969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EB230A-76B9-DBC0-05D0-64D9BCA5D725}"/>
                </a:ext>
              </a:extLst>
            </p:cNvPr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dirty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 dirty="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1" name="Picture 2" descr="https://dead-god.ru/wp-content/uploads/2021/11/23-5.png">
              <a:extLst>
                <a:ext uri="{FF2B5EF4-FFF2-40B4-BE49-F238E27FC236}">
                  <a16:creationId xmlns:a16="http://schemas.microsoft.com/office/drawing/2014/main" id="{BDA7CBC7-A4E9-327D-41F5-69669030A2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2F55A8D-9903-67DE-3BCB-788D7521E96A}"/>
              </a:ext>
            </a:extLst>
          </p:cNvPr>
          <p:cNvSpPr txBox="1"/>
          <p:nvPr/>
        </p:nvSpPr>
        <p:spPr>
          <a:xfrm>
            <a:off x="4233647" y="2244021"/>
            <a:ext cx="4634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B1B2B2"/>
                </a:solidFill>
                <a:latin typeface="Arial Black" panose="020B0A04020102020204" pitchFamily="34" charset="0"/>
              </a:rPr>
              <a:t>Спасибо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DFA43A-4632-686B-E77B-683882168786}"/>
              </a:ext>
            </a:extLst>
          </p:cNvPr>
          <p:cNvSpPr txBox="1"/>
          <p:nvPr/>
        </p:nvSpPr>
        <p:spPr>
          <a:xfrm>
            <a:off x="4087669" y="3859422"/>
            <a:ext cx="3812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ABC7F3"/>
                </a:solidFill>
                <a:latin typeface="Arial Black" panose="020B0A04020102020204" pitchFamily="34" charset="0"/>
              </a:rPr>
              <a:t>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282419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1375</Words>
  <Application>Microsoft Office PowerPoint</Application>
  <PresentationFormat>Широкоэкранный</PresentationFormat>
  <Paragraphs>552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Bahnschrift SemiBold</vt:lpstr>
      <vt:lpstr>Calibri</vt:lpstr>
      <vt:lpstr>Calibri Light</vt:lpstr>
      <vt:lpstr>Palatino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????????? ????????</cp:lastModifiedBy>
  <cp:revision>21</cp:revision>
  <dcterms:created xsi:type="dcterms:W3CDTF">2026-03-21T05:58:27Z</dcterms:created>
  <dcterms:modified xsi:type="dcterms:W3CDTF">2026-04-16T03:42:09Z</dcterms:modified>
</cp:coreProperties>
</file>